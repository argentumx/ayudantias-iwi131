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3" r:id="rId1"/>
  </p:sldMasterIdLst>
  <p:notesMasterIdLst>
    <p:notesMasterId r:id="rId13"/>
  </p:notesMasterIdLst>
  <p:sldIdLst>
    <p:sldId id="256" r:id="rId2"/>
    <p:sldId id="257" r:id="rId3"/>
    <p:sldId id="268" r:id="rId4"/>
    <p:sldId id="270" r:id="rId5"/>
    <p:sldId id="273" r:id="rId6"/>
    <p:sldId id="271" r:id="rId7"/>
    <p:sldId id="276" r:id="rId8"/>
    <p:sldId id="269" r:id="rId9"/>
    <p:sldId id="274" r:id="rId10"/>
    <p:sldId id="275" r:id="rId11"/>
    <p:sldId id="2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2672"/>
    <a:srgbClr val="FD971F"/>
    <a:srgbClr val="66D9EF"/>
    <a:srgbClr val="A6E22E"/>
    <a:srgbClr val="AE81FF"/>
    <a:srgbClr val="2728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Estilo temático 2 - Énfasis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Estilo temático 2 - Énfasis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79"/>
  </p:normalViewPr>
  <p:slideViewPr>
    <p:cSldViewPr snapToGrid="0" snapToObjects="1">
      <p:cViewPr varScale="1">
        <p:scale>
          <a:sx n="92" d="100"/>
          <a:sy n="92" d="100"/>
        </p:scale>
        <p:origin x="784" y="184"/>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2204AC-F89F-5A43-A3C5-FD728B04A101}" type="datetimeFigureOut">
              <a:rPr lang="es-CL" smtClean="0"/>
              <a:t>03-06-20</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F209DA-5710-E544-8A8A-F492DBBD5AA6}" type="slidenum">
              <a:rPr lang="es-CL" smtClean="0"/>
              <a:t>‹Nº›</a:t>
            </a:fld>
            <a:endParaRPr lang="es-CL"/>
          </a:p>
        </p:txBody>
      </p:sp>
    </p:spTree>
    <p:extLst>
      <p:ext uri="{BB962C8B-B14F-4D97-AF65-F5344CB8AC3E}">
        <p14:creationId xmlns:p14="http://schemas.microsoft.com/office/powerpoint/2010/main" val="3880556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91F209DA-5710-E544-8A8A-F492DBBD5AA6}" type="slidenum">
              <a:rPr lang="es-CL" smtClean="0"/>
              <a:t>1</a:t>
            </a:fld>
            <a:endParaRPr lang="es-CL"/>
          </a:p>
        </p:txBody>
      </p:sp>
    </p:spTree>
    <p:extLst>
      <p:ext uri="{BB962C8B-B14F-4D97-AF65-F5344CB8AC3E}">
        <p14:creationId xmlns:p14="http://schemas.microsoft.com/office/powerpoint/2010/main" val="4100000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lgn="l">
              <a:defRPr/>
            </a:lvl1pPr>
          </a:lstStyle>
          <a:p>
            <a:fld id="{7EB30784-A5C3-6349-BD2A-7A8E658959DF}" type="datetimeFigureOut">
              <a:rPr lang="es-CL" smtClean="0"/>
              <a:t>03-06-20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772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03-06-20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73517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EB30784-A5C3-6349-BD2A-7A8E658959DF}" type="datetimeFigureOut">
              <a:rPr lang="es-CL" smtClean="0"/>
              <a:t>03-06-20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8677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EB30784-A5C3-6349-BD2A-7A8E658959DF}" type="datetimeFigureOut">
              <a:rPr lang="es-CL" smtClean="0"/>
              <a:t>03-06-20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4142761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2412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s-ES"/>
              <a:t>Haga clic para modificar los estilos de texto del patrón</a:t>
            </a:r>
          </a:p>
        </p:txBody>
      </p:sp>
      <p:sp>
        <p:nvSpPr>
          <p:cNvPr id="6" name="Content Placeholder 5"/>
          <p:cNvSpPr>
            <a:spLocks noGrp="1"/>
          </p:cNvSpPr>
          <p:nvPr>
            <p:ph sz="quarter" idx="4"/>
          </p:nvPr>
        </p:nvSpPr>
        <p:spPr>
          <a:xfrm>
            <a:off x="599088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EB30784-A5C3-6349-BD2A-7A8E658959DF}" type="datetimeFigureOut">
              <a:rPr lang="es-CL" smtClean="0"/>
              <a:t>03-06-20</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196790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EB30784-A5C3-6349-BD2A-7A8E658959DF}" type="datetimeFigureOut">
              <a:rPr lang="es-CL" smtClean="0"/>
              <a:t>03-06-20</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792038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B30784-A5C3-6349-BD2A-7A8E658959DF}" type="datetimeFigureOut">
              <a:rPr lang="es-CL" smtClean="0"/>
              <a:t>03-06-20</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396368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30784-A5C3-6349-BD2A-7A8E658959DF}" type="datetimeFigureOut">
              <a:rPr lang="es-CL" smtClean="0"/>
              <a:t>03-06-20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219284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30784-A5C3-6349-BD2A-7A8E658959DF}" type="datetimeFigureOut">
              <a:rPr lang="es-CL" smtClean="0"/>
              <a:t>03-06-20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337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03-06-20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230853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03-06-20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547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282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EB30784-A5C3-6349-BD2A-7A8E658959DF}" type="datetimeFigureOut">
              <a:rPr lang="es-CL" smtClean="0"/>
              <a:t>03-06-20</a:t>
            </a:fld>
            <a:endParaRPr lang="es-CL"/>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s-CL"/>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3D891C6-CE47-3447-99AD-3B11D616AAE1}" type="slidenum">
              <a:rPr lang="es-CL" smtClean="0"/>
              <a:t>‹Nº›</a:t>
            </a:fld>
            <a:endParaRPr lang="es-CL"/>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201775"/>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 name="Rectangle 44">
            <a:extLst>
              <a:ext uri="{FF2B5EF4-FFF2-40B4-BE49-F238E27FC236}">
                <a16:creationId xmlns:a16="http://schemas.microsoft.com/office/drawing/2014/main" id="{2A85F7B3-F4E6-4FBF-B74E-43CAB468F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6630811-6F38-6F45-AD6B-CD5290979456}"/>
              </a:ext>
            </a:extLst>
          </p:cNvPr>
          <p:cNvSpPr>
            <a:spLocks noGrp="1"/>
          </p:cNvSpPr>
          <p:nvPr>
            <p:ph type="ctrTitle"/>
          </p:nvPr>
        </p:nvSpPr>
        <p:spPr>
          <a:xfrm>
            <a:off x="636805" y="640080"/>
            <a:ext cx="4809406" cy="3034857"/>
          </a:xfrm>
        </p:spPr>
        <p:txBody>
          <a:bodyPr anchor="b">
            <a:normAutofit/>
          </a:bodyPr>
          <a:lstStyle/>
          <a:p>
            <a:r>
              <a:rPr lang="es-CL" sz="4400" dirty="0">
                <a:solidFill>
                  <a:srgbClr val="A6E22E"/>
                </a:solidFill>
              </a:rPr>
              <a:t>IWI 131- Programación</a:t>
            </a:r>
          </a:p>
        </p:txBody>
      </p:sp>
      <p:sp>
        <p:nvSpPr>
          <p:cNvPr id="3" name="Subtítulo 2">
            <a:extLst>
              <a:ext uri="{FF2B5EF4-FFF2-40B4-BE49-F238E27FC236}">
                <a16:creationId xmlns:a16="http://schemas.microsoft.com/office/drawing/2014/main" id="{12541EAE-D840-1044-9E2E-6BCB100AF241}"/>
              </a:ext>
            </a:extLst>
          </p:cNvPr>
          <p:cNvSpPr>
            <a:spLocks noGrp="1"/>
          </p:cNvSpPr>
          <p:nvPr>
            <p:ph type="subTitle" idx="1"/>
          </p:nvPr>
        </p:nvSpPr>
        <p:spPr>
          <a:xfrm>
            <a:off x="636806" y="3849539"/>
            <a:ext cx="4819340" cy="2367405"/>
          </a:xfrm>
        </p:spPr>
        <p:txBody>
          <a:bodyPr anchor="t">
            <a:normAutofit/>
          </a:bodyPr>
          <a:lstStyle/>
          <a:p>
            <a:pPr algn="r"/>
            <a:r>
              <a:rPr lang="es-CL" sz="4800" b="1" dirty="0">
                <a:solidFill>
                  <a:schemeClr val="bg1"/>
                </a:solidFill>
              </a:rPr>
              <a:t> </a:t>
            </a:r>
            <a:r>
              <a:rPr lang="es-CL" sz="4800" b="1" dirty="0">
                <a:solidFill>
                  <a:srgbClr val="FD971F"/>
                </a:solidFill>
              </a:rPr>
              <a:t>Ayudantía 8</a:t>
            </a:r>
          </a:p>
          <a:p>
            <a:pPr algn="r"/>
            <a:endParaRPr lang="es-CL" sz="4800" b="1" dirty="0">
              <a:solidFill>
                <a:srgbClr val="FD971F"/>
              </a:solidFill>
            </a:endParaRPr>
          </a:p>
        </p:txBody>
      </p:sp>
      <p:cxnSp>
        <p:nvCxnSpPr>
          <p:cNvPr id="52" name="Straight Connector 46">
            <a:extLst>
              <a:ext uri="{FF2B5EF4-FFF2-40B4-BE49-F238E27FC236}">
                <a16:creationId xmlns:a16="http://schemas.microsoft.com/office/drawing/2014/main" id="{73741D5B-1709-4CDB-963A-CC3C749412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475488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B92C8723-CC91-E04D-9503-EA3C2107EEC8}"/>
              </a:ext>
            </a:extLst>
          </p:cNvPr>
          <p:cNvPicPr>
            <a:picLocks noChangeAspect="1"/>
          </p:cNvPicPr>
          <p:nvPr/>
        </p:nvPicPr>
        <p:blipFill>
          <a:blip r:embed="rId3"/>
          <a:stretch>
            <a:fillRect/>
          </a:stretch>
        </p:blipFill>
        <p:spPr>
          <a:xfrm>
            <a:off x="6092952" y="713651"/>
            <a:ext cx="5458968" cy="5431673"/>
          </a:xfrm>
          <a:prstGeom prst="rect">
            <a:avLst/>
          </a:prstGeom>
        </p:spPr>
      </p:pic>
      <p:sp>
        <p:nvSpPr>
          <p:cNvPr id="7" name="CuadroTexto 6">
            <a:extLst>
              <a:ext uri="{FF2B5EF4-FFF2-40B4-BE49-F238E27FC236}">
                <a16:creationId xmlns:a16="http://schemas.microsoft.com/office/drawing/2014/main" id="{018DC0F8-FEB1-CB46-BEDA-051EFAAFB367}"/>
              </a:ext>
            </a:extLst>
          </p:cNvPr>
          <p:cNvSpPr txBox="1"/>
          <p:nvPr/>
        </p:nvSpPr>
        <p:spPr>
          <a:xfrm>
            <a:off x="1460450" y="4737466"/>
            <a:ext cx="4013471" cy="1200329"/>
          </a:xfrm>
          <a:prstGeom prst="rect">
            <a:avLst/>
          </a:prstGeom>
          <a:noFill/>
        </p:spPr>
        <p:txBody>
          <a:bodyPr wrap="none" rtlCol="0">
            <a:spAutoFit/>
          </a:bodyPr>
          <a:lstStyle/>
          <a:p>
            <a:pPr algn="r"/>
            <a:r>
              <a:rPr lang="es-CL" sz="2400" dirty="0">
                <a:solidFill>
                  <a:srgbClr val="66D9EF"/>
                </a:solidFill>
              </a:rPr>
              <a:t>Ayudante: Anastasiia Fedorova</a:t>
            </a:r>
          </a:p>
          <a:p>
            <a:pPr algn="r"/>
            <a:r>
              <a:rPr lang="es-CL" sz="2400" dirty="0">
                <a:solidFill>
                  <a:srgbClr val="66D9EF"/>
                </a:solidFill>
              </a:rPr>
              <a:t>Paralelo: 212</a:t>
            </a:r>
          </a:p>
          <a:p>
            <a:pPr algn="r"/>
            <a:r>
              <a:rPr lang="es-CL" sz="2400" dirty="0">
                <a:solidFill>
                  <a:srgbClr val="66D9EF"/>
                </a:solidFill>
              </a:rPr>
              <a:t>Fecha: 3.06.2020</a:t>
            </a:r>
          </a:p>
        </p:txBody>
      </p:sp>
      <p:pic>
        <p:nvPicPr>
          <p:cNvPr id="6" name="Imagen 5">
            <a:extLst>
              <a:ext uri="{FF2B5EF4-FFF2-40B4-BE49-F238E27FC236}">
                <a16:creationId xmlns:a16="http://schemas.microsoft.com/office/drawing/2014/main" id="{7FD225FC-1035-0049-948D-39E94FD5EA5A}"/>
              </a:ext>
              <a:ext uri="{C183D7F6-B498-43B3-948B-1728B52AA6E4}">
                <adec:decorative xmlns:adec="http://schemas.microsoft.com/office/drawing/2017/decorative" val="1"/>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backgroundRemoval t="5231" b="98462" l="10000" r="90000">
                        <a14:foregroundMark x1="21463" y1="45077" x2="53659" y2="47077"/>
                        <a14:foregroundMark x1="44146" y1="62615" x2="36098" y2="56154"/>
                        <a14:foregroundMark x1="36098" y1="56154" x2="29390" y2="45077"/>
                        <a14:foregroundMark x1="29390" y1="45077" x2="36220" y2="35077"/>
                        <a14:foregroundMark x1="36220" y1="35077" x2="45854" y2="33077"/>
                        <a14:foregroundMark x1="45854" y1="33077" x2="45976" y2="47385"/>
                        <a14:foregroundMark x1="45976" y1="47385" x2="42805" y2="62308"/>
                        <a14:foregroundMark x1="42805" y1="62308" x2="41463" y2="64923"/>
                        <a14:foregroundMark x1="68049" y1="76000" x2="68049" y2="58154"/>
                        <a14:foregroundMark x1="68049" y1="58154" x2="65244" y2="47231"/>
                        <a14:foregroundMark x1="65244" y1="47231" x2="44024" y2="67077"/>
                        <a14:foregroundMark x1="44024" y1="67077" x2="48049" y2="77692"/>
                        <a14:foregroundMark x1="48049" y1="77692" x2="44390" y2="88615"/>
                        <a14:foregroundMark x1="44390" y1="88615" x2="46220" y2="93077"/>
                        <a14:foregroundMark x1="48659" y1="80769" x2="53171" y2="91077"/>
                        <a14:foregroundMark x1="53171" y1="91077" x2="49756" y2="98462"/>
                        <a14:foregroundMark x1="64634" y1="80000" x2="64390" y2="48615"/>
                        <a14:foregroundMark x1="64390" y1="48615" x2="68293" y2="43385"/>
                        <a14:foregroundMark x1="63780" y1="19231" x2="53171" y2="5231"/>
                        <a14:foregroundMark x1="40366" y1="69692" x2="37439" y2="65231"/>
                        <a14:foregroundMark x1="47317" y1="72923" x2="53902" y2="45077"/>
                        <a14:foregroundMark x1="53415" y1="43077" x2="50000" y2="41385"/>
                        <a14:foregroundMark x1="50488" y1="41077" x2="56463" y2="68462"/>
                        <a14:foregroundMark x1="56463" y1="68462" x2="54756" y2="70308"/>
                      </a14:backgroundRemoval>
                    </a14:imgEffect>
                  </a14:imgLayer>
                </a14:imgProps>
              </a:ext>
            </a:extLst>
          </a:blip>
          <a:stretch>
            <a:fillRect/>
          </a:stretch>
        </p:blipFill>
        <p:spPr>
          <a:xfrm>
            <a:off x="6856646" y="1916745"/>
            <a:ext cx="3931579" cy="3116496"/>
          </a:xfrm>
          <a:prstGeom prst="rect">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420016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C7D889-2AED-1742-AC38-8111E3FEB492}"/>
              </a:ext>
            </a:extLst>
          </p:cNvPr>
          <p:cNvSpPr>
            <a:spLocks noGrp="1"/>
          </p:cNvSpPr>
          <p:nvPr>
            <p:ph type="title"/>
          </p:nvPr>
        </p:nvSpPr>
        <p:spPr/>
        <p:txBody>
          <a:bodyPr/>
          <a:lstStyle/>
          <a:p>
            <a:r>
              <a:rPr lang="es-CL" dirty="0">
                <a:solidFill>
                  <a:srgbClr val="66D9EF"/>
                </a:solidFill>
              </a:rPr>
              <a:t>Contenidos de certámen</a:t>
            </a:r>
          </a:p>
        </p:txBody>
      </p:sp>
      <p:sp>
        <p:nvSpPr>
          <p:cNvPr id="3" name="Marcador de contenido 2">
            <a:extLst>
              <a:ext uri="{FF2B5EF4-FFF2-40B4-BE49-F238E27FC236}">
                <a16:creationId xmlns:a16="http://schemas.microsoft.com/office/drawing/2014/main" id="{A386C759-6941-4C46-B8F0-A8DB48019BA7}"/>
              </a:ext>
            </a:extLst>
          </p:cNvPr>
          <p:cNvSpPr>
            <a:spLocks noGrp="1"/>
          </p:cNvSpPr>
          <p:nvPr>
            <p:ph idx="1"/>
          </p:nvPr>
        </p:nvSpPr>
        <p:spPr>
          <a:xfrm>
            <a:off x="1024128" y="2119191"/>
            <a:ext cx="9720073" cy="4023360"/>
          </a:xfrm>
        </p:spPr>
        <p:txBody>
          <a:bodyPr>
            <a:normAutofit lnSpcReduction="10000"/>
          </a:bodyPr>
          <a:lstStyle/>
          <a:p>
            <a:pPr>
              <a:buFont typeface="Arial" panose="020B0604020202020204" pitchFamily="34" charset="0"/>
              <a:buChar char="•"/>
            </a:pPr>
            <a:r>
              <a:rPr lang="es-CL" sz="4000" dirty="0"/>
              <a:t> </a:t>
            </a:r>
            <a:r>
              <a:rPr lang="es-CL" sz="4000" dirty="0">
                <a:solidFill>
                  <a:schemeClr val="bg1"/>
                </a:solidFill>
              </a:rPr>
              <a:t>Programas simples</a:t>
            </a:r>
          </a:p>
          <a:p>
            <a:pPr>
              <a:buFont typeface="Arial" panose="020B0604020202020204" pitchFamily="34" charset="0"/>
              <a:buChar char="•"/>
            </a:pPr>
            <a:r>
              <a:rPr lang="es-CL" sz="4000" dirty="0">
                <a:solidFill>
                  <a:schemeClr val="bg1"/>
                </a:solidFill>
              </a:rPr>
              <a:t> Condicionales if-elif-else </a:t>
            </a:r>
          </a:p>
          <a:p>
            <a:pPr>
              <a:buFont typeface="Arial" panose="020B0604020202020204" pitchFamily="34" charset="0"/>
              <a:buChar char="•"/>
            </a:pPr>
            <a:r>
              <a:rPr lang="es-CL" sz="4000" dirty="0">
                <a:solidFill>
                  <a:schemeClr val="bg1"/>
                </a:solidFill>
              </a:rPr>
              <a:t> Lógica</a:t>
            </a:r>
          </a:p>
          <a:p>
            <a:pPr>
              <a:buFont typeface="Arial" panose="020B0604020202020204" pitchFamily="34" charset="0"/>
              <a:buChar char="•"/>
            </a:pPr>
            <a:r>
              <a:rPr lang="es-CL" sz="4000" dirty="0">
                <a:solidFill>
                  <a:schemeClr val="bg1"/>
                </a:solidFill>
              </a:rPr>
              <a:t> Ciclo while </a:t>
            </a:r>
          </a:p>
          <a:p>
            <a:pPr>
              <a:buFont typeface="Arial" panose="020B0604020202020204" pitchFamily="34" charset="0"/>
              <a:buChar char="•"/>
            </a:pPr>
            <a:r>
              <a:rPr lang="es-CL" sz="4000" dirty="0">
                <a:solidFill>
                  <a:schemeClr val="bg1"/>
                </a:solidFill>
              </a:rPr>
              <a:t> Strings</a:t>
            </a:r>
          </a:p>
          <a:p>
            <a:pPr>
              <a:buFont typeface="Arial" panose="020B0604020202020204" pitchFamily="34" charset="0"/>
              <a:buChar char="•"/>
            </a:pPr>
            <a:r>
              <a:rPr lang="es-CL" sz="4000" dirty="0">
                <a:solidFill>
                  <a:schemeClr val="bg1"/>
                </a:solidFill>
              </a:rPr>
              <a:t> Ciclo for</a:t>
            </a:r>
            <a:endParaRPr lang="es-CL" sz="4000" dirty="0"/>
          </a:p>
        </p:txBody>
      </p:sp>
      <p:pic>
        <p:nvPicPr>
          <p:cNvPr id="4" name="Imagen 3">
            <a:extLst>
              <a:ext uri="{FF2B5EF4-FFF2-40B4-BE49-F238E27FC236}">
                <a16:creationId xmlns:a16="http://schemas.microsoft.com/office/drawing/2014/main" id="{483455FA-331E-DE4F-9B7A-1E324263331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389091" y="596900"/>
            <a:ext cx="4064000" cy="5664200"/>
          </a:xfrm>
          <a:prstGeom prst="rect">
            <a:avLst/>
          </a:prstGeom>
        </p:spPr>
      </p:pic>
    </p:spTree>
    <p:extLst>
      <p:ext uri="{BB962C8B-B14F-4D97-AF65-F5344CB8AC3E}">
        <p14:creationId xmlns:p14="http://schemas.microsoft.com/office/powerpoint/2010/main" val="2977057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C78CE1F-1859-DA48-9462-3B96A9B978B9}"/>
              </a:ext>
            </a:extLst>
          </p:cNvPr>
          <p:cNvSpPr>
            <a:spLocks noGrp="1"/>
          </p:cNvSpPr>
          <p:nvPr>
            <p:ph type="title"/>
          </p:nvPr>
        </p:nvSpPr>
        <p:spPr>
          <a:xfrm>
            <a:off x="913292" y="512619"/>
            <a:ext cx="9720072" cy="1499616"/>
          </a:xfrm>
        </p:spPr>
        <p:txBody>
          <a:bodyPr/>
          <a:lstStyle/>
          <a:p>
            <a:r>
              <a:rPr lang="es-CL" dirty="0">
                <a:solidFill>
                  <a:srgbClr val="66D9EF"/>
                </a:solidFill>
              </a:rPr>
              <a:t>Ejercicio 1: FNP</a:t>
            </a:r>
            <a:endParaRPr lang="es-CL" dirty="0"/>
          </a:p>
        </p:txBody>
      </p:sp>
      <p:sp>
        <p:nvSpPr>
          <p:cNvPr id="6" name="Marcador de contenido 5">
            <a:extLst>
              <a:ext uri="{FF2B5EF4-FFF2-40B4-BE49-F238E27FC236}">
                <a16:creationId xmlns:a16="http://schemas.microsoft.com/office/drawing/2014/main" id="{D4E0FAD1-F74D-FF48-91F4-0ADDEAEE033F}"/>
              </a:ext>
            </a:extLst>
          </p:cNvPr>
          <p:cNvSpPr>
            <a:spLocks noGrp="1"/>
          </p:cNvSpPr>
          <p:nvPr>
            <p:ph idx="1"/>
          </p:nvPr>
        </p:nvSpPr>
        <p:spPr>
          <a:xfrm>
            <a:off x="1235963" y="2012235"/>
            <a:ext cx="9720073" cy="4023360"/>
          </a:xfrm>
        </p:spPr>
        <p:txBody>
          <a:bodyPr>
            <a:normAutofit/>
          </a:bodyPr>
          <a:lstStyle/>
          <a:p>
            <a:r>
              <a:rPr lang="es-CL" sz="2800" dirty="0">
                <a:solidFill>
                  <a:schemeClr val="bg1"/>
                </a:solidFill>
              </a:rPr>
              <a:t>Jugando con sus amigos un buen partido de </a:t>
            </a:r>
            <a:r>
              <a:rPr lang="es-CL" sz="2800" i="1" dirty="0">
                <a:solidFill>
                  <a:schemeClr val="bg1"/>
                </a:solidFill>
              </a:rPr>
              <a:t>Functions&amp;Pythons, </a:t>
            </a:r>
            <a:r>
              <a:rPr lang="es-CL" sz="2800" dirty="0">
                <a:solidFill>
                  <a:schemeClr val="bg1"/>
                </a:solidFill>
              </a:rPr>
              <a:t>es su turno de tirar los dados, para decidir el futuro de su personaje en esta difícil aventura. Los tiros de dados, efectuados en un turno por un jugador se guardan en un string de la forma</a:t>
            </a:r>
          </a:p>
          <a:p>
            <a:pPr algn="ctr"/>
            <a:r>
              <a:rPr lang="es-CL" sz="2800" dirty="0">
                <a:solidFill>
                  <a:schemeClr val="bg1"/>
                </a:solidFill>
                <a:latin typeface="Consolas" panose="020B0609020204030204" pitchFamily="49" charset="0"/>
                <a:cs typeface="Consolas" panose="020B0609020204030204" pitchFamily="49" charset="0"/>
              </a:rPr>
              <a:t>tiros = "1,5,2,3,5,6,7”</a:t>
            </a:r>
          </a:p>
          <a:p>
            <a:pPr marL="0" indent="0">
              <a:buNone/>
            </a:pPr>
            <a:r>
              <a:rPr lang="es-CL" sz="2800" dirty="0">
                <a:solidFill>
                  <a:schemeClr val="bg1"/>
                </a:solidFill>
                <a:cs typeface="Consolas" panose="020B0609020204030204" pitchFamily="49" charset="0"/>
              </a:rPr>
              <a:t>Se tira el dado 3 veces en caso de turno de defensa, 2 en ataque y en otro caso – 7 veces. Asuma que los strings siempre serán ingresados correctamente – enteros separados por comas, sin espacios.</a:t>
            </a:r>
            <a:endParaRPr lang="es-CL" sz="2800" dirty="0">
              <a:solidFill>
                <a:schemeClr val="bg1"/>
              </a:solidFill>
              <a:latin typeface="Consolas" panose="020B0609020204030204" pitchFamily="49" charset="0"/>
              <a:cs typeface="Consolas" panose="020B0609020204030204" pitchFamily="49" charset="0"/>
            </a:endParaRPr>
          </a:p>
          <a:p>
            <a:endParaRPr lang="es-CL" sz="2800" i="1" dirty="0">
              <a:solidFill>
                <a:schemeClr val="bg1"/>
              </a:solidFill>
            </a:endParaRPr>
          </a:p>
        </p:txBody>
      </p:sp>
    </p:spTree>
    <p:extLst>
      <p:ext uri="{BB962C8B-B14F-4D97-AF65-F5344CB8AC3E}">
        <p14:creationId xmlns:p14="http://schemas.microsoft.com/office/powerpoint/2010/main" val="3456686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448FF5A-4189-E54B-810D-381822575B81}"/>
              </a:ext>
            </a:extLst>
          </p:cNvPr>
          <p:cNvSpPr>
            <a:spLocks noGrp="1"/>
          </p:cNvSpPr>
          <p:nvPr>
            <p:ph idx="1"/>
          </p:nvPr>
        </p:nvSpPr>
        <p:spPr/>
        <p:txBody>
          <a:bodyPr>
            <a:normAutofit/>
          </a:bodyPr>
          <a:lstStyle/>
          <a:p>
            <a:r>
              <a:rPr lang="es-CL" sz="2800" dirty="0">
                <a:solidFill>
                  <a:schemeClr val="bg1"/>
                </a:solidFill>
              </a:rPr>
              <a:t>a) Crea una función total_tiros(tiros), la cuál debe decir cuantos tiros ha hecho el jugador en su turno.</a:t>
            </a:r>
          </a:p>
        </p:txBody>
      </p:sp>
      <p:sp>
        <p:nvSpPr>
          <p:cNvPr id="4" name="Título 1">
            <a:extLst>
              <a:ext uri="{FF2B5EF4-FFF2-40B4-BE49-F238E27FC236}">
                <a16:creationId xmlns:a16="http://schemas.microsoft.com/office/drawing/2014/main" id="{8F488DCA-58CA-7442-B4C4-7C57E0B151B9}"/>
              </a:ext>
            </a:extLst>
          </p:cNvPr>
          <p:cNvSpPr>
            <a:spLocks noGrp="1"/>
          </p:cNvSpPr>
          <p:nvPr>
            <p:ph type="title"/>
          </p:nvPr>
        </p:nvSpPr>
        <p:spPr/>
        <p:txBody>
          <a:bodyPr/>
          <a:lstStyle/>
          <a:p>
            <a:r>
              <a:rPr lang="es-CL" dirty="0">
                <a:solidFill>
                  <a:srgbClr val="66D9EF"/>
                </a:solidFill>
              </a:rPr>
              <a:t>Ejercicio 1: FNP</a:t>
            </a:r>
            <a:endParaRPr lang="es-CL" dirty="0"/>
          </a:p>
        </p:txBody>
      </p:sp>
      <p:sp>
        <p:nvSpPr>
          <p:cNvPr id="5" name="Rectángulo 4">
            <a:extLst>
              <a:ext uri="{FF2B5EF4-FFF2-40B4-BE49-F238E27FC236}">
                <a16:creationId xmlns:a16="http://schemas.microsoft.com/office/drawing/2014/main" id="{483DFC92-3CFA-8E4A-849A-11839D9C7E63}"/>
              </a:ext>
            </a:extLst>
          </p:cNvPr>
          <p:cNvSpPr/>
          <p:nvPr/>
        </p:nvSpPr>
        <p:spPr>
          <a:xfrm>
            <a:off x="4420701" y="3697515"/>
            <a:ext cx="3350597" cy="2585323"/>
          </a:xfrm>
          <a:prstGeom prst="rect">
            <a:avLst/>
          </a:prstGeom>
        </p:spPr>
        <p:txBody>
          <a:bodyPr wrap="none">
            <a:spAutoFit/>
          </a:bodyPr>
          <a:lstStyle/>
          <a:p>
            <a:pPr algn="ctr"/>
            <a:r>
              <a:rPr lang="es-CL" dirty="0">
                <a:solidFill>
                  <a:schemeClr val="bg1"/>
                </a:solidFill>
                <a:latin typeface="Consolas" panose="020B0609020204030204" pitchFamily="49" charset="0"/>
                <a:cs typeface="Consolas" panose="020B0609020204030204" pitchFamily="49" charset="0"/>
              </a:rPr>
              <a:t>tiros = "1,5,2,3,5,6,7”</a:t>
            </a:r>
          </a:p>
          <a:p>
            <a:pPr algn="ctr"/>
            <a:r>
              <a:rPr lang="es-CL" dirty="0">
                <a:solidFill>
                  <a:schemeClr val="bg1"/>
                </a:solidFill>
                <a:latin typeface="Consolas" panose="020B0609020204030204" pitchFamily="49" charset="0"/>
                <a:cs typeface="Consolas" panose="020B0609020204030204" pitchFamily="49" charset="0"/>
              </a:rPr>
              <a:t>print(total_tiros(tiros))</a:t>
            </a:r>
          </a:p>
          <a:p>
            <a:pPr algn="ctr"/>
            <a:endParaRPr lang="es-CL" dirty="0">
              <a:solidFill>
                <a:schemeClr val="bg1"/>
              </a:solidFill>
              <a:latin typeface="Consolas" panose="020B0609020204030204" pitchFamily="49" charset="0"/>
              <a:cs typeface="Consolas" panose="020B0609020204030204" pitchFamily="49" charset="0"/>
            </a:endParaRPr>
          </a:p>
          <a:p>
            <a:pPr algn="ctr"/>
            <a:r>
              <a:rPr lang="es-CL" dirty="0">
                <a:solidFill>
                  <a:srgbClr val="F92672"/>
                </a:solidFill>
                <a:latin typeface="Consolas" panose="020B0609020204030204" pitchFamily="49" charset="0"/>
                <a:cs typeface="Consolas" panose="020B0609020204030204" pitchFamily="49" charset="0"/>
              </a:rPr>
              <a:t>&gt;&gt;&gt;</a:t>
            </a:r>
            <a:r>
              <a:rPr lang="es-CL" dirty="0">
                <a:solidFill>
                  <a:schemeClr val="bg1"/>
                </a:solidFill>
                <a:latin typeface="Consolas" panose="020B0609020204030204" pitchFamily="49" charset="0"/>
                <a:cs typeface="Consolas" panose="020B0609020204030204" pitchFamily="49" charset="0"/>
              </a:rPr>
              <a:t> 7</a:t>
            </a:r>
          </a:p>
          <a:p>
            <a:pPr algn="ctr"/>
            <a:r>
              <a:rPr lang="es-CL" dirty="0">
                <a:solidFill>
                  <a:schemeClr val="bg1"/>
                </a:solidFill>
                <a:latin typeface="Consolas" panose="020B0609020204030204" pitchFamily="49" charset="0"/>
                <a:cs typeface="Consolas" panose="020B0609020204030204" pitchFamily="49" charset="0"/>
              </a:rPr>
              <a:t>tiros = "1,1,1”</a:t>
            </a:r>
          </a:p>
          <a:p>
            <a:pPr algn="ctr"/>
            <a:r>
              <a:rPr lang="es-CL" dirty="0">
                <a:solidFill>
                  <a:schemeClr val="bg1"/>
                </a:solidFill>
                <a:latin typeface="Consolas" panose="020B0609020204030204" pitchFamily="49" charset="0"/>
                <a:cs typeface="Consolas" panose="020B0609020204030204" pitchFamily="49" charset="0"/>
              </a:rPr>
              <a:t>print(total_tiros(tiros))</a:t>
            </a:r>
          </a:p>
          <a:p>
            <a:pPr algn="ctr"/>
            <a:endParaRPr lang="es-CL" dirty="0">
              <a:solidFill>
                <a:schemeClr val="bg1"/>
              </a:solidFill>
              <a:latin typeface="Consolas" panose="020B0609020204030204" pitchFamily="49" charset="0"/>
              <a:cs typeface="Consolas" panose="020B0609020204030204" pitchFamily="49" charset="0"/>
            </a:endParaRPr>
          </a:p>
          <a:p>
            <a:pPr algn="ctr"/>
            <a:r>
              <a:rPr lang="es-CL" dirty="0">
                <a:solidFill>
                  <a:srgbClr val="F92672"/>
                </a:solidFill>
                <a:latin typeface="Consolas" panose="020B0609020204030204" pitchFamily="49" charset="0"/>
                <a:cs typeface="Consolas" panose="020B0609020204030204" pitchFamily="49" charset="0"/>
              </a:rPr>
              <a:t>&gt;&gt;&gt;</a:t>
            </a:r>
            <a:r>
              <a:rPr lang="es-CL" dirty="0">
                <a:solidFill>
                  <a:schemeClr val="bg1"/>
                </a:solidFill>
                <a:latin typeface="Consolas" panose="020B0609020204030204" pitchFamily="49" charset="0"/>
                <a:cs typeface="Consolas" panose="020B0609020204030204" pitchFamily="49" charset="0"/>
              </a:rPr>
              <a:t> 3</a:t>
            </a:r>
          </a:p>
          <a:p>
            <a:pPr algn="ctr"/>
            <a:endParaRPr lang="es-CL"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335935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52BA8D-A615-D641-97F7-04AE8DD46C9E}"/>
              </a:ext>
            </a:extLst>
          </p:cNvPr>
          <p:cNvSpPr>
            <a:spLocks noGrp="1"/>
          </p:cNvSpPr>
          <p:nvPr>
            <p:ph type="title"/>
          </p:nvPr>
        </p:nvSpPr>
        <p:spPr/>
        <p:txBody>
          <a:bodyPr/>
          <a:lstStyle/>
          <a:p>
            <a:r>
              <a:rPr lang="es-CL" dirty="0">
                <a:solidFill>
                  <a:srgbClr val="66D9EF"/>
                </a:solidFill>
              </a:rPr>
              <a:t>Solucion</a:t>
            </a:r>
            <a:endParaRPr lang="es-CL" dirty="0"/>
          </a:p>
        </p:txBody>
      </p:sp>
      <p:sp>
        <p:nvSpPr>
          <p:cNvPr id="6" name="Rectángulo 5">
            <a:extLst>
              <a:ext uri="{FF2B5EF4-FFF2-40B4-BE49-F238E27FC236}">
                <a16:creationId xmlns:a16="http://schemas.microsoft.com/office/drawing/2014/main" id="{B0DB1686-A63B-4346-90E7-B7B16B394966}"/>
              </a:ext>
            </a:extLst>
          </p:cNvPr>
          <p:cNvSpPr/>
          <p:nvPr/>
        </p:nvSpPr>
        <p:spPr>
          <a:xfrm>
            <a:off x="3048000" y="2551837"/>
            <a:ext cx="6096000" cy="1754326"/>
          </a:xfrm>
          <a:prstGeom prst="rect">
            <a:avLst/>
          </a:prstGeom>
        </p:spPr>
        <p:txBody>
          <a:bodyPr>
            <a:spAutoFit/>
          </a:bodyPr>
          <a:lstStyle/>
          <a:p>
            <a:r>
              <a:rPr lang="es-CL" dirty="0">
                <a:solidFill>
                  <a:srgbClr val="66D9EF"/>
                </a:solidFill>
                <a:latin typeface="Menlo" panose="020B0609030804020204" pitchFamily="49" charset="0"/>
              </a:rPr>
              <a:t>def</a:t>
            </a:r>
            <a:r>
              <a:rPr lang="es-CL" dirty="0">
                <a:solidFill>
                  <a:srgbClr val="F8F8F2"/>
                </a:solidFill>
                <a:latin typeface="Menlo" panose="020B0609030804020204" pitchFamily="49" charset="0"/>
              </a:rPr>
              <a:t> </a:t>
            </a:r>
            <a:r>
              <a:rPr lang="es-CL" dirty="0">
                <a:solidFill>
                  <a:srgbClr val="A6E22E"/>
                </a:solidFill>
                <a:latin typeface="Menlo" panose="020B0609030804020204" pitchFamily="49" charset="0"/>
              </a:rPr>
              <a:t>total_tiros</a:t>
            </a:r>
            <a:r>
              <a:rPr lang="es-CL" dirty="0">
                <a:solidFill>
                  <a:srgbClr val="F8F8F2"/>
                </a:solidFill>
                <a:latin typeface="Menlo" panose="020B0609030804020204" pitchFamily="49" charset="0"/>
              </a:rPr>
              <a:t>(tiros):</a:t>
            </a:r>
          </a:p>
          <a:p>
            <a:r>
              <a:rPr lang="es-CL" dirty="0">
                <a:solidFill>
                  <a:srgbClr val="F8F8F2"/>
                </a:solidFill>
                <a:latin typeface="Menlo" panose="020B0609030804020204" pitchFamily="49" charset="0"/>
              </a:rPr>
              <a:t>    count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0</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for</a:t>
            </a:r>
            <a:r>
              <a:rPr lang="es-CL" dirty="0">
                <a:solidFill>
                  <a:srgbClr val="F8F8F2"/>
                </a:solidFill>
                <a:latin typeface="Menlo" panose="020B0609030804020204" pitchFamily="49" charset="0"/>
              </a:rPr>
              <a:t> i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range(len(tiros)):</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tiros[i]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"0123456789"</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count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return</a:t>
            </a:r>
            <a:r>
              <a:rPr lang="es-CL" dirty="0">
                <a:solidFill>
                  <a:srgbClr val="F8F8F2"/>
                </a:solidFill>
                <a:latin typeface="Menlo" panose="020B0609030804020204" pitchFamily="49" charset="0"/>
              </a:rPr>
              <a:t> count</a:t>
            </a:r>
          </a:p>
        </p:txBody>
      </p:sp>
    </p:spTree>
    <p:extLst>
      <p:ext uri="{BB962C8B-B14F-4D97-AF65-F5344CB8AC3E}">
        <p14:creationId xmlns:p14="http://schemas.microsoft.com/office/powerpoint/2010/main" val="1783791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876821-5FAE-5E4F-82B5-64A3A6F4A006}"/>
              </a:ext>
            </a:extLst>
          </p:cNvPr>
          <p:cNvSpPr>
            <a:spLocks noGrp="1"/>
          </p:cNvSpPr>
          <p:nvPr>
            <p:ph idx="1"/>
          </p:nvPr>
        </p:nvSpPr>
        <p:spPr>
          <a:xfrm>
            <a:off x="1024128" y="1856509"/>
            <a:ext cx="10267327" cy="4535978"/>
          </a:xfrm>
        </p:spPr>
        <p:txBody>
          <a:bodyPr>
            <a:normAutofit/>
          </a:bodyPr>
          <a:lstStyle/>
          <a:p>
            <a:r>
              <a:rPr lang="es-CL" sz="2400" dirty="0">
                <a:solidFill>
                  <a:schemeClr val="bg1"/>
                </a:solidFill>
              </a:rPr>
              <a:t>b) Crear la funcion </a:t>
            </a:r>
            <a:r>
              <a:rPr lang="es-CL" sz="2000" dirty="0">
                <a:solidFill>
                  <a:schemeClr val="bg1"/>
                </a:solidFill>
                <a:latin typeface="Consolas" panose="020B0609020204030204" pitchFamily="49" charset="0"/>
                <a:cs typeface="Consolas" panose="020B0609020204030204" pitchFamily="49" charset="0"/>
              </a:rPr>
              <a:t>accion(tiros), </a:t>
            </a:r>
            <a:r>
              <a:rPr lang="es-CL" sz="2400" dirty="0">
                <a:solidFill>
                  <a:schemeClr val="bg1"/>
                </a:solidFill>
              </a:rPr>
              <a:t>la cual recibe los tiros en formato de string.</a:t>
            </a:r>
          </a:p>
          <a:p>
            <a:r>
              <a:rPr lang="es-CL" sz="2400" dirty="0">
                <a:solidFill>
                  <a:schemeClr val="bg1"/>
                </a:solidFill>
              </a:rPr>
              <a:t>La función, en caso de la </a:t>
            </a:r>
            <a:r>
              <a:rPr lang="es-CL" sz="2400" dirty="0">
                <a:solidFill>
                  <a:schemeClr val="bg1"/>
                </a:solidFill>
                <a:highlight>
                  <a:srgbClr val="F92672"/>
                </a:highlight>
              </a:rPr>
              <a:t>defensa</a:t>
            </a:r>
            <a:r>
              <a:rPr lang="es-CL" sz="2400" dirty="0">
                <a:solidFill>
                  <a:schemeClr val="bg1"/>
                </a:solidFill>
              </a:rPr>
              <a:t>, debe retornar 1 si el personaje sobrevive y 0 si muere. El primer valor de tiros en defensa son los health point (HP) de personaje, el segundo valor es la cantidad de ataques y el tercer – el daño base. Por cada ataque que se defiende, de los HP se debe restar 20% de daño base. Si al finalizar la defensa al personaje le quedan HP, este sobrevive y si no – muere.</a:t>
            </a:r>
          </a:p>
          <a:p>
            <a:r>
              <a:rPr lang="es-CL" sz="2400" dirty="0">
                <a:solidFill>
                  <a:schemeClr val="bg1"/>
                </a:solidFill>
              </a:rPr>
              <a:t>En caso de </a:t>
            </a:r>
            <a:r>
              <a:rPr lang="es-CL" sz="2400" dirty="0">
                <a:solidFill>
                  <a:schemeClr val="bg1"/>
                </a:solidFill>
                <a:highlight>
                  <a:srgbClr val="F92672"/>
                </a:highlight>
              </a:rPr>
              <a:t>ataque</a:t>
            </a:r>
            <a:r>
              <a:rPr lang="es-CL" sz="2400" dirty="0">
                <a:solidFill>
                  <a:schemeClr val="bg1"/>
                </a:solidFill>
              </a:rPr>
              <a:t>, el primer valor corresponde al ataque base y segundo – el factor limitante. Se retorna 1 si el ataque fue exitoso y 0 en caso contrario. El ataque es exitoso si el resto de la división de ataque base entre factor es nulo.</a:t>
            </a:r>
          </a:p>
          <a:p>
            <a:endParaRPr lang="es-CL" sz="2400" dirty="0">
              <a:solidFill>
                <a:schemeClr val="bg1"/>
              </a:solidFill>
            </a:endParaRPr>
          </a:p>
          <a:p>
            <a:endParaRPr lang="es-CL" sz="2400" dirty="0">
              <a:solidFill>
                <a:schemeClr val="bg1"/>
              </a:solidFill>
            </a:endParaRPr>
          </a:p>
        </p:txBody>
      </p:sp>
      <p:sp>
        <p:nvSpPr>
          <p:cNvPr id="4" name="Título 1">
            <a:extLst>
              <a:ext uri="{FF2B5EF4-FFF2-40B4-BE49-F238E27FC236}">
                <a16:creationId xmlns:a16="http://schemas.microsoft.com/office/drawing/2014/main" id="{099DC0BA-EB26-A440-93FF-6002E8116155}"/>
              </a:ext>
            </a:extLst>
          </p:cNvPr>
          <p:cNvSpPr>
            <a:spLocks noGrp="1"/>
          </p:cNvSpPr>
          <p:nvPr>
            <p:ph type="title"/>
          </p:nvPr>
        </p:nvSpPr>
        <p:spPr/>
        <p:txBody>
          <a:bodyPr/>
          <a:lstStyle/>
          <a:p>
            <a:r>
              <a:rPr lang="es-CL" dirty="0">
                <a:solidFill>
                  <a:srgbClr val="66D9EF"/>
                </a:solidFill>
              </a:rPr>
              <a:t>Ejercicio 1: FNP</a:t>
            </a:r>
            <a:endParaRPr lang="es-CL" dirty="0"/>
          </a:p>
        </p:txBody>
      </p:sp>
      <p:sp>
        <p:nvSpPr>
          <p:cNvPr id="5" name="Rectángulo 4">
            <a:extLst>
              <a:ext uri="{FF2B5EF4-FFF2-40B4-BE49-F238E27FC236}">
                <a16:creationId xmlns:a16="http://schemas.microsoft.com/office/drawing/2014/main" id="{FA8675A8-8687-3040-A3A2-1E8AE9790AF1}"/>
              </a:ext>
            </a:extLst>
          </p:cNvPr>
          <p:cNvSpPr/>
          <p:nvPr/>
        </p:nvSpPr>
        <p:spPr>
          <a:xfrm>
            <a:off x="1772423" y="5387769"/>
            <a:ext cx="2717411" cy="1200329"/>
          </a:xfrm>
          <a:prstGeom prst="rect">
            <a:avLst/>
          </a:prstGeom>
        </p:spPr>
        <p:txBody>
          <a:bodyPr wrap="none">
            <a:spAutoFit/>
          </a:bodyPr>
          <a:lstStyle/>
          <a:p>
            <a:pPr algn="ctr"/>
            <a:r>
              <a:rPr lang="es-CL" dirty="0">
                <a:solidFill>
                  <a:schemeClr val="bg1"/>
                </a:solidFill>
                <a:latin typeface="Consolas" panose="020B0609020204030204" pitchFamily="49" charset="0"/>
                <a:cs typeface="Consolas" panose="020B0609020204030204" pitchFamily="49" charset="0"/>
              </a:rPr>
              <a:t>tiros = ”1,5,2”</a:t>
            </a:r>
          </a:p>
          <a:p>
            <a:pPr algn="ctr"/>
            <a:r>
              <a:rPr lang="es-CL" dirty="0">
                <a:solidFill>
                  <a:schemeClr val="bg1"/>
                </a:solidFill>
                <a:latin typeface="Consolas" panose="020B0609020204030204" pitchFamily="49" charset="0"/>
                <a:cs typeface="Consolas" panose="020B0609020204030204" pitchFamily="49" charset="0"/>
              </a:rPr>
              <a:t>print(accion(tiros))</a:t>
            </a:r>
          </a:p>
          <a:p>
            <a:pPr algn="ctr"/>
            <a:endParaRPr lang="es-CL" dirty="0">
              <a:solidFill>
                <a:schemeClr val="bg1"/>
              </a:solidFill>
              <a:latin typeface="Consolas" panose="020B0609020204030204" pitchFamily="49" charset="0"/>
              <a:cs typeface="Consolas" panose="020B0609020204030204" pitchFamily="49" charset="0"/>
            </a:endParaRPr>
          </a:p>
          <a:p>
            <a:pPr algn="ctr"/>
            <a:r>
              <a:rPr lang="es-CL" dirty="0">
                <a:solidFill>
                  <a:srgbClr val="F92672"/>
                </a:solidFill>
                <a:latin typeface="Consolas" panose="020B0609020204030204" pitchFamily="49" charset="0"/>
                <a:cs typeface="Consolas" panose="020B0609020204030204" pitchFamily="49" charset="0"/>
              </a:rPr>
              <a:t>&gt;&gt;&gt;</a:t>
            </a:r>
            <a:r>
              <a:rPr lang="es-CL" dirty="0">
                <a:solidFill>
                  <a:schemeClr val="bg1"/>
                </a:solidFill>
                <a:latin typeface="Consolas" panose="020B0609020204030204" pitchFamily="49" charset="0"/>
                <a:cs typeface="Consolas" panose="020B0609020204030204" pitchFamily="49" charset="0"/>
              </a:rPr>
              <a:t> 0</a:t>
            </a:r>
          </a:p>
        </p:txBody>
      </p:sp>
      <p:sp>
        <p:nvSpPr>
          <p:cNvPr id="6" name="Rectángulo 5">
            <a:extLst>
              <a:ext uri="{FF2B5EF4-FFF2-40B4-BE49-F238E27FC236}">
                <a16:creationId xmlns:a16="http://schemas.microsoft.com/office/drawing/2014/main" id="{318D272F-5507-4642-B020-F6361B598B00}"/>
              </a:ext>
            </a:extLst>
          </p:cNvPr>
          <p:cNvSpPr/>
          <p:nvPr/>
        </p:nvSpPr>
        <p:spPr>
          <a:xfrm>
            <a:off x="4737294" y="5387768"/>
            <a:ext cx="2717411" cy="1200329"/>
          </a:xfrm>
          <a:prstGeom prst="rect">
            <a:avLst/>
          </a:prstGeom>
        </p:spPr>
        <p:txBody>
          <a:bodyPr wrap="none">
            <a:spAutoFit/>
          </a:bodyPr>
          <a:lstStyle/>
          <a:p>
            <a:pPr algn="ctr"/>
            <a:r>
              <a:rPr lang="es-CL" dirty="0">
                <a:solidFill>
                  <a:schemeClr val="bg1"/>
                </a:solidFill>
                <a:latin typeface="Consolas" panose="020B0609020204030204" pitchFamily="49" charset="0"/>
                <a:cs typeface="Consolas" panose="020B0609020204030204" pitchFamily="49" charset="0"/>
              </a:rPr>
              <a:t>tiros = ”9,3”</a:t>
            </a:r>
          </a:p>
          <a:p>
            <a:pPr algn="ctr"/>
            <a:r>
              <a:rPr lang="es-CL" dirty="0">
                <a:solidFill>
                  <a:schemeClr val="bg1"/>
                </a:solidFill>
                <a:latin typeface="Consolas" panose="020B0609020204030204" pitchFamily="49" charset="0"/>
                <a:cs typeface="Consolas" panose="020B0609020204030204" pitchFamily="49" charset="0"/>
              </a:rPr>
              <a:t>print(accion(tiros))</a:t>
            </a:r>
          </a:p>
          <a:p>
            <a:pPr algn="ctr"/>
            <a:endParaRPr lang="es-CL" dirty="0">
              <a:solidFill>
                <a:schemeClr val="bg1"/>
              </a:solidFill>
              <a:latin typeface="Consolas" panose="020B0609020204030204" pitchFamily="49" charset="0"/>
              <a:cs typeface="Consolas" panose="020B0609020204030204" pitchFamily="49" charset="0"/>
            </a:endParaRPr>
          </a:p>
          <a:p>
            <a:pPr algn="ctr"/>
            <a:r>
              <a:rPr lang="es-CL" dirty="0">
                <a:solidFill>
                  <a:srgbClr val="F92672"/>
                </a:solidFill>
                <a:latin typeface="Consolas" panose="020B0609020204030204" pitchFamily="49" charset="0"/>
                <a:cs typeface="Consolas" panose="020B0609020204030204" pitchFamily="49" charset="0"/>
              </a:rPr>
              <a:t>&gt;&gt;&gt;</a:t>
            </a:r>
            <a:r>
              <a:rPr lang="es-CL" dirty="0">
                <a:solidFill>
                  <a:schemeClr val="bg1"/>
                </a:solidFill>
                <a:latin typeface="Consolas" panose="020B0609020204030204" pitchFamily="49" charset="0"/>
                <a:cs typeface="Consolas" panose="020B0609020204030204" pitchFamily="49" charset="0"/>
              </a:rPr>
              <a:t> 1</a:t>
            </a:r>
          </a:p>
        </p:txBody>
      </p:sp>
      <p:sp>
        <p:nvSpPr>
          <p:cNvPr id="7" name="Rectángulo 6">
            <a:extLst>
              <a:ext uri="{FF2B5EF4-FFF2-40B4-BE49-F238E27FC236}">
                <a16:creationId xmlns:a16="http://schemas.microsoft.com/office/drawing/2014/main" id="{75544AFA-AE13-2547-9BD2-4EDACB9EF686}"/>
              </a:ext>
            </a:extLst>
          </p:cNvPr>
          <p:cNvSpPr/>
          <p:nvPr/>
        </p:nvSpPr>
        <p:spPr>
          <a:xfrm>
            <a:off x="7702166" y="5387768"/>
            <a:ext cx="2717411" cy="1200329"/>
          </a:xfrm>
          <a:prstGeom prst="rect">
            <a:avLst/>
          </a:prstGeom>
        </p:spPr>
        <p:txBody>
          <a:bodyPr wrap="none">
            <a:spAutoFit/>
          </a:bodyPr>
          <a:lstStyle/>
          <a:p>
            <a:pPr algn="ctr"/>
            <a:r>
              <a:rPr lang="es-CL" dirty="0">
                <a:solidFill>
                  <a:schemeClr val="bg1"/>
                </a:solidFill>
                <a:latin typeface="Consolas" panose="020B0609020204030204" pitchFamily="49" charset="0"/>
                <a:cs typeface="Consolas" panose="020B0609020204030204" pitchFamily="49" charset="0"/>
              </a:rPr>
              <a:t>tiros = ”4”</a:t>
            </a:r>
          </a:p>
          <a:p>
            <a:pPr algn="ctr"/>
            <a:r>
              <a:rPr lang="es-CL" dirty="0">
                <a:solidFill>
                  <a:schemeClr val="bg1"/>
                </a:solidFill>
                <a:latin typeface="Consolas" panose="020B0609020204030204" pitchFamily="49" charset="0"/>
                <a:cs typeface="Consolas" panose="020B0609020204030204" pitchFamily="49" charset="0"/>
              </a:rPr>
              <a:t>print(accion(tiros))</a:t>
            </a:r>
          </a:p>
          <a:p>
            <a:pPr algn="ctr"/>
            <a:endParaRPr lang="es-CL" dirty="0">
              <a:solidFill>
                <a:schemeClr val="bg1"/>
              </a:solidFill>
              <a:latin typeface="Consolas" panose="020B0609020204030204" pitchFamily="49" charset="0"/>
              <a:cs typeface="Consolas" panose="020B0609020204030204" pitchFamily="49" charset="0"/>
            </a:endParaRPr>
          </a:p>
          <a:p>
            <a:pPr algn="ctr"/>
            <a:r>
              <a:rPr lang="es-CL" dirty="0">
                <a:solidFill>
                  <a:srgbClr val="F92672"/>
                </a:solidFill>
                <a:latin typeface="Consolas" panose="020B0609020204030204" pitchFamily="49" charset="0"/>
                <a:cs typeface="Consolas" panose="020B0609020204030204" pitchFamily="49" charset="0"/>
              </a:rPr>
              <a:t>&gt;&gt;&gt;</a:t>
            </a:r>
            <a:r>
              <a:rPr lang="es-CL" dirty="0">
                <a:solidFill>
                  <a:schemeClr val="bg1"/>
                </a:solidFill>
                <a:latin typeface="Consolas" panose="020B0609020204030204" pitchFamily="49" charset="0"/>
                <a:cs typeface="Consolas" panose="020B0609020204030204" pitchFamily="49" charset="0"/>
              </a:rPr>
              <a:t> -1</a:t>
            </a:r>
          </a:p>
        </p:txBody>
      </p:sp>
    </p:spTree>
    <p:extLst>
      <p:ext uri="{BB962C8B-B14F-4D97-AF65-F5344CB8AC3E}">
        <p14:creationId xmlns:p14="http://schemas.microsoft.com/office/powerpoint/2010/main" val="828389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6E99EA-7ABE-F54F-99DB-A8C588ED65EC}"/>
              </a:ext>
            </a:extLst>
          </p:cNvPr>
          <p:cNvSpPr>
            <a:spLocks noGrp="1"/>
          </p:cNvSpPr>
          <p:nvPr>
            <p:ph type="title"/>
          </p:nvPr>
        </p:nvSpPr>
        <p:spPr/>
        <p:txBody>
          <a:bodyPr/>
          <a:lstStyle/>
          <a:p>
            <a:r>
              <a:rPr lang="es-CL" dirty="0">
                <a:solidFill>
                  <a:srgbClr val="66D9EF"/>
                </a:solidFill>
              </a:rPr>
              <a:t>Solucion</a:t>
            </a:r>
            <a:endParaRPr lang="es-CL" dirty="0"/>
          </a:p>
        </p:txBody>
      </p:sp>
      <p:sp>
        <p:nvSpPr>
          <p:cNvPr id="5" name="Rectángulo 4">
            <a:extLst>
              <a:ext uri="{FF2B5EF4-FFF2-40B4-BE49-F238E27FC236}">
                <a16:creationId xmlns:a16="http://schemas.microsoft.com/office/drawing/2014/main" id="{4354E219-DCA3-1A4A-A1AD-C88D72324B2F}"/>
              </a:ext>
            </a:extLst>
          </p:cNvPr>
          <p:cNvSpPr/>
          <p:nvPr/>
        </p:nvSpPr>
        <p:spPr>
          <a:xfrm>
            <a:off x="595745" y="2540007"/>
            <a:ext cx="6096000" cy="2862322"/>
          </a:xfrm>
          <a:prstGeom prst="rect">
            <a:avLst/>
          </a:prstGeom>
        </p:spPr>
        <p:txBody>
          <a:bodyPr>
            <a:spAutoFit/>
          </a:bodyPr>
          <a:lstStyle/>
          <a:p>
            <a:r>
              <a:rPr lang="es-CL" dirty="0">
                <a:solidFill>
                  <a:srgbClr val="66D9EF"/>
                </a:solidFill>
                <a:latin typeface="Menlo" panose="020B0609030804020204" pitchFamily="49" charset="0"/>
              </a:rPr>
              <a:t>def</a:t>
            </a:r>
            <a:r>
              <a:rPr lang="es-CL" dirty="0">
                <a:solidFill>
                  <a:srgbClr val="F8F8F2"/>
                </a:solidFill>
                <a:latin typeface="Menlo" panose="020B0609030804020204" pitchFamily="49" charset="0"/>
              </a:rPr>
              <a:t> </a:t>
            </a:r>
            <a:r>
              <a:rPr lang="es-CL" dirty="0">
                <a:solidFill>
                  <a:srgbClr val="A6E22E"/>
                </a:solidFill>
                <a:latin typeface="Menlo" panose="020B0609030804020204" pitchFamily="49" charset="0"/>
              </a:rPr>
              <a:t>accion</a:t>
            </a:r>
            <a:r>
              <a:rPr lang="es-CL" dirty="0">
                <a:solidFill>
                  <a:srgbClr val="F8F8F2"/>
                </a:solidFill>
                <a:latin typeface="Menlo" panose="020B0609030804020204" pitchFamily="49" charset="0"/>
              </a:rPr>
              <a:t>(tiros):</a:t>
            </a:r>
          </a:p>
          <a:p>
            <a:r>
              <a:rPr lang="es-CL" dirty="0">
                <a:solidFill>
                  <a:srgbClr val="F8F8F2"/>
                </a:solidFill>
                <a:latin typeface="Menlo" panose="020B0609030804020204" pitchFamily="49" charset="0"/>
              </a:rPr>
              <a:t>    total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total_tiros(tiros)</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total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2</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75715E"/>
                </a:solidFill>
                <a:latin typeface="Menlo" panose="020B0609030804020204" pitchFamily="49" charset="0"/>
              </a:rPr>
              <a:t># ataque</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ataque_base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int(tiros[</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factor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int(tiros[</a:t>
            </a:r>
            <a:r>
              <a:rPr lang="es-CL" dirty="0">
                <a:solidFill>
                  <a:srgbClr val="AE81FF"/>
                </a:solidFill>
                <a:latin typeface="Menlo" panose="020B0609030804020204" pitchFamily="49" charset="0"/>
              </a:rPr>
              <a:t>2</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ataque_base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factor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return</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return</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0</a:t>
            </a:r>
            <a:endParaRPr lang="es-CL" dirty="0">
              <a:solidFill>
                <a:srgbClr val="F8F8F2"/>
              </a:solidFill>
              <a:latin typeface="Menlo" panose="020B0609030804020204" pitchFamily="49" charset="0"/>
            </a:endParaRPr>
          </a:p>
          <a:p>
            <a:endParaRPr lang="es-CL" dirty="0">
              <a:solidFill>
                <a:srgbClr val="F8F8F2"/>
              </a:solidFill>
              <a:latin typeface="Menlo" panose="020B0609030804020204" pitchFamily="49" charset="0"/>
            </a:endParaRPr>
          </a:p>
        </p:txBody>
      </p:sp>
      <p:sp>
        <p:nvSpPr>
          <p:cNvPr id="6" name="Rectángulo 5">
            <a:extLst>
              <a:ext uri="{FF2B5EF4-FFF2-40B4-BE49-F238E27FC236}">
                <a16:creationId xmlns:a16="http://schemas.microsoft.com/office/drawing/2014/main" id="{F000CEFE-8B11-984B-ACFF-0BBCD81F3440}"/>
              </a:ext>
            </a:extLst>
          </p:cNvPr>
          <p:cNvSpPr/>
          <p:nvPr/>
        </p:nvSpPr>
        <p:spPr>
          <a:xfrm>
            <a:off x="5500255" y="1887187"/>
            <a:ext cx="6096000" cy="3970318"/>
          </a:xfrm>
          <a:prstGeom prst="rect">
            <a:avLst/>
          </a:prstGeom>
        </p:spPr>
        <p:txBody>
          <a:bodyPr>
            <a:spAutoFit/>
          </a:bodyPr>
          <a:lstStyle/>
          <a:p>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elif</a:t>
            </a:r>
            <a:r>
              <a:rPr lang="es-CL" dirty="0">
                <a:solidFill>
                  <a:srgbClr val="F8F8F2"/>
                </a:solidFill>
                <a:latin typeface="Menlo" panose="020B0609030804020204" pitchFamily="49" charset="0"/>
              </a:rPr>
              <a:t> total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3</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75715E"/>
                </a:solidFill>
                <a:latin typeface="Menlo" panose="020B0609030804020204" pitchFamily="49" charset="0"/>
              </a:rPr>
              <a:t># defensa</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hp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int(tiros[</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total_ataques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int(tiros[</a:t>
            </a:r>
            <a:r>
              <a:rPr lang="es-CL" dirty="0">
                <a:solidFill>
                  <a:srgbClr val="AE81FF"/>
                </a:solidFill>
                <a:latin typeface="Menlo" panose="020B0609030804020204" pitchFamily="49" charset="0"/>
              </a:rPr>
              <a:t>2</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dmg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int(tiros[</a:t>
            </a:r>
            <a:r>
              <a:rPr lang="es-CL" dirty="0">
                <a:solidFill>
                  <a:srgbClr val="AE81FF"/>
                </a:solidFill>
                <a:latin typeface="Menlo" panose="020B0609030804020204" pitchFamily="49" charset="0"/>
              </a:rPr>
              <a:t>4</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for</a:t>
            </a:r>
            <a:r>
              <a:rPr lang="es-CL" dirty="0">
                <a:solidFill>
                  <a:srgbClr val="F8F8F2"/>
                </a:solidFill>
                <a:latin typeface="Menlo" panose="020B0609030804020204" pitchFamily="49" charset="0"/>
              </a:rPr>
              <a:t> i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range(total_ataques):</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hp </a:t>
            </a:r>
            <a:r>
              <a:rPr lang="es-CL" dirty="0">
                <a:solidFill>
                  <a:srgbClr val="F92672"/>
                </a:solidFill>
                <a:latin typeface="Menlo" panose="020B0609030804020204" pitchFamily="49" charset="0"/>
              </a:rPr>
              <a:t>&lt;=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return</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0</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else</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hp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0.2</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dmg</a:t>
            </a:r>
          </a:p>
          <a:p>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else</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return</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AE81FF"/>
                </a:solidFill>
                <a:latin typeface="Menlo" panose="020B0609030804020204" pitchFamily="49" charset="0"/>
              </a:rPr>
              <a:t>1</a:t>
            </a:r>
            <a:endParaRPr lang="es-CL" dirty="0"/>
          </a:p>
        </p:txBody>
      </p:sp>
    </p:spTree>
    <p:extLst>
      <p:ext uri="{BB962C8B-B14F-4D97-AF65-F5344CB8AC3E}">
        <p14:creationId xmlns:p14="http://schemas.microsoft.com/office/powerpoint/2010/main" val="1732756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AC38622-1D3A-FE45-ACA8-48A36D0250A1}"/>
              </a:ext>
            </a:extLst>
          </p:cNvPr>
          <p:cNvSpPr>
            <a:spLocks noGrp="1"/>
          </p:cNvSpPr>
          <p:nvPr>
            <p:ph type="title"/>
          </p:nvPr>
        </p:nvSpPr>
        <p:spPr/>
        <p:txBody>
          <a:bodyPr/>
          <a:lstStyle/>
          <a:p>
            <a:r>
              <a:rPr lang="es-CL" dirty="0">
                <a:solidFill>
                  <a:srgbClr val="66D9EF"/>
                </a:solidFill>
              </a:rPr>
              <a:t>Ejercicio 1: FNP</a:t>
            </a:r>
            <a:endParaRPr lang="es-CL" dirty="0"/>
          </a:p>
        </p:txBody>
      </p:sp>
      <p:sp>
        <p:nvSpPr>
          <p:cNvPr id="5" name="Marcador de contenido 5">
            <a:extLst>
              <a:ext uri="{FF2B5EF4-FFF2-40B4-BE49-F238E27FC236}">
                <a16:creationId xmlns:a16="http://schemas.microsoft.com/office/drawing/2014/main" id="{D2CF1801-15D9-334A-98D7-163DBA9BCC1E}"/>
              </a:ext>
            </a:extLst>
          </p:cNvPr>
          <p:cNvSpPr txBox="1">
            <a:spLocks/>
          </p:cNvSpPr>
          <p:nvPr/>
        </p:nvSpPr>
        <p:spPr>
          <a:xfrm>
            <a:off x="734291" y="1828800"/>
            <a:ext cx="10945091" cy="4443984"/>
          </a:xfrm>
          <a:prstGeom prst="rect">
            <a:avLst/>
          </a:prstGeom>
        </p:spPr>
        <p:txBody>
          <a:bodyPr vert="horz" lIns="45720" tIns="45720" rIns="45720" bIns="45720" rtlCol="0">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s-CL" sz="2800" i="1" dirty="0">
                <a:solidFill>
                  <a:schemeClr val="bg1"/>
                </a:solidFill>
              </a:rPr>
              <a:t>c</a:t>
            </a:r>
            <a:r>
              <a:rPr lang="es-CL" sz="2800" dirty="0">
                <a:solidFill>
                  <a:schemeClr val="bg1"/>
                </a:solidFill>
              </a:rPr>
              <a:t>) Crea la funcion </a:t>
            </a:r>
            <a:r>
              <a:rPr lang="es-CL" sz="2800" b="1" dirty="0">
                <a:solidFill>
                  <a:schemeClr val="bg1"/>
                </a:solidFill>
              </a:rPr>
              <a:t>creacion_personaje(tiros) </a:t>
            </a:r>
            <a:r>
              <a:rPr lang="es-CL" sz="2800" dirty="0">
                <a:solidFill>
                  <a:schemeClr val="bg1"/>
                </a:solidFill>
              </a:rPr>
              <a:t>la cual recibe los tiros y retorna un string</a:t>
            </a:r>
          </a:p>
          <a:p>
            <a:pPr algn="ctr"/>
            <a:r>
              <a:rPr lang="es-CL" sz="2800" dirty="0">
                <a:solidFill>
                  <a:schemeClr val="bg1"/>
                </a:solidFill>
                <a:latin typeface="Consolas" panose="020B0609020204030204" pitchFamily="49" charset="0"/>
                <a:cs typeface="Consolas" panose="020B0609020204030204" pitchFamily="49" charset="0"/>
              </a:rPr>
              <a:t>”Raza: X; Clase: Y; Carísma en video : x, Rapidez de ruteo: y, Manejo de Python: z”.</a:t>
            </a:r>
          </a:p>
          <a:p>
            <a:pPr marL="514350" indent="-514350">
              <a:buFont typeface="+mj-lt"/>
              <a:buAutoNum type="arabicPeriod"/>
            </a:pPr>
            <a:r>
              <a:rPr lang="es-CL" sz="2800" dirty="0">
                <a:solidFill>
                  <a:schemeClr val="bg1"/>
                </a:solidFill>
                <a:cs typeface="Consolas" panose="020B0609020204030204" pitchFamily="49" charset="0"/>
              </a:rPr>
              <a:t>La raza es </a:t>
            </a:r>
            <a:r>
              <a:rPr lang="es-CL" sz="2800" b="1" dirty="0">
                <a:solidFill>
                  <a:srgbClr val="F92672"/>
                </a:solidFill>
                <a:cs typeface="Consolas" panose="020B0609020204030204" pitchFamily="49" charset="0"/>
              </a:rPr>
              <a:t>Enano</a:t>
            </a:r>
            <a:r>
              <a:rPr lang="es-CL" sz="2800" dirty="0">
                <a:solidFill>
                  <a:schemeClr val="bg1"/>
                </a:solidFill>
                <a:cs typeface="Consolas" panose="020B0609020204030204" pitchFamily="49" charset="0"/>
              </a:rPr>
              <a:t> si el primer numero de tiro es impar y el segundo también.</a:t>
            </a:r>
          </a:p>
          <a:p>
            <a:pPr marL="514350" indent="-514350">
              <a:buFont typeface="+mj-lt"/>
              <a:buAutoNum type="arabicPeriod"/>
            </a:pPr>
            <a:r>
              <a:rPr lang="es-CL" sz="2800" dirty="0">
                <a:solidFill>
                  <a:schemeClr val="bg1"/>
                </a:solidFill>
                <a:cs typeface="Consolas" panose="020B0609020204030204" pitchFamily="49" charset="0"/>
              </a:rPr>
              <a:t>Si el primer y el segundo son números pares, la raza es </a:t>
            </a:r>
            <a:r>
              <a:rPr lang="es-CL" sz="2800" b="1" dirty="0">
                <a:solidFill>
                  <a:srgbClr val="F92672"/>
                </a:solidFill>
                <a:cs typeface="Consolas" panose="020B0609020204030204" pitchFamily="49" charset="0"/>
              </a:rPr>
              <a:t>Orco</a:t>
            </a:r>
            <a:r>
              <a:rPr lang="es-CL" sz="2800" dirty="0">
                <a:solidFill>
                  <a:schemeClr val="bg1"/>
                </a:solidFill>
                <a:cs typeface="Consolas" panose="020B0609020204030204" pitchFamily="49" charset="0"/>
              </a:rPr>
              <a:t>. Si el primer es par y segundo impar, la raza eligida es </a:t>
            </a:r>
            <a:r>
              <a:rPr lang="es-CL" sz="2800" b="1" dirty="0">
                <a:solidFill>
                  <a:srgbClr val="F92672"/>
                </a:solidFill>
                <a:cs typeface="Consolas" panose="020B0609020204030204" pitchFamily="49" charset="0"/>
              </a:rPr>
              <a:t>Elfo</a:t>
            </a:r>
            <a:r>
              <a:rPr lang="es-CL" sz="2800" dirty="0">
                <a:solidFill>
                  <a:schemeClr val="bg1"/>
                </a:solidFill>
                <a:cs typeface="Consolas" panose="020B0609020204030204" pitchFamily="49" charset="0"/>
              </a:rPr>
              <a:t>.</a:t>
            </a:r>
          </a:p>
          <a:p>
            <a:pPr marL="514350" indent="-514350">
              <a:buFont typeface="+mj-lt"/>
              <a:buAutoNum type="arabicPeriod"/>
            </a:pPr>
            <a:r>
              <a:rPr lang="es-CL" sz="2800" dirty="0">
                <a:solidFill>
                  <a:schemeClr val="bg1"/>
                </a:solidFill>
                <a:cs typeface="Consolas" panose="020B0609020204030204" pitchFamily="49" charset="0"/>
              </a:rPr>
              <a:t>En otro caso, la raza es </a:t>
            </a:r>
            <a:r>
              <a:rPr lang="es-CL" sz="2800" b="1" dirty="0">
                <a:solidFill>
                  <a:srgbClr val="F92672"/>
                </a:solidFill>
                <a:cs typeface="Consolas" panose="020B0609020204030204" pitchFamily="49" charset="0"/>
              </a:rPr>
              <a:t>Humano</a:t>
            </a:r>
            <a:r>
              <a:rPr lang="es-CL" sz="2800" dirty="0">
                <a:solidFill>
                  <a:schemeClr val="bg1"/>
                </a:solidFill>
                <a:cs typeface="Consolas" panose="020B0609020204030204" pitchFamily="49" charset="0"/>
              </a:rPr>
              <a:t>. </a:t>
            </a:r>
          </a:p>
          <a:p>
            <a:pPr marL="0" indent="0">
              <a:buNone/>
            </a:pPr>
            <a:r>
              <a:rPr lang="es-CL" sz="2800" dirty="0">
                <a:solidFill>
                  <a:schemeClr val="bg1"/>
                </a:solidFill>
                <a:cs typeface="Consolas" panose="020B0609020204030204" pitchFamily="49" charset="0"/>
              </a:rPr>
              <a:t>La clase es </a:t>
            </a:r>
            <a:r>
              <a:rPr lang="es-CL" sz="2800" b="1" dirty="0">
                <a:solidFill>
                  <a:srgbClr val="F92672"/>
                </a:solidFill>
                <a:cs typeface="Consolas" panose="020B0609020204030204" pitchFamily="49" charset="0"/>
              </a:rPr>
              <a:t>Mago</a:t>
            </a:r>
            <a:r>
              <a:rPr lang="es-CL" sz="2800" dirty="0">
                <a:solidFill>
                  <a:schemeClr val="bg1"/>
                </a:solidFill>
                <a:cs typeface="Consolas" panose="020B0609020204030204" pitchFamily="49" charset="0"/>
              </a:rPr>
              <a:t> si la diferencia entre 3r y 4to tiro es un número impar positivo. En caso de que sea par positivo, la clase es </a:t>
            </a:r>
            <a:r>
              <a:rPr lang="es-CL" sz="2800" b="1" dirty="0">
                <a:solidFill>
                  <a:srgbClr val="F92672"/>
                </a:solidFill>
                <a:cs typeface="Consolas" panose="020B0609020204030204" pitchFamily="49" charset="0"/>
              </a:rPr>
              <a:t>Bárbaro</a:t>
            </a:r>
            <a:r>
              <a:rPr lang="es-CL" sz="2800" dirty="0">
                <a:solidFill>
                  <a:schemeClr val="bg1"/>
                </a:solidFill>
                <a:cs typeface="Consolas" panose="020B0609020204030204" pitchFamily="49" charset="0"/>
              </a:rPr>
              <a:t>. En otro caso, la clase es </a:t>
            </a:r>
            <a:r>
              <a:rPr lang="es-CL" sz="2800" b="1" dirty="0">
                <a:solidFill>
                  <a:srgbClr val="F92672"/>
                </a:solidFill>
                <a:cs typeface="Consolas" panose="020B0609020204030204" pitchFamily="49" charset="0"/>
              </a:rPr>
              <a:t>Paladín</a:t>
            </a:r>
            <a:r>
              <a:rPr lang="es-CL" sz="2800" dirty="0">
                <a:solidFill>
                  <a:schemeClr val="bg1"/>
                </a:solidFill>
                <a:cs typeface="Consolas" panose="020B0609020204030204" pitchFamily="49" charset="0"/>
              </a:rPr>
              <a:t>.</a:t>
            </a:r>
          </a:p>
          <a:p>
            <a:pPr marL="0" indent="0">
              <a:buNone/>
            </a:pPr>
            <a:r>
              <a:rPr lang="es-CL" sz="2800" dirty="0">
                <a:solidFill>
                  <a:schemeClr val="bg1"/>
                </a:solidFill>
                <a:cs typeface="Consolas" panose="020B0609020204030204" pitchFamily="49" charset="0"/>
              </a:rPr>
              <a:t>Después de los primeros 4 valores, siguen los valores de </a:t>
            </a:r>
            <a:r>
              <a:rPr lang="es-CL" sz="2800" b="1" dirty="0">
                <a:solidFill>
                  <a:schemeClr val="bg1"/>
                </a:solidFill>
                <a:cs typeface="Consolas" panose="020B0609020204030204" pitchFamily="49" charset="0"/>
              </a:rPr>
              <a:t>Carísma x, Rapidez y, Manejo z</a:t>
            </a:r>
            <a:r>
              <a:rPr lang="es-CL" sz="2800" dirty="0">
                <a:solidFill>
                  <a:schemeClr val="bg1"/>
                </a:solidFill>
                <a:cs typeface="Consolas" panose="020B0609020204030204" pitchFamily="49" charset="0"/>
              </a:rPr>
              <a:t>, en este orden.</a:t>
            </a:r>
          </a:p>
          <a:p>
            <a:pPr marL="0" indent="0">
              <a:buNone/>
            </a:pPr>
            <a:r>
              <a:rPr lang="es-CL" sz="2800" dirty="0">
                <a:solidFill>
                  <a:schemeClr val="bg1"/>
                </a:solidFill>
                <a:cs typeface="Consolas" panose="020B0609020204030204" pitchFamily="49" charset="0"/>
              </a:rPr>
              <a:t>Se retorna el string solo en el caso de que el tiro es válido – es decir, de largo 7. En caso contrario, se retorna string vacío. Se puede crear funciones auxiliares.</a:t>
            </a:r>
          </a:p>
        </p:txBody>
      </p:sp>
      <p:sp>
        <p:nvSpPr>
          <p:cNvPr id="6" name="Rectángulo 5">
            <a:extLst>
              <a:ext uri="{FF2B5EF4-FFF2-40B4-BE49-F238E27FC236}">
                <a16:creationId xmlns:a16="http://schemas.microsoft.com/office/drawing/2014/main" id="{70C55DEC-016F-0648-BD17-402B414F12EB}"/>
              </a:ext>
            </a:extLst>
          </p:cNvPr>
          <p:cNvSpPr/>
          <p:nvPr/>
        </p:nvSpPr>
        <p:spPr>
          <a:xfrm>
            <a:off x="5884164" y="376011"/>
            <a:ext cx="6151246" cy="830997"/>
          </a:xfrm>
          <a:prstGeom prst="rect">
            <a:avLst/>
          </a:prstGeom>
        </p:spPr>
        <p:txBody>
          <a:bodyPr wrap="square">
            <a:spAutoFit/>
          </a:bodyPr>
          <a:lstStyle/>
          <a:p>
            <a:pPr algn="ctr"/>
            <a:r>
              <a:rPr lang="es-CL" sz="1600" dirty="0">
                <a:solidFill>
                  <a:schemeClr val="bg1"/>
                </a:solidFill>
                <a:latin typeface="Consolas" panose="020B0609020204030204" pitchFamily="49" charset="0"/>
                <a:cs typeface="Consolas" panose="020B0609020204030204" pitchFamily="49" charset="0"/>
              </a:rPr>
              <a:t>tiros = "1,5,2,3,5,6,7 ”</a:t>
            </a:r>
          </a:p>
          <a:p>
            <a:pPr algn="ctr"/>
            <a:r>
              <a:rPr lang="es-CL" sz="1600" dirty="0">
                <a:solidFill>
                  <a:schemeClr val="bg1"/>
                </a:solidFill>
                <a:latin typeface="Consolas" panose="020B0609020204030204" pitchFamily="49" charset="0"/>
                <a:cs typeface="Consolas" panose="020B0609020204030204" pitchFamily="49" charset="0"/>
              </a:rPr>
              <a:t>Raza: Enano; Clase: Paladin; Carísma en video: 5, Rapidez de ruteo: 6, Manejo de Python: 7</a:t>
            </a:r>
          </a:p>
        </p:txBody>
      </p:sp>
    </p:spTree>
    <p:extLst>
      <p:ext uri="{BB962C8B-B14F-4D97-AF65-F5344CB8AC3E}">
        <p14:creationId xmlns:p14="http://schemas.microsoft.com/office/powerpoint/2010/main" val="1256416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15F2F99-CA3D-3D48-9D5E-0A83C69293C4}"/>
              </a:ext>
            </a:extLst>
          </p:cNvPr>
          <p:cNvSpPr>
            <a:spLocks noGrp="1"/>
          </p:cNvSpPr>
          <p:nvPr>
            <p:ph type="title"/>
          </p:nvPr>
        </p:nvSpPr>
        <p:spPr/>
        <p:txBody>
          <a:bodyPr/>
          <a:lstStyle/>
          <a:p>
            <a:r>
              <a:rPr lang="es-CL" dirty="0">
                <a:solidFill>
                  <a:srgbClr val="66D9EF"/>
                </a:solidFill>
              </a:rPr>
              <a:t>Solucion</a:t>
            </a:r>
            <a:endParaRPr lang="es-CL" dirty="0"/>
          </a:p>
        </p:txBody>
      </p:sp>
      <p:sp>
        <p:nvSpPr>
          <p:cNvPr id="5" name="Rectángulo 4">
            <a:extLst>
              <a:ext uri="{FF2B5EF4-FFF2-40B4-BE49-F238E27FC236}">
                <a16:creationId xmlns:a16="http://schemas.microsoft.com/office/drawing/2014/main" id="{51583B5C-E9AC-9B4A-B62A-20E8758DD7A6}"/>
              </a:ext>
            </a:extLst>
          </p:cNvPr>
          <p:cNvSpPr/>
          <p:nvPr/>
        </p:nvSpPr>
        <p:spPr>
          <a:xfrm>
            <a:off x="914400" y="2084832"/>
            <a:ext cx="5943600" cy="3539430"/>
          </a:xfrm>
          <a:prstGeom prst="rect">
            <a:avLst/>
          </a:prstGeom>
        </p:spPr>
        <p:txBody>
          <a:bodyPr wrap="square">
            <a:spAutoFit/>
          </a:bodyPr>
          <a:lstStyle/>
          <a:p>
            <a:r>
              <a:rPr lang="es-CL" sz="1600" dirty="0">
                <a:solidFill>
                  <a:srgbClr val="66D9EF"/>
                </a:solidFill>
                <a:latin typeface="Menlo" panose="020B0609030804020204" pitchFamily="49" charset="0"/>
              </a:rPr>
              <a:t>def</a:t>
            </a:r>
            <a:r>
              <a:rPr lang="es-CL" sz="1600" dirty="0">
                <a:solidFill>
                  <a:srgbClr val="F8F8F2"/>
                </a:solidFill>
                <a:latin typeface="Menlo" panose="020B0609030804020204" pitchFamily="49" charset="0"/>
              </a:rPr>
              <a:t> </a:t>
            </a:r>
            <a:r>
              <a:rPr lang="es-CL" sz="1600" dirty="0">
                <a:solidFill>
                  <a:srgbClr val="A6E22E"/>
                </a:solidFill>
                <a:latin typeface="Menlo" panose="020B0609030804020204" pitchFamily="49" charset="0"/>
              </a:rPr>
              <a:t>crear_raza</a:t>
            </a:r>
            <a:r>
              <a:rPr lang="es-CL" sz="1600" dirty="0">
                <a:solidFill>
                  <a:srgbClr val="F8F8F2"/>
                </a:solidFill>
                <a:latin typeface="Menlo" panose="020B0609030804020204" pitchFamily="49" charset="0"/>
              </a:rPr>
              <a:t>(tiros):</a:t>
            </a:r>
          </a:p>
          <a:p>
            <a:r>
              <a:rPr lang="es-CL" sz="1600" dirty="0">
                <a:solidFill>
                  <a:srgbClr val="F8F8F2"/>
                </a:solidFill>
                <a:latin typeface="Menlo" panose="020B0609030804020204" pitchFamily="49" charset="0"/>
              </a:rPr>
              <a:t>    a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int(tiros[</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b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int(tiros[</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if</a:t>
            </a:r>
            <a:r>
              <a:rPr lang="es-CL" sz="1600" dirty="0">
                <a:solidFill>
                  <a:srgbClr val="F8F8F2"/>
                </a:solidFill>
                <a:latin typeface="Menlo" panose="020B0609030804020204" pitchFamily="49" charset="0"/>
              </a:rPr>
              <a:t> a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and</a:t>
            </a:r>
            <a:r>
              <a:rPr lang="es-CL" sz="1600" dirty="0">
                <a:solidFill>
                  <a:srgbClr val="F8F8F2"/>
                </a:solidFill>
                <a:latin typeface="Menlo" panose="020B0609030804020204" pitchFamily="49" charset="0"/>
              </a:rPr>
              <a:t> b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75715E"/>
                </a:solidFill>
                <a:latin typeface="Menlo" panose="020B0609030804020204" pitchFamily="49" charset="0"/>
              </a:rPr>
              <a:t># es lo mismo que if a % 2 and b % 2</a:t>
            </a:r>
            <a:endParaRPr lang="es-CL" sz="1600" dirty="0">
              <a:solidFill>
                <a:srgbClr val="F8F8F2"/>
              </a:solidFill>
              <a:latin typeface="Menlo" panose="020B0609030804020204" pitchFamily="49" charset="0"/>
            </a:endParaRP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return</a:t>
            </a:r>
            <a:r>
              <a:rPr lang="es-CL" sz="1600" dirty="0">
                <a:solidFill>
                  <a:srgbClr val="F8F8F2"/>
                </a:solidFill>
                <a:latin typeface="Menlo" panose="020B0609030804020204" pitchFamily="49" charset="0"/>
              </a:rPr>
              <a:t> </a:t>
            </a:r>
            <a:r>
              <a:rPr lang="es-CL" sz="1600" dirty="0">
                <a:solidFill>
                  <a:srgbClr val="E6DB74"/>
                </a:solidFill>
                <a:latin typeface="Menlo" panose="020B0609030804020204" pitchFamily="49" charset="0"/>
              </a:rPr>
              <a:t>"Enano"</a:t>
            </a:r>
            <a:endParaRPr lang="es-CL" sz="1600" dirty="0">
              <a:solidFill>
                <a:srgbClr val="F8F8F2"/>
              </a:solidFill>
              <a:latin typeface="Menlo" panose="020B0609030804020204" pitchFamily="49" charset="0"/>
            </a:endParaRP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elif</a:t>
            </a:r>
            <a:r>
              <a:rPr lang="es-CL" sz="1600" dirty="0">
                <a:solidFill>
                  <a:srgbClr val="F8F8F2"/>
                </a:solidFill>
                <a:latin typeface="Menlo" panose="020B0609030804020204" pitchFamily="49" charset="0"/>
              </a:rPr>
              <a:t> a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and</a:t>
            </a:r>
            <a:r>
              <a:rPr lang="es-CL" sz="1600" dirty="0">
                <a:solidFill>
                  <a:srgbClr val="F8F8F2"/>
                </a:solidFill>
                <a:latin typeface="Menlo" panose="020B0609030804020204" pitchFamily="49" charset="0"/>
              </a:rPr>
              <a:t> b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75715E"/>
                </a:solidFill>
                <a:latin typeface="Menlo" panose="020B0609030804020204" pitchFamily="49" charset="0"/>
              </a:rPr>
              <a:t># es lo mismo que if not a % 2 and not b % 2</a:t>
            </a:r>
            <a:endParaRPr lang="es-CL" sz="1600" dirty="0">
              <a:solidFill>
                <a:srgbClr val="F8F8F2"/>
              </a:solidFill>
              <a:latin typeface="Menlo" panose="020B0609030804020204" pitchFamily="49" charset="0"/>
            </a:endParaRP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return</a:t>
            </a:r>
            <a:r>
              <a:rPr lang="es-CL" sz="1600" dirty="0">
                <a:solidFill>
                  <a:srgbClr val="F8F8F2"/>
                </a:solidFill>
                <a:latin typeface="Menlo" panose="020B0609030804020204" pitchFamily="49" charset="0"/>
              </a:rPr>
              <a:t> </a:t>
            </a:r>
            <a:r>
              <a:rPr lang="es-CL" sz="1600" dirty="0">
                <a:solidFill>
                  <a:srgbClr val="E6DB74"/>
                </a:solidFill>
                <a:latin typeface="Menlo" panose="020B0609030804020204" pitchFamily="49" charset="0"/>
              </a:rPr>
              <a:t>"Elfo"</a:t>
            </a:r>
            <a:endParaRPr lang="es-CL" sz="1600" dirty="0">
              <a:solidFill>
                <a:srgbClr val="F8F8F2"/>
              </a:solidFill>
              <a:latin typeface="Menlo" panose="020B0609030804020204" pitchFamily="49" charset="0"/>
            </a:endParaRP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elif</a:t>
            </a:r>
            <a:r>
              <a:rPr lang="es-CL" sz="1600" dirty="0">
                <a:solidFill>
                  <a:srgbClr val="F8F8F2"/>
                </a:solidFill>
                <a:latin typeface="Menlo" panose="020B0609030804020204" pitchFamily="49" charset="0"/>
              </a:rPr>
              <a:t> a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and</a:t>
            </a:r>
            <a:r>
              <a:rPr lang="es-CL" sz="1600" dirty="0">
                <a:solidFill>
                  <a:srgbClr val="F8F8F2"/>
                </a:solidFill>
                <a:latin typeface="Menlo" panose="020B0609030804020204" pitchFamily="49" charset="0"/>
              </a:rPr>
              <a:t> b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return</a:t>
            </a:r>
            <a:r>
              <a:rPr lang="es-CL" sz="1600" dirty="0">
                <a:solidFill>
                  <a:srgbClr val="F8F8F2"/>
                </a:solidFill>
                <a:latin typeface="Menlo" panose="020B0609030804020204" pitchFamily="49" charset="0"/>
              </a:rPr>
              <a:t> </a:t>
            </a:r>
            <a:r>
              <a:rPr lang="es-CL" sz="1600" dirty="0">
                <a:solidFill>
                  <a:srgbClr val="E6DB74"/>
                </a:solidFill>
                <a:latin typeface="Menlo" panose="020B0609030804020204" pitchFamily="49" charset="0"/>
              </a:rPr>
              <a:t>"Orco"</a:t>
            </a:r>
            <a:endParaRPr lang="es-CL" sz="1600" dirty="0">
              <a:solidFill>
                <a:srgbClr val="F8F8F2"/>
              </a:solidFill>
              <a:latin typeface="Menlo" panose="020B0609030804020204" pitchFamily="49" charset="0"/>
            </a:endParaRP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else</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return</a:t>
            </a:r>
            <a:r>
              <a:rPr lang="es-CL" sz="1600" dirty="0">
                <a:solidFill>
                  <a:srgbClr val="F8F8F2"/>
                </a:solidFill>
                <a:latin typeface="Menlo" panose="020B0609030804020204" pitchFamily="49" charset="0"/>
              </a:rPr>
              <a:t> </a:t>
            </a:r>
            <a:r>
              <a:rPr lang="es-CL" sz="1600" dirty="0">
                <a:solidFill>
                  <a:srgbClr val="E6DB74"/>
                </a:solidFill>
                <a:latin typeface="Menlo" panose="020B0609030804020204" pitchFamily="49" charset="0"/>
              </a:rPr>
              <a:t>"Humano"</a:t>
            </a:r>
            <a:endParaRPr lang="es-CL" sz="1600" dirty="0">
              <a:solidFill>
                <a:srgbClr val="F8F8F2"/>
              </a:solidFill>
              <a:latin typeface="Menlo" panose="020B0609030804020204" pitchFamily="49" charset="0"/>
            </a:endParaRPr>
          </a:p>
        </p:txBody>
      </p:sp>
      <p:sp>
        <p:nvSpPr>
          <p:cNvPr id="6" name="Rectángulo 5">
            <a:extLst>
              <a:ext uri="{FF2B5EF4-FFF2-40B4-BE49-F238E27FC236}">
                <a16:creationId xmlns:a16="http://schemas.microsoft.com/office/drawing/2014/main" id="{41919F19-A92E-5642-A0BC-1643162B4FCC}"/>
              </a:ext>
            </a:extLst>
          </p:cNvPr>
          <p:cNvSpPr/>
          <p:nvPr/>
        </p:nvSpPr>
        <p:spPr>
          <a:xfrm>
            <a:off x="6594764" y="2084832"/>
            <a:ext cx="6096000" cy="2616101"/>
          </a:xfrm>
          <a:prstGeom prst="rect">
            <a:avLst/>
          </a:prstGeom>
        </p:spPr>
        <p:txBody>
          <a:bodyPr>
            <a:spAutoFit/>
          </a:bodyPr>
          <a:lstStyle/>
          <a:p>
            <a:r>
              <a:rPr lang="es-CL" sz="1600" dirty="0">
                <a:solidFill>
                  <a:srgbClr val="66D9EF"/>
                </a:solidFill>
                <a:latin typeface="Menlo" panose="020B0609030804020204" pitchFamily="49" charset="0"/>
              </a:rPr>
              <a:t>def</a:t>
            </a:r>
            <a:r>
              <a:rPr lang="es-CL" sz="1600" dirty="0">
                <a:solidFill>
                  <a:srgbClr val="F8F8F2"/>
                </a:solidFill>
                <a:latin typeface="Menlo" panose="020B0609030804020204" pitchFamily="49" charset="0"/>
              </a:rPr>
              <a:t> </a:t>
            </a:r>
            <a:r>
              <a:rPr lang="es-CL" sz="1600" dirty="0">
                <a:solidFill>
                  <a:srgbClr val="A6E22E"/>
                </a:solidFill>
                <a:latin typeface="Menlo" panose="020B0609030804020204" pitchFamily="49" charset="0"/>
              </a:rPr>
              <a:t>crear_clase</a:t>
            </a:r>
            <a:r>
              <a:rPr lang="es-CL" sz="1600" dirty="0">
                <a:solidFill>
                  <a:srgbClr val="F8F8F2"/>
                </a:solidFill>
                <a:latin typeface="Menlo" panose="020B0609030804020204" pitchFamily="49" charset="0"/>
              </a:rPr>
              <a:t>(tiros):</a:t>
            </a:r>
          </a:p>
          <a:p>
            <a:r>
              <a:rPr lang="es-CL" sz="1600" dirty="0">
                <a:solidFill>
                  <a:srgbClr val="F8F8F2"/>
                </a:solidFill>
                <a:latin typeface="Menlo" panose="020B0609030804020204" pitchFamily="49" charset="0"/>
              </a:rPr>
              <a:t>    a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int(tiros[</a:t>
            </a:r>
            <a:r>
              <a:rPr lang="es-CL" sz="1600" dirty="0">
                <a:solidFill>
                  <a:srgbClr val="AE81FF"/>
                </a:solidFill>
                <a:latin typeface="Menlo" panose="020B0609030804020204" pitchFamily="49" charset="0"/>
              </a:rPr>
              <a:t>4</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b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int(tiros[</a:t>
            </a:r>
            <a:r>
              <a:rPr lang="es-CL" sz="1600" dirty="0">
                <a:solidFill>
                  <a:srgbClr val="AE81FF"/>
                </a:solidFill>
                <a:latin typeface="Menlo" panose="020B0609030804020204" pitchFamily="49" charset="0"/>
              </a:rPr>
              <a:t>6</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dif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b</a:t>
            </a: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if</a:t>
            </a:r>
            <a:r>
              <a:rPr lang="es-CL" sz="1600" dirty="0">
                <a:solidFill>
                  <a:srgbClr val="F8F8F2"/>
                </a:solidFill>
                <a:latin typeface="Menlo" panose="020B0609030804020204" pitchFamily="49" charset="0"/>
              </a:rPr>
              <a:t> dif </a:t>
            </a:r>
            <a:r>
              <a:rPr lang="es-CL" sz="1600" dirty="0">
                <a:solidFill>
                  <a:srgbClr val="F92672"/>
                </a:solidFill>
                <a:latin typeface="Menlo" panose="020B0609030804020204" pitchFamily="49" charset="0"/>
              </a:rPr>
              <a:t>&lt;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and</a:t>
            </a:r>
            <a:r>
              <a:rPr lang="es-CL" sz="1600" dirty="0">
                <a:solidFill>
                  <a:srgbClr val="F8F8F2"/>
                </a:solidFill>
                <a:latin typeface="Menlo" panose="020B0609030804020204" pitchFamily="49" charset="0"/>
              </a:rPr>
              <a:t> dif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return</a:t>
            </a:r>
            <a:r>
              <a:rPr lang="es-CL" sz="1600" dirty="0">
                <a:solidFill>
                  <a:srgbClr val="F8F8F2"/>
                </a:solidFill>
                <a:latin typeface="Menlo" panose="020B0609030804020204" pitchFamily="49" charset="0"/>
              </a:rPr>
              <a:t> </a:t>
            </a:r>
            <a:r>
              <a:rPr lang="es-CL" sz="1600" dirty="0">
                <a:solidFill>
                  <a:srgbClr val="E6DB74"/>
                </a:solidFill>
                <a:latin typeface="Menlo" panose="020B0609030804020204" pitchFamily="49" charset="0"/>
              </a:rPr>
              <a:t>"Mago"</a:t>
            </a:r>
            <a:endParaRPr lang="es-CL" sz="1600" dirty="0">
              <a:solidFill>
                <a:srgbClr val="F8F8F2"/>
              </a:solidFill>
              <a:latin typeface="Menlo" panose="020B0609030804020204" pitchFamily="49" charset="0"/>
            </a:endParaRP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elif</a:t>
            </a:r>
            <a:r>
              <a:rPr lang="es-CL" sz="1600" dirty="0">
                <a:solidFill>
                  <a:srgbClr val="F8F8F2"/>
                </a:solidFill>
                <a:latin typeface="Menlo" panose="020B0609030804020204" pitchFamily="49" charset="0"/>
              </a:rPr>
              <a:t> dif </a:t>
            </a:r>
            <a:r>
              <a:rPr lang="es-CL" sz="1600" dirty="0">
                <a:solidFill>
                  <a:srgbClr val="F92672"/>
                </a:solidFill>
                <a:latin typeface="Menlo" panose="020B0609030804020204" pitchFamily="49" charset="0"/>
              </a:rPr>
              <a:t>&gt;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0</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and</a:t>
            </a:r>
            <a:r>
              <a:rPr lang="es-CL" sz="1600" dirty="0">
                <a:solidFill>
                  <a:srgbClr val="F8F8F2"/>
                </a:solidFill>
                <a:latin typeface="Menlo" panose="020B0609030804020204" pitchFamily="49" charset="0"/>
              </a:rPr>
              <a:t> </a:t>
            </a:r>
            <a:r>
              <a:rPr lang="es-CL" sz="1600" dirty="0">
                <a:solidFill>
                  <a:srgbClr val="F92672"/>
                </a:solidFill>
                <a:latin typeface="Menlo" panose="020B0609030804020204" pitchFamily="49" charset="0"/>
              </a:rPr>
              <a:t>not</a:t>
            </a:r>
            <a:r>
              <a:rPr lang="es-CL" sz="1600" dirty="0">
                <a:solidFill>
                  <a:srgbClr val="F8F8F2"/>
                </a:solidFill>
                <a:latin typeface="Menlo" panose="020B0609030804020204" pitchFamily="49" charset="0"/>
              </a:rPr>
              <a:t>(dif </a:t>
            </a:r>
            <a:r>
              <a:rPr lang="es-CL" sz="1600" dirty="0">
                <a:solidFill>
                  <a:srgbClr val="F92672"/>
                </a:solidFill>
                <a:latin typeface="Menlo" panose="020B0609030804020204" pitchFamily="49" charset="0"/>
              </a:rPr>
              <a:t>%</a:t>
            </a:r>
            <a:r>
              <a:rPr lang="es-CL" sz="1600" dirty="0">
                <a:solidFill>
                  <a:srgbClr val="F8F8F2"/>
                </a:solidFill>
                <a:latin typeface="Menlo" panose="020B0609030804020204" pitchFamily="49" charset="0"/>
              </a:rPr>
              <a:t> </a:t>
            </a:r>
            <a:r>
              <a:rPr lang="es-CL" sz="1600" dirty="0">
                <a:solidFill>
                  <a:srgbClr val="AE81FF"/>
                </a:solidFill>
                <a:latin typeface="Menlo" panose="020B0609030804020204" pitchFamily="49" charset="0"/>
              </a:rPr>
              <a:t>2</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return</a:t>
            </a:r>
            <a:r>
              <a:rPr lang="es-CL" sz="1600" dirty="0">
                <a:solidFill>
                  <a:srgbClr val="F8F8F2"/>
                </a:solidFill>
                <a:latin typeface="Menlo" panose="020B0609030804020204" pitchFamily="49" charset="0"/>
              </a:rPr>
              <a:t> </a:t>
            </a:r>
            <a:r>
              <a:rPr lang="es-CL" sz="1600" dirty="0">
                <a:solidFill>
                  <a:srgbClr val="E6DB74"/>
                </a:solidFill>
                <a:latin typeface="Menlo" panose="020B0609030804020204" pitchFamily="49" charset="0"/>
              </a:rPr>
              <a:t>"Barbaro"</a:t>
            </a:r>
            <a:endParaRPr lang="es-CL" sz="1600" dirty="0">
              <a:solidFill>
                <a:srgbClr val="F8F8F2"/>
              </a:solidFill>
              <a:latin typeface="Menlo" panose="020B0609030804020204" pitchFamily="49" charset="0"/>
            </a:endParaRP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else</a:t>
            </a:r>
            <a:r>
              <a:rPr lang="es-CL" sz="1600" dirty="0">
                <a:solidFill>
                  <a:srgbClr val="F8F8F2"/>
                </a:solidFill>
                <a:latin typeface="Menlo" panose="020B0609030804020204" pitchFamily="49" charset="0"/>
              </a:rPr>
              <a:t>:</a:t>
            </a:r>
          </a:p>
          <a:p>
            <a:r>
              <a:rPr lang="es-CL" sz="1600" dirty="0">
                <a:solidFill>
                  <a:srgbClr val="F8F8F2"/>
                </a:solidFill>
                <a:latin typeface="Menlo" panose="020B0609030804020204" pitchFamily="49" charset="0"/>
              </a:rPr>
              <a:t>        </a:t>
            </a:r>
            <a:r>
              <a:rPr lang="es-CL" sz="1600" dirty="0">
                <a:solidFill>
                  <a:srgbClr val="66D9EF"/>
                </a:solidFill>
                <a:latin typeface="Menlo" panose="020B0609030804020204" pitchFamily="49" charset="0"/>
              </a:rPr>
              <a:t>return</a:t>
            </a:r>
            <a:r>
              <a:rPr lang="es-CL" sz="1600" dirty="0">
                <a:solidFill>
                  <a:srgbClr val="F8F8F2"/>
                </a:solidFill>
                <a:latin typeface="Menlo" panose="020B0609030804020204" pitchFamily="49" charset="0"/>
              </a:rPr>
              <a:t> </a:t>
            </a:r>
            <a:r>
              <a:rPr lang="es-CL" sz="1600" dirty="0">
                <a:solidFill>
                  <a:srgbClr val="E6DB74"/>
                </a:solidFill>
                <a:latin typeface="Menlo" panose="020B0609030804020204" pitchFamily="49" charset="0"/>
              </a:rPr>
              <a:t>"Paladin"</a:t>
            </a:r>
            <a:endParaRPr lang="es-CL" sz="1600" dirty="0">
              <a:solidFill>
                <a:srgbClr val="F8F8F2"/>
              </a:solidFill>
              <a:latin typeface="Menlo" panose="020B0609030804020204" pitchFamily="49" charset="0"/>
            </a:endParaRPr>
          </a:p>
        </p:txBody>
      </p:sp>
    </p:spTree>
    <p:extLst>
      <p:ext uri="{BB962C8B-B14F-4D97-AF65-F5344CB8AC3E}">
        <p14:creationId xmlns:p14="http://schemas.microsoft.com/office/powerpoint/2010/main" val="3934153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15F2F99-CA3D-3D48-9D5E-0A83C69293C4}"/>
              </a:ext>
            </a:extLst>
          </p:cNvPr>
          <p:cNvSpPr>
            <a:spLocks noGrp="1"/>
          </p:cNvSpPr>
          <p:nvPr>
            <p:ph type="title"/>
          </p:nvPr>
        </p:nvSpPr>
        <p:spPr/>
        <p:txBody>
          <a:bodyPr/>
          <a:lstStyle/>
          <a:p>
            <a:r>
              <a:rPr lang="es-CL" dirty="0">
                <a:solidFill>
                  <a:srgbClr val="66D9EF"/>
                </a:solidFill>
              </a:rPr>
              <a:t>Solucion</a:t>
            </a:r>
            <a:endParaRPr lang="es-CL" dirty="0"/>
          </a:p>
        </p:txBody>
      </p:sp>
      <p:sp>
        <p:nvSpPr>
          <p:cNvPr id="2" name="Rectángulo 1">
            <a:extLst>
              <a:ext uri="{FF2B5EF4-FFF2-40B4-BE49-F238E27FC236}">
                <a16:creationId xmlns:a16="http://schemas.microsoft.com/office/drawing/2014/main" id="{4BACC7A6-73F9-764F-83FC-518BEA6EB372}"/>
              </a:ext>
            </a:extLst>
          </p:cNvPr>
          <p:cNvSpPr/>
          <p:nvPr/>
        </p:nvSpPr>
        <p:spPr>
          <a:xfrm>
            <a:off x="2356381" y="2084832"/>
            <a:ext cx="8811491" cy="3693319"/>
          </a:xfrm>
          <a:prstGeom prst="rect">
            <a:avLst/>
          </a:prstGeom>
        </p:spPr>
        <p:txBody>
          <a:bodyPr wrap="square">
            <a:spAutoFit/>
          </a:bodyPr>
          <a:lstStyle/>
          <a:p>
            <a:r>
              <a:rPr lang="es-CL" dirty="0">
                <a:solidFill>
                  <a:srgbClr val="66D9EF"/>
                </a:solidFill>
                <a:latin typeface="Menlo" panose="020B0609030804020204" pitchFamily="49" charset="0"/>
              </a:rPr>
              <a:t>def</a:t>
            </a:r>
            <a:r>
              <a:rPr lang="es-CL" dirty="0">
                <a:solidFill>
                  <a:srgbClr val="F8F8F2"/>
                </a:solidFill>
                <a:latin typeface="Menlo" panose="020B0609030804020204" pitchFamily="49" charset="0"/>
              </a:rPr>
              <a:t> </a:t>
            </a:r>
            <a:r>
              <a:rPr lang="es-CL" dirty="0">
                <a:solidFill>
                  <a:srgbClr val="A6E22E"/>
                </a:solidFill>
                <a:latin typeface="Menlo" panose="020B0609030804020204" pitchFamily="49" charset="0"/>
              </a:rPr>
              <a:t>creacion_personaje</a:t>
            </a:r>
            <a:r>
              <a:rPr lang="es-CL" dirty="0">
                <a:solidFill>
                  <a:srgbClr val="F8F8F2"/>
                </a:solidFill>
                <a:latin typeface="Menlo" panose="020B0609030804020204" pitchFamily="49" charset="0"/>
              </a:rPr>
              <a:t>(tiros):</a:t>
            </a:r>
          </a:p>
          <a:p>
            <a:r>
              <a:rPr lang="es-CL" dirty="0">
                <a:solidFill>
                  <a:srgbClr val="F8F8F2"/>
                </a:solidFill>
                <a:latin typeface="Menlo" panose="020B0609030804020204" pitchFamily="49" charset="0"/>
              </a:rPr>
              <a:t>    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total_tiros(tiros)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7</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raza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crear_raza(tiros)</a:t>
            </a:r>
          </a:p>
          <a:p>
            <a:r>
              <a:rPr lang="es-CL" dirty="0">
                <a:solidFill>
                  <a:srgbClr val="F8F8F2"/>
                </a:solidFill>
                <a:latin typeface="Menlo" panose="020B0609030804020204" pitchFamily="49" charset="0"/>
              </a:rPr>
              <a:t>        clase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crear_clase(tiros)</a:t>
            </a:r>
          </a:p>
          <a:p>
            <a:r>
              <a:rPr lang="es-CL" dirty="0">
                <a:solidFill>
                  <a:srgbClr val="F8F8F2"/>
                </a:solidFill>
                <a:latin typeface="Menlo" panose="020B0609030804020204" pitchFamily="49" charset="0"/>
              </a:rPr>
              <a:t>        x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tiros[</a:t>
            </a:r>
            <a:r>
              <a:rPr lang="es-CL" dirty="0">
                <a:solidFill>
                  <a:srgbClr val="F92672"/>
                </a:solidFill>
                <a:latin typeface="Menlo" panose="020B0609030804020204" pitchFamily="49" charset="0"/>
              </a:rPr>
              <a:t>-</a:t>
            </a:r>
            <a:r>
              <a:rPr lang="es-CL" dirty="0">
                <a:solidFill>
                  <a:srgbClr val="AE81FF"/>
                </a:solidFill>
                <a:latin typeface="Menlo" panose="020B0609030804020204" pitchFamily="49" charset="0"/>
              </a:rPr>
              <a:t>5</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y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tiros[</a:t>
            </a:r>
            <a:r>
              <a:rPr lang="es-CL" dirty="0">
                <a:solidFill>
                  <a:srgbClr val="F92672"/>
                </a:solidFill>
                <a:latin typeface="Menlo" panose="020B0609030804020204" pitchFamily="49" charset="0"/>
              </a:rPr>
              <a:t>-</a:t>
            </a:r>
            <a:r>
              <a:rPr lang="es-CL" dirty="0">
                <a:solidFill>
                  <a:srgbClr val="AE81FF"/>
                </a:solidFill>
                <a:latin typeface="Menlo" panose="020B0609030804020204" pitchFamily="49" charset="0"/>
              </a:rPr>
              <a:t>3</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z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tiros[</a:t>
            </a:r>
            <a:r>
              <a:rPr lang="es-CL" dirty="0">
                <a:solidFill>
                  <a:srgbClr val="F92672"/>
                </a:solidFill>
                <a:latin typeface="Menlo" panose="020B0609030804020204" pitchFamily="49" charset="0"/>
              </a:rPr>
              <a:t>-</a:t>
            </a:r>
            <a:r>
              <a:rPr lang="es-CL" dirty="0">
                <a:solidFill>
                  <a:srgbClr val="AE81FF"/>
                </a:solidFill>
                <a:latin typeface="Menlo" panose="020B0609030804020204" pitchFamily="49" charset="0"/>
              </a:rPr>
              <a:t>1</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"Raza: "</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raza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 "</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"Clase: "</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clase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 "</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"Carisma en video: "</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x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 "</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"Rapidez de ruteo: "</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y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 "</a:t>
            </a:r>
            <a:endParaRPr lang="es-CL" dirty="0">
              <a:solidFill>
                <a:srgbClr val="F8F8F2"/>
              </a:solidFill>
              <a:latin typeface="Menlo" panose="020B0609030804020204" pitchFamily="49" charset="0"/>
            </a:endParaRPr>
          </a:p>
          <a:p>
            <a:r>
              <a:rPr lang="es-CL" dirty="0">
                <a:solidFill>
                  <a:srgbClr val="F8F8F2"/>
                </a:solidFill>
                <a:latin typeface="Menlo" panose="020B0609030804020204" pitchFamily="49" charset="0"/>
              </a:rPr>
              <a:t>        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"Manejo de Python: "</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z</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return</a:t>
            </a:r>
            <a:r>
              <a:rPr lang="es-CL" dirty="0">
                <a:solidFill>
                  <a:srgbClr val="F8F8F2"/>
                </a:solidFill>
                <a:latin typeface="Menlo" panose="020B0609030804020204" pitchFamily="49" charset="0"/>
              </a:rPr>
              <a:t> s</a:t>
            </a:r>
          </a:p>
        </p:txBody>
      </p:sp>
    </p:spTree>
    <p:extLst>
      <p:ext uri="{BB962C8B-B14F-4D97-AF65-F5344CB8AC3E}">
        <p14:creationId xmlns:p14="http://schemas.microsoft.com/office/powerpoint/2010/main" val="2563664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448FF5A-4189-E54B-810D-381822575B81}"/>
              </a:ext>
            </a:extLst>
          </p:cNvPr>
          <p:cNvSpPr>
            <a:spLocks noGrp="1"/>
          </p:cNvSpPr>
          <p:nvPr>
            <p:ph idx="1"/>
          </p:nvPr>
        </p:nvSpPr>
        <p:spPr>
          <a:xfrm>
            <a:off x="762001" y="1765471"/>
            <a:ext cx="11014364" cy="4023360"/>
          </a:xfrm>
        </p:spPr>
        <p:txBody>
          <a:bodyPr>
            <a:normAutofit/>
          </a:bodyPr>
          <a:lstStyle/>
          <a:p>
            <a:pPr algn="ctr"/>
            <a:r>
              <a:rPr lang="es-CL" sz="2800" dirty="0">
                <a:solidFill>
                  <a:schemeClr val="bg1"/>
                </a:solidFill>
              </a:rPr>
              <a:t>d) A su game master no les gustan mucho, por alguna extraña razón, los números pares. Si uno al tirar los dados promedia un número par y fue el tiro de la creación de personaje, este queda hechizado. Crea una función </a:t>
            </a:r>
            <a:r>
              <a:rPr lang="es-CL" sz="2400" dirty="0">
                <a:solidFill>
                  <a:schemeClr val="bg1"/>
                </a:solidFill>
                <a:latin typeface="Consolas" panose="020B0609020204030204" pitchFamily="49" charset="0"/>
                <a:cs typeface="Consolas" panose="020B0609020204030204" pitchFamily="49" charset="0"/>
              </a:rPr>
              <a:t>hechizo(tiros), </a:t>
            </a:r>
            <a:r>
              <a:rPr lang="es-CL" sz="2800" dirty="0">
                <a:solidFill>
                  <a:schemeClr val="bg1"/>
                </a:solidFill>
              </a:rPr>
              <a:t>la cual retorna un string. En caso de que el promedio de todos los valores de tiros fue un número impar (truncado), se retorna el string original. En caso contrario, se retorna un string con la raza cambiada a una de las que quedan, de manera aleatoria.</a:t>
            </a:r>
          </a:p>
          <a:p>
            <a:pPr algn="ctr"/>
            <a:endParaRPr lang="es-CL" sz="2800" dirty="0">
              <a:solidFill>
                <a:schemeClr val="bg1"/>
              </a:solidFill>
            </a:endParaRPr>
          </a:p>
        </p:txBody>
      </p:sp>
      <p:sp>
        <p:nvSpPr>
          <p:cNvPr id="4" name="Título 1">
            <a:extLst>
              <a:ext uri="{FF2B5EF4-FFF2-40B4-BE49-F238E27FC236}">
                <a16:creationId xmlns:a16="http://schemas.microsoft.com/office/drawing/2014/main" id="{8F488DCA-58CA-7442-B4C4-7C57E0B151B9}"/>
              </a:ext>
            </a:extLst>
          </p:cNvPr>
          <p:cNvSpPr>
            <a:spLocks noGrp="1"/>
          </p:cNvSpPr>
          <p:nvPr>
            <p:ph type="title"/>
          </p:nvPr>
        </p:nvSpPr>
        <p:spPr/>
        <p:txBody>
          <a:bodyPr/>
          <a:lstStyle/>
          <a:p>
            <a:r>
              <a:rPr lang="es-CL" dirty="0">
                <a:solidFill>
                  <a:srgbClr val="66D9EF"/>
                </a:solidFill>
              </a:rPr>
              <a:t>Ejercicio 1: FNP</a:t>
            </a:r>
            <a:endParaRPr lang="es-CL" dirty="0"/>
          </a:p>
        </p:txBody>
      </p:sp>
      <p:sp>
        <p:nvSpPr>
          <p:cNvPr id="5" name="Rectángulo 4">
            <a:extLst>
              <a:ext uri="{FF2B5EF4-FFF2-40B4-BE49-F238E27FC236}">
                <a16:creationId xmlns:a16="http://schemas.microsoft.com/office/drawing/2014/main" id="{483DFC92-3CFA-8E4A-849A-11839D9C7E63}"/>
              </a:ext>
            </a:extLst>
          </p:cNvPr>
          <p:cNvSpPr/>
          <p:nvPr/>
        </p:nvSpPr>
        <p:spPr>
          <a:xfrm>
            <a:off x="2647780" y="4606915"/>
            <a:ext cx="6896440" cy="2031325"/>
          </a:xfrm>
          <a:prstGeom prst="rect">
            <a:avLst/>
          </a:prstGeom>
        </p:spPr>
        <p:txBody>
          <a:bodyPr wrap="none">
            <a:spAutoFit/>
          </a:bodyPr>
          <a:lstStyle/>
          <a:p>
            <a:pPr algn="ctr"/>
            <a:r>
              <a:rPr lang="es-CL" dirty="0">
                <a:solidFill>
                  <a:schemeClr val="bg1"/>
                </a:solidFill>
                <a:latin typeface="Consolas" panose="020B0609020204030204" pitchFamily="49" charset="0"/>
                <a:cs typeface="Consolas" panose="020B0609020204030204" pitchFamily="49" charset="0"/>
              </a:rPr>
              <a:t>tiros = "1,5,2,3,5,6,7”</a:t>
            </a:r>
          </a:p>
          <a:p>
            <a:pPr algn="ctr"/>
            <a:r>
              <a:rPr lang="es-CL" dirty="0">
                <a:solidFill>
                  <a:schemeClr val="bg1"/>
                </a:solidFill>
                <a:latin typeface="Consolas" panose="020B0609020204030204" pitchFamily="49" charset="0"/>
                <a:cs typeface="Consolas" panose="020B0609020204030204" pitchFamily="49" charset="0"/>
              </a:rPr>
              <a:t>print(hechizo(tiros))</a:t>
            </a:r>
          </a:p>
          <a:p>
            <a:pPr algn="ctr"/>
            <a:r>
              <a:rPr lang="es-CL" dirty="0">
                <a:solidFill>
                  <a:schemeClr val="bg1"/>
                </a:solidFill>
                <a:latin typeface="Consolas" panose="020B0609020204030204" pitchFamily="49" charset="0"/>
                <a:cs typeface="Consolas" panose="020B0609020204030204" pitchFamily="49" charset="0"/>
              </a:rPr>
              <a:t>print(creacion_personaje(tiros))</a:t>
            </a:r>
          </a:p>
          <a:p>
            <a:pPr algn="ctr"/>
            <a:endParaRPr lang="es-CL" dirty="0">
              <a:solidFill>
                <a:schemeClr val="bg1"/>
              </a:solidFill>
              <a:latin typeface="Consolas" panose="020B0609020204030204" pitchFamily="49" charset="0"/>
              <a:cs typeface="Consolas" panose="020B0609020204030204" pitchFamily="49" charset="0"/>
            </a:endParaRPr>
          </a:p>
          <a:p>
            <a:pPr algn="ctr"/>
            <a:r>
              <a:rPr lang="es-CL" dirty="0">
                <a:solidFill>
                  <a:srgbClr val="F92672"/>
                </a:solidFill>
                <a:latin typeface="Consolas" panose="020B0609020204030204" pitchFamily="49" charset="0"/>
                <a:cs typeface="Consolas" panose="020B0609020204030204" pitchFamily="49" charset="0"/>
              </a:rPr>
              <a:t>&gt;&gt;&gt;</a:t>
            </a:r>
            <a:r>
              <a:rPr lang="es-CL" dirty="0">
                <a:solidFill>
                  <a:schemeClr val="bg1"/>
                </a:solidFill>
                <a:latin typeface="Consolas" panose="020B0609020204030204" pitchFamily="49" charset="0"/>
                <a:cs typeface="Consolas" panose="020B0609020204030204" pitchFamily="49" charset="0"/>
              </a:rPr>
              <a:t> ”2,5,2,3,5,6,7”</a:t>
            </a:r>
          </a:p>
          <a:p>
            <a:pPr algn="ctr"/>
            <a:r>
              <a:rPr lang="es-CL" dirty="0">
                <a:solidFill>
                  <a:srgbClr val="F92672"/>
                </a:solidFill>
                <a:latin typeface="Consolas" panose="020B0609020204030204" pitchFamily="49" charset="0"/>
                <a:cs typeface="Consolas" panose="020B0609020204030204" pitchFamily="49" charset="0"/>
              </a:rPr>
              <a:t>&gt;&gt;&gt;</a:t>
            </a:r>
            <a:r>
              <a:rPr lang="es-CL" dirty="0">
                <a:solidFill>
                  <a:schemeClr val="bg1"/>
                </a:solidFill>
                <a:latin typeface="Consolas" panose="020B0609020204030204" pitchFamily="49" charset="0"/>
                <a:cs typeface="Consolas" panose="020B0609020204030204" pitchFamily="49" charset="0"/>
              </a:rPr>
              <a:t> “Raza: Elfo; Clase: Paladin; Carísma en video: 5,</a:t>
            </a:r>
          </a:p>
          <a:p>
            <a:pPr algn="ctr"/>
            <a:r>
              <a:rPr lang="es-CL" dirty="0">
                <a:solidFill>
                  <a:schemeClr val="bg1"/>
                </a:solidFill>
                <a:latin typeface="Consolas" panose="020B0609020204030204" pitchFamily="49" charset="0"/>
                <a:cs typeface="Consolas" panose="020B0609020204030204" pitchFamily="49" charset="0"/>
              </a:rPr>
              <a:t> Rapidez de Ruteo: 6, Manejo de Python: 7”</a:t>
            </a:r>
          </a:p>
        </p:txBody>
      </p:sp>
    </p:spTree>
    <p:extLst>
      <p:ext uri="{BB962C8B-B14F-4D97-AF65-F5344CB8AC3E}">
        <p14:creationId xmlns:p14="http://schemas.microsoft.com/office/powerpoint/2010/main" val="3974717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wi131_plantilla" id="{D380A461-5A20-4D47-9F98-D24C79C9FB07}" vid="{023703D2-664B-314B-A55A-ECEA48B24E4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1620</TotalTime>
  <Words>1292</Words>
  <Application>Microsoft Macintosh PowerPoint</Application>
  <PresentationFormat>Panorámica</PresentationFormat>
  <Paragraphs>132</Paragraphs>
  <Slides>11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Arial</vt:lpstr>
      <vt:lpstr>Calibri</vt:lpstr>
      <vt:lpstr>Consolas</vt:lpstr>
      <vt:lpstr>Menlo</vt:lpstr>
      <vt:lpstr>Tw Cen MT</vt:lpstr>
      <vt:lpstr>Tw Cen MT Condensed</vt:lpstr>
      <vt:lpstr>Wingdings 3</vt:lpstr>
      <vt:lpstr>Integral</vt:lpstr>
      <vt:lpstr>IWI 131- Programación</vt:lpstr>
      <vt:lpstr>Contenidos de certámen</vt:lpstr>
      <vt:lpstr>Ejercicio 1: FNP</vt:lpstr>
      <vt:lpstr>Ejercicio 1: FNP</vt:lpstr>
      <vt:lpstr>Solucion</vt:lpstr>
      <vt:lpstr>Ejercicio 1: FNP</vt:lpstr>
      <vt:lpstr>Solucion</vt:lpstr>
      <vt:lpstr>Ejercicio 1: FNP</vt:lpstr>
      <vt:lpstr>Solucion</vt:lpstr>
      <vt:lpstr>Solucion</vt:lpstr>
      <vt:lpstr>Ejercicio 1: FNP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IWI 131- Programación</dc:title>
  <dc:creator>ANASTASIIA FEDOROVA .</dc:creator>
  <cp:lastModifiedBy>ANASTASIIA FEDOROVA .</cp:lastModifiedBy>
  <cp:revision>290</cp:revision>
  <dcterms:created xsi:type="dcterms:W3CDTF">2020-04-03T20:18:37Z</dcterms:created>
  <dcterms:modified xsi:type="dcterms:W3CDTF">2020-06-04T00:04:58Z</dcterms:modified>
</cp:coreProperties>
</file>