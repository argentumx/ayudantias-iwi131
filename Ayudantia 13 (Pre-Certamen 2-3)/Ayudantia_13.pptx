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3" r:id="rId1"/>
  </p:sldMasterIdLst>
  <p:notesMasterIdLst>
    <p:notesMasterId r:id="rId22"/>
  </p:notesMasterIdLst>
  <p:sldIdLst>
    <p:sldId id="256" r:id="rId2"/>
    <p:sldId id="257" r:id="rId3"/>
    <p:sldId id="259" r:id="rId4"/>
    <p:sldId id="268" r:id="rId5"/>
    <p:sldId id="258" r:id="rId6"/>
    <p:sldId id="269" r:id="rId7"/>
    <p:sldId id="260" r:id="rId8"/>
    <p:sldId id="270" r:id="rId9"/>
    <p:sldId id="261" r:id="rId10"/>
    <p:sldId id="265" r:id="rId11"/>
    <p:sldId id="274" r:id="rId12"/>
    <p:sldId id="266" r:id="rId13"/>
    <p:sldId id="273" r:id="rId14"/>
    <p:sldId id="267" r:id="rId15"/>
    <p:sldId id="272" r:id="rId16"/>
    <p:sldId id="262" r:id="rId17"/>
    <p:sldId id="263" r:id="rId18"/>
    <p:sldId id="264" r:id="rId19"/>
    <p:sldId id="27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9EF"/>
    <a:srgbClr val="F92672"/>
    <a:srgbClr val="AE81FF"/>
    <a:srgbClr val="A6E22E"/>
    <a:srgbClr val="FD971F"/>
    <a:srgbClr val="272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9"/>
  </p:normalViewPr>
  <p:slideViewPr>
    <p:cSldViewPr snapToGrid="0" snapToObjects="1">
      <p:cViewPr varScale="1">
        <p:scale>
          <a:sx n="92" d="100"/>
          <a:sy n="92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204AC-F89F-5A43-A3C5-FD728B04A101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209DA-5710-E544-8A8A-F492DBBD5A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055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209DA-5710-E544-8A8A-F492DBBD5AA6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0000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7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7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67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276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790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03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368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284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33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853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54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EB30784-A5C3-6349-BD2A-7A8E658959DF}" type="datetimeFigureOut">
              <a:rPr lang="es-CL" smtClean="0"/>
              <a:t>29-07-20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20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4">
            <a:extLst>
              <a:ext uri="{FF2B5EF4-FFF2-40B4-BE49-F238E27FC236}">
                <a16:creationId xmlns:a16="http://schemas.microsoft.com/office/drawing/2014/main" id="{2A85F7B3-F4E6-4FBF-B74E-43CAB468F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630811-6F38-6F45-AD6B-CD5290979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805" y="640080"/>
            <a:ext cx="4809406" cy="3034857"/>
          </a:xfrm>
        </p:spPr>
        <p:txBody>
          <a:bodyPr anchor="b">
            <a:normAutofit/>
          </a:bodyPr>
          <a:lstStyle/>
          <a:p>
            <a:r>
              <a:rPr lang="es-CL" sz="4400" dirty="0">
                <a:solidFill>
                  <a:srgbClr val="A6E22E"/>
                </a:solidFill>
              </a:rPr>
              <a:t>IWI 131-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541EAE-D840-1044-9E2E-6BCB100AF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806" y="3849539"/>
            <a:ext cx="4819340" cy="2367405"/>
          </a:xfrm>
        </p:spPr>
        <p:txBody>
          <a:bodyPr anchor="t">
            <a:normAutofit/>
          </a:bodyPr>
          <a:lstStyle/>
          <a:p>
            <a:pPr algn="r"/>
            <a:r>
              <a:rPr lang="es-CL" sz="4800" b="1" dirty="0">
                <a:solidFill>
                  <a:schemeClr val="bg1"/>
                </a:solidFill>
              </a:rPr>
              <a:t> </a:t>
            </a:r>
            <a:r>
              <a:rPr lang="es-CL" sz="4800" b="1">
                <a:solidFill>
                  <a:srgbClr val="FD971F"/>
                </a:solidFill>
              </a:rPr>
              <a:t>Ayudantía 13</a:t>
            </a:r>
            <a:endParaRPr lang="es-CL" sz="4800" b="1" dirty="0">
              <a:solidFill>
                <a:srgbClr val="FD971F"/>
              </a:solidFill>
            </a:endParaRPr>
          </a:p>
          <a:p>
            <a:pPr algn="r"/>
            <a:endParaRPr lang="es-CL" sz="4800" b="1" dirty="0">
              <a:solidFill>
                <a:srgbClr val="FD971F"/>
              </a:solidFill>
            </a:endParaRPr>
          </a:p>
        </p:txBody>
      </p:sp>
      <p:cxnSp>
        <p:nvCxnSpPr>
          <p:cNvPr id="52" name="Straight Connector 46">
            <a:extLst>
              <a:ext uri="{FF2B5EF4-FFF2-40B4-BE49-F238E27FC236}">
                <a16:creationId xmlns:a16="http://schemas.microsoft.com/office/drawing/2014/main" id="{73741D5B-1709-4CDB-963A-CC3C74941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47548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92C8723-CC91-E04D-9503-EA3C2107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52" y="713651"/>
            <a:ext cx="5458968" cy="543167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18DC0F8-FEB1-CB46-BEDA-051EFAAFB367}"/>
              </a:ext>
            </a:extLst>
          </p:cNvPr>
          <p:cNvSpPr txBox="1"/>
          <p:nvPr/>
        </p:nvSpPr>
        <p:spPr>
          <a:xfrm>
            <a:off x="1460450" y="4737466"/>
            <a:ext cx="40134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L" sz="2400" dirty="0">
                <a:solidFill>
                  <a:srgbClr val="66D9EF"/>
                </a:solidFill>
              </a:rPr>
              <a:t>Ayudante: Anastasiia Fedorova</a:t>
            </a:r>
          </a:p>
          <a:p>
            <a:pPr algn="r"/>
            <a:r>
              <a:rPr lang="es-CL" sz="2400" dirty="0">
                <a:solidFill>
                  <a:srgbClr val="66D9EF"/>
                </a:solidFill>
              </a:rPr>
              <a:t>Paralelo: 212</a:t>
            </a:r>
          </a:p>
          <a:p>
            <a:pPr algn="r"/>
            <a:r>
              <a:rPr lang="es-CL" sz="2400" dirty="0">
                <a:solidFill>
                  <a:srgbClr val="66D9EF"/>
                </a:solidFill>
              </a:rPr>
              <a:t>Fecha: 29.07.2020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299755-6845-7C47-9B89-C9BDFA72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31" b="98462" l="10000" r="90000">
                        <a14:foregroundMark x1="21463" y1="45077" x2="53659" y2="47077"/>
                        <a14:foregroundMark x1="44146" y1="62615" x2="36098" y2="56154"/>
                        <a14:foregroundMark x1="36098" y1="56154" x2="29390" y2="45077"/>
                        <a14:foregroundMark x1="29390" y1="45077" x2="36220" y2="35077"/>
                        <a14:foregroundMark x1="36220" y1="35077" x2="45854" y2="33077"/>
                        <a14:foregroundMark x1="45854" y1="33077" x2="45976" y2="47385"/>
                        <a14:foregroundMark x1="45976" y1="47385" x2="42805" y2="62308"/>
                        <a14:foregroundMark x1="42805" y1="62308" x2="41463" y2="64923"/>
                        <a14:foregroundMark x1="68049" y1="76000" x2="68049" y2="58154"/>
                        <a14:foregroundMark x1="68049" y1="58154" x2="65244" y2="47231"/>
                        <a14:foregroundMark x1="65244" y1="47231" x2="44024" y2="67077"/>
                        <a14:foregroundMark x1="44024" y1="67077" x2="48049" y2="77692"/>
                        <a14:foregroundMark x1="48049" y1="77692" x2="44390" y2="88615"/>
                        <a14:foregroundMark x1="44390" y1="88615" x2="46220" y2="93077"/>
                        <a14:foregroundMark x1="48659" y1="80769" x2="53171" y2="91077"/>
                        <a14:foregroundMark x1="53171" y1="91077" x2="49756" y2="98462"/>
                        <a14:foregroundMark x1="64634" y1="80000" x2="64390" y2="48615"/>
                        <a14:foregroundMark x1="64390" y1="48615" x2="68293" y2="43385"/>
                        <a14:foregroundMark x1="63780" y1="19231" x2="53171" y2="5231"/>
                        <a14:foregroundMark x1="40366" y1="69692" x2="37439" y2="65231"/>
                        <a14:foregroundMark x1="47317" y1="72923" x2="53902" y2="45077"/>
                        <a14:foregroundMark x1="53415" y1="43077" x2="50000" y2="41385"/>
                        <a14:foregroundMark x1="50488" y1="41077" x2="56463" y2="68462"/>
                        <a14:foregroundMark x1="56463" y1="68462" x2="54756" y2="703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6646" y="1872386"/>
            <a:ext cx="3931579" cy="311649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1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7FFEA-DC3C-2841-8E1D-7AE8B662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 (Certamen 2 2013-2)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ABB9D-86F7-F945-B20B-1DA10BF6A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5" y="1967345"/>
            <a:ext cx="11180618" cy="3006437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La tienda Pylabella maneja la información de sus clientes en un diccionario cuya clave corresponde al RUT del cliente y su valor a una lista con su información. Esta información está compuesta por el nombre del cliente, su edad, la sucursal donde realizó su inscripción, y una tupla con los montos de las tres útlimas compras. Considere las siguiente estructura </a:t>
            </a:r>
            <a:r>
              <a:rPr lang="es-CL" sz="2800" b="1" dirty="0">
                <a:solidFill>
                  <a:schemeClr val="bg1"/>
                </a:solidFill>
              </a:rPr>
              <a:t>como ejemplo </a:t>
            </a:r>
            <a:endParaRPr lang="es-CL" sz="2800" dirty="0">
              <a:solidFill>
                <a:schemeClr val="bg1"/>
              </a:solidFill>
            </a:endParaRPr>
          </a:p>
          <a:p>
            <a:endParaRPr lang="es-CL" sz="2800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5AAB5B-9AF1-CB4A-BE23-FEC26BFEA592}"/>
              </a:ext>
            </a:extLst>
          </p:cNvPr>
          <p:cNvSpPr/>
          <p:nvPr/>
        </p:nvSpPr>
        <p:spPr>
          <a:xfrm>
            <a:off x="512617" y="4373617"/>
            <a:ext cx="113053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clientes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{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'16034124-5'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 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'Fernando Ruiz Diaz'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30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'Vina'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300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)),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'5436576-2'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 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'Mike Portnoy'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'Quilpue'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50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)),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'3333333-3'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 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'Slash'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50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'Vina'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500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550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300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)),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'1234567-8'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 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'Cliff Burton'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35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'Valparaiso’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))}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2B97CC-B6C8-AA42-81DA-0DA8DB189A75}"/>
              </a:ext>
            </a:extLst>
          </p:cNvPr>
          <p:cNvSpPr/>
          <p:nvPr/>
        </p:nvSpPr>
        <p:spPr>
          <a:xfrm>
            <a:off x="2784763" y="5903452"/>
            <a:ext cx="73567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75715E"/>
                </a:solidFill>
                <a:latin typeface="Menlo" panose="020B0609030804020204" pitchFamily="49" charset="0"/>
              </a:rPr>
              <a:t>#RUT: [nombre,edad,sucursal,(monto1,monto2,monto3)]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48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7BB2D1-7A96-814A-A1B5-A39D9FE8E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00" y="2084832"/>
            <a:ext cx="10946199" cy="4023360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Escriba la función </a:t>
            </a:r>
            <a:r>
              <a:rPr lang="es-CL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misma_sucursal(RUT1, RUT2, clientes) </a:t>
            </a:r>
            <a:r>
              <a:rPr lang="es-CL" sz="2800" dirty="0">
                <a:solidFill>
                  <a:schemeClr val="bg1"/>
                </a:solidFill>
                <a:cs typeface="Consolas" panose="020B0609020204030204" pitchFamily="49" charset="0"/>
              </a:rPr>
              <a:t>que reciba RUT de dos clientes, y además un diccionario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r>
              <a:rPr lang="es-CL" sz="2800" dirty="0">
                <a:solidFill>
                  <a:schemeClr val="bg1"/>
                </a:solidFill>
                <a:cs typeface="Consolas" panose="020B0609020204030204" pitchFamily="49" charset="0"/>
              </a:rPr>
              <a:t>. La función debe retornar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s-CL" sz="2800" dirty="0">
                <a:solidFill>
                  <a:schemeClr val="bg1"/>
                </a:solidFill>
                <a:cs typeface="Consolas" panose="020B0609020204030204" pitchFamily="49" charset="0"/>
              </a:rPr>
              <a:t> si los clientes se inscribieron en la misma sucursal y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s-CL" sz="2800" dirty="0">
                <a:solidFill>
                  <a:schemeClr val="bg1"/>
                </a:solidFill>
                <a:cs typeface="Consolas" panose="020B0609020204030204" pitchFamily="49" charset="0"/>
              </a:rPr>
              <a:t> en el caso contrario.</a:t>
            </a:r>
            <a:endParaRPr lang="es-CL" sz="2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2AAD022-C212-704D-A9DF-55EF9D34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 (Certamen 2 2013-2)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F9557A-0289-CB4F-A9BF-3B2F22F6199F}"/>
              </a:ext>
            </a:extLst>
          </p:cNvPr>
          <p:cNvSpPr/>
          <p:nvPr/>
        </p:nvSpPr>
        <p:spPr>
          <a:xfrm>
            <a:off x="2154383" y="4111449"/>
            <a:ext cx="85898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misma_sucursal(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'16034124-5'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'3333333-3'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True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misma_sucursal(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'5436576-2'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'3333333-3'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54513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FF4AE-970C-9B43-81DF-8E5B143E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86A169-1579-6246-88F6-8BA0CA785908}"/>
              </a:ext>
            </a:extLst>
          </p:cNvPr>
          <p:cNvSpPr/>
          <p:nvPr/>
        </p:nvSpPr>
        <p:spPr>
          <a:xfrm>
            <a:off x="2486891" y="3033261"/>
            <a:ext cx="82573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6E22E"/>
                </a:solidFill>
                <a:latin typeface="Menlo" panose="020B0609030804020204" pitchFamily="49" charset="0"/>
              </a:rPr>
              <a:t>misma_sucursal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(RUT1, RUT2, clientes):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clientes[RUT1][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clientes[RUT2][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False</a:t>
            </a:r>
          </a:p>
        </p:txBody>
      </p:sp>
    </p:spTree>
    <p:extLst>
      <p:ext uri="{BB962C8B-B14F-4D97-AF65-F5344CB8AC3E}">
        <p14:creationId xmlns:p14="http://schemas.microsoft.com/office/powerpoint/2010/main" val="256753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9C2AAB-F753-C74F-99C1-9D574865F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10308890" cy="4438996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Escriba la función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mayores_que(edad_minima, clientes) </a:t>
            </a:r>
            <a:r>
              <a:rPr lang="es-CL" sz="2800" dirty="0">
                <a:solidFill>
                  <a:schemeClr val="bg1"/>
                </a:solidFill>
              </a:rPr>
              <a:t>que devuelva una lista con los nombres de clientes cuya edad es igual o mayor a la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edad_minima</a:t>
            </a:r>
            <a:r>
              <a:rPr lang="es-CL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EBCD3EF-567E-874A-93C4-37D31DA5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 (Certamen 2 2013-2)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5B5615-624F-5C4A-A468-FAA4B2B0C9C1}"/>
              </a:ext>
            </a:extLst>
          </p:cNvPr>
          <p:cNvSpPr/>
          <p:nvPr/>
        </p:nvSpPr>
        <p:spPr>
          <a:xfrm>
            <a:off x="2812473" y="3882059"/>
            <a:ext cx="71212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mayores_que(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50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[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'Slash'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mayores_que(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25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[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'Fernando Ruiz Diaz'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'Cliff Burton'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'Slash'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9035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FF4AE-970C-9B43-81DF-8E5B143E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B5A459-AA8E-454E-984F-74E096B16302}"/>
              </a:ext>
            </a:extLst>
          </p:cNvPr>
          <p:cNvSpPr/>
          <p:nvPr/>
        </p:nvSpPr>
        <p:spPr>
          <a:xfrm>
            <a:off x="2687781" y="2526400"/>
            <a:ext cx="755072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6E22E"/>
                </a:solidFill>
                <a:latin typeface="Menlo" panose="020B0609030804020204" pitchFamily="49" charset="0"/>
              </a:rPr>
              <a:t>mayores_que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(edad_minima, clientes):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lista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rut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clientes: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nombre, edad, _, _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clientes[rut]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edad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edad_minima: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    lista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append(nombre)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lista</a:t>
            </a:r>
          </a:p>
        </p:txBody>
      </p:sp>
    </p:spTree>
    <p:extLst>
      <p:ext uri="{BB962C8B-B14F-4D97-AF65-F5344CB8AC3E}">
        <p14:creationId xmlns:p14="http://schemas.microsoft.com/office/powerpoint/2010/main" val="288062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F87B6C-101B-F44B-9F6C-213C4397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2084832"/>
            <a:ext cx="10863072" cy="2923309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Escriba la función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es_cliente_vip(RUT, monto_compra, clientes)</a:t>
            </a:r>
            <a:r>
              <a:rPr lang="es-CL" sz="2800" dirty="0">
                <a:solidFill>
                  <a:schemeClr val="bg1"/>
                </a:solidFill>
              </a:rPr>
              <a:t>  la cual recibe como parámetro el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RUT</a:t>
            </a:r>
            <a:r>
              <a:rPr lang="es-CL" sz="2800" dirty="0">
                <a:solidFill>
                  <a:schemeClr val="bg1"/>
                </a:solidFill>
              </a:rPr>
              <a:t> de cliente, el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monto_compra </a:t>
            </a:r>
            <a:r>
              <a:rPr lang="es-CL" sz="2800" dirty="0">
                <a:solidFill>
                  <a:schemeClr val="bg1"/>
                </a:solidFill>
              </a:rPr>
              <a:t>que representa el monto mínimo para ser considerado cliente VIP y el diccionario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r>
              <a:rPr lang="es-CL" sz="2800" dirty="0">
                <a:solidFill>
                  <a:schemeClr val="bg1"/>
                </a:solidFill>
              </a:rPr>
              <a:t>. Esta función debe retornar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s-CL" sz="2800" dirty="0">
                <a:solidFill>
                  <a:schemeClr val="bg1"/>
                </a:solidFill>
              </a:rPr>
              <a:t> si la suma de tres últimas compras de cliente es igual o superior a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monto_compra</a:t>
            </a:r>
            <a:r>
              <a:rPr lang="es-CL" sz="2800" dirty="0">
                <a:solidFill>
                  <a:schemeClr val="bg1"/>
                </a:solidFill>
              </a:rPr>
              <a:t>, y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s-CL" sz="2800" dirty="0">
                <a:solidFill>
                  <a:schemeClr val="bg1"/>
                </a:solidFill>
              </a:rPr>
              <a:t> en caso contrario.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FE5F85B-B31B-A14F-8A1A-870221F2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 (Certamen 2 2013-2)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C8BE22-D6D2-8742-9EA5-54769BDB405D}"/>
              </a:ext>
            </a:extLst>
          </p:cNvPr>
          <p:cNvSpPr/>
          <p:nvPr/>
        </p:nvSpPr>
        <p:spPr>
          <a:xfrm>
            <a:off x="2736273" y="4568765"/>
            <a:ext cx="800792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es_cliente_vip(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'5436576-2'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500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False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es_cliente_vip(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'3333333-3'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500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True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es_cliente_vip(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'1234567-8'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150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,clientes)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3278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FF4AE-970C-9B43-81DF-8E5B143E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7E6351-BE03-434A-AA39-5D9395C442D1}"/>
              </a:ext>
            </a:extLst>
          </p:cNvPr>
          <p:cNvSpPr/>
          <p:nvPr/>
        </p:nvSpPr>
        <p:spPr>
          <a:xfrm>
            <a:off x="2369127" y="2611582"/>
            <a:ext cx="864523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6E22E"/>
                </a:solidFill>
                <a:latin typeface="Menlo" panose="020B0609030804020204" pitchFamily="49" charset="0"/>
              </a:rPr>
              <a:t>es_cliente_vip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(RUT, monto_compra, clientes):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nombre, _, _, compras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clientes[RUT]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sum_compra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compra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compras: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sum_compra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compra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sum_compra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monto_compra: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False</a:t>
            </a:r>
          </a:p>
        </p:txBody>
      </p:sp>
    </p:spTree>
    <p:extLst>
      <p:ext uri="{BB962C8B-B14F-4D97-AF65-F5344CB8AC3E}">
        <p14:creationId xmlns:p14="http://schemas.microsoft.com/office/powerpoint/2010/main" val="144090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2F5FD1-20AC-574D-9D19-352A28BC4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248" y="2059477"/>
            <a:ext cx="11437503" cy="1699846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Se mantiene la información relevante a la autopista en 3 archivos: un registro diario de patentes que circulan por ella,  la información de patentes que contienen o no contienen TAG (indicado con 1 y 0), información de dueños y patentes asociadas. En </a:t>
            </a:r>
            <a:r>
              <a:rPr lang="es-CL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info_dueños </a:t>
            </a:r>
            <a:r>
              <a:rPr lang="es-CL" sz="2800" dirty="0">
                <a:solidFill>
                  <a:schemeClr val="bg1"/>
                </a:solidFill>
              </a:rPr>
              <a:t>los dueños aparecen solo 1 vez.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58AEA3B-B027-F048-99D8-C6518692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2 (Certamen 3 2017-1)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36233D-2582-744A-B7FA-FD53B01085B7}"/>
              </a:ext>
            </a:extLst>
          </p:cNvPr>
          <p:cNvSpPr/>
          <p:nvPr/>
        </p:nvSpPr>
        <p:spPr>
          <a:xfrm>
            <a:off x="1230923" y="447331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registro_diario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abmn32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crtj12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dflp11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hb5101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8507DE-444D-5E4A-8A8D-155CADF11A93}"/>
              </a:ext>
            </a:extLst>
          </p:cNvPr>
          <p:cNvSpPr/>
          <p:nvPr/>
        </p:nvSpPr>
        <p:spPr>
          <a:xfrm>
            <a:off x="4448909" y="410363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patentes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crtj12,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abmn32,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hb5101,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dflp11,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tljg99,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jfzo10,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AF039E-9681-F444-8B30-CE787E6EB40F}"/>
              </a:ext>
            </a:extLst>
          </p:cNvPr>
          <p:cNvSpPr/>
          <p:nvPr/>
        </p:nvSpPr>
        <p:spPr>
          <a:xfrm>
            <a:off x="6570784" y="437995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info_duenos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Alex Perez;crtj12,hb5101,kcfl36,emda16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Aquiles Castro ;abmn32,tljg99,avrv33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Maria Gana;ab7677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Fede Santos;utfs90,dflp11</a:t>
            </a:r>
          </a:p>
        </p:txBody>
      </p:sp>
    </p:spTree>
    <p:extLst>
      <p:ext uri="{BB962C8B-B14F-4D97-AF65-F5344CB8AC3E}">
        <p14:creationId xmlns:p14="http://schemas.microsoft.com/office/powerpoint/2010/main" val="344247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FC283-87CA-964F-A91D-45AB7B4E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2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C435C-AA18-954A-BF67-C728C4E0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587" y="1970415"/>
            <a:ext cx="10534826" cy="2368062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Se necesita saber cuántos vehículos tiene cada usuario. Construya una función patentes_por_dueno(archivo_duenos) que recibe el nombre de archivo que contiene a los dueños y retorna un diccionario. Este debe tener como llave el nombre y apellido de la persona y como valor el número de vehículos que posee.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941325-D752-5E42-9C8A-1632E9481B89}"/>
              </a:ext>
            </a:extLst>
          </p:cNvPr>
          <p:cNvSpPr/>
          <p:nvPr/>
        </p:nvSpPr>
        <p:spPr>
          <a:xfrm>
            <a:off x="2782590" y="4516957"/>
            <a:ext cx="1033928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patentes_por_dueno(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'info_duenos.txt’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{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'Alex Perez'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: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'Aquiles Castro 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: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'Fede Santos’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'Maria Gana’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: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117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3A014-C0C3-0A43-A39C-6E83F1F9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7B268A-630B-4C44-9436-CD1E23F05D08}"/>
              </a:ext>
            </a:extLst>
          </p:cNvPr>
          <p:cNvSpPr/>
          <p:nvPr/>
        </p:nvSpPr>
        <p:spPr>
          <a:xfrm>
            <a:off x="2247900" y="2084832"/>
            <a:ext cx="9944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6E22E"/>
                </a:solidFill>
                <a:latin typeface="Menlo" panose="020B0609030804020204" pitchFamily="49" charset="0"/>
              </a:rPr>
              <a:t>patentes_por_dueno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(archivo_duenos):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d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{}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open(archivo_duenos,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linea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a: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nombre, patentes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linea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";"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patentes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","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cant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    cant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d[nombre]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cant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d</a:t>
            </a:r>
          </a:p>
        </p:txBody>
      </p:sp>
    </p:spTree>
    <p:extLst>
      <p:ext uri="{BB962C8B-B14F-4D97-AF65-F5344CB8AC3E}">
        <p14:creationId xmlns:p14="http://schemas.microsoft.com/office/powerpoint/2010/main" val="106457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9778B-CE02-504A-A596-99A9F64D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2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3FEA88-DDA2-2F42-8727-873D165CA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56" y="1969477"/>
            <a:ext cx="10921687" cy="2625969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Se requiere listar a aquellas patentes que circularon durante el día sin tener TAG. Construya la función multar_patentes(archivo_registro, archivo_patentes) que recibe nombres de archivo con registros diarios y con patentes y TAGs. Esta función debe retornar una lista con patentes que cumplen con el criteo mencionado.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47DCFDA-CFCE-0D42-928B-41A6A95318B2}"/>
              </a:ext>
            </a:extLst>
          </p:cNvPr>
          <p:cNvSpPr/>
          <p:nvPr/>
        </p:nvSpPr>
        <p:spPr>
          <a:xfrm>
            <a:off x="1617783" y="4727975"/>
            <a:ext cx="94370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patentes_multadas(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'registro_diario.txt'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'patentes.txt'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[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'abmn32'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'hb5101'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3159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3A014-C0C3-0A43-A39C-6E83F1F9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695439-A6F2-E148-9393-EB7DA3C16451}"/>
              </a:ext>
            </a:extLst>
          </p:cNvPr>
          <p:cNvSpPr/>
          <p:nvPr/>
        </p:nvSpPr>
        <p:spPr>
          <a:xfrm>
            <a:off x="2493818" y="1984307"/>
            <a:ext cx="84928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patentes_multadas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(archivo_registro, archivo_patentes):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a2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open(archivo_patentes,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lista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linea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a2: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patente, TAG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linea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","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TAG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"0"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a1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open(archivo_registro,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registro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a1: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r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registro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r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patente: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lista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append(r)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a1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a2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lista </a:t>
            </a:r>
          </a:p>
        </p:txBody>
      </p:sp>
    </p:spTree>
    <p:extLst>
      <p:ext uri="{BB962C8B-B14F-4D97-AF65-F5344CB8AC3E}">
        <p14:creationId xmlns:p14="http://schemas.microsoft.com/office/powerpoint/2010/main" val="175333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B7F59-E637-944E-A07F-6364845C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2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FBBF09-4677-154B-9840-3152B0015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586" y="2084832"/>
            <a:ext cx="10929659" cy="2286000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Se necesita listar los dueños con patentes multadas. Para esto, se les pide construir la función personas_multadas(archivo_registros,archivo_patentes,archivo_duenos) que debe retornar un listado con los nombres de los dueños de patentes multadas. Este listado no debe contener nombres repetidos.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FD00E5-EE2C-A04A-8174-E31F5BD36065}"/>
              </a:ext>
            </a:extLst>
          </p:cNvPr>
          <p:cNvSpPr/>
          <p:nvPr/>
        </p:nvSpPr>
        <p:spPr>
          <a:xfrm>
            <a:off x="1453661" y="4543889"/>
            <a:ext cx="103045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personas_multadas(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'registro_diario.txt'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'patentes.txt'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'info_duenos.txt'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[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'Aquiles Castro 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'Alex Perez'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2608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3A014-C0C3-0A43-A39C-6E83F1F9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0540AF-758C-1146-BD67-1AD705C1A7A8}"/>
              </a:ext>
            </a:extLst>
          </p:cNvPr>
          <p:cNvSpPr/>
          <p:nvPr/>
        </p:nvSpPr>
        <p:spPr>
          <a:xfrm>
            <a:off x="422563" y="2119191"/>
            <a:ext cx="1190798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6E22E"/>
                </a:solidFill>
                <a:latin typeface="Menlo" panose="020B0609030804020204" pitchFamily="49" charset="0"/>
              </a:rPr>
              <a:t>personas_multadas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(archivo_registro, archivo_patentes, archivo_duenos):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lista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multas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patentes_multadas(archivo_registro, archivo_patentes)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open(archivo_duenos,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linea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a: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nombre, patentes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linea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";"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patentes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","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patentes: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patente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multas: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nombre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not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lista: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lista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append(nombre)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a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lista</a:t>
            </a:r>
          </a:p>
        </p:txBody>
      </p:sp>
    </p:spTree>
    <p:extLst>
      <p:ext uri="{BB962C8B-B14F-4D97-AF65-F5344CB8AC3E}">
        <p14:creationId xmlns:p14="http://schemas.microsoft.com/office/powerpoint/2010/main" val="1345321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DF641-4682-8E4E-9973-DD7CFEDE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3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C44F3-E527-EA41-84BE-93C4C0F7E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35" y="1909455"/>
            <a:ext cx="10832123" cy="4363329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Una pequeña empresa chocolatera tiene una base de datos nutricional de materia prima que usa para crear su mercancía. Los archivos tienen el formato nombre_producto, marca, cantidad (en gramos). Desde la segunda línea se indica la información nutricional del producto. Excepto por las calorías, todos los valores están en gramos, sin importar si son líquidos o sólidos.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0C80B0-C19F-4445-976E-F8109786F511}"/>
              </a:ext>
            </a:extLst>
          </p:cNvPr>
          <p:cNvSpPr/>
          <p:nvPr/>
        </p:nvSpPr>
        <p:spPr>
          <a:xfrm>
            <a:off x="2004647" y="427803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CHOCOLATEAMARGO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CHOCOLATE AMARGO,LA FETE,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AZUCARES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CALORIAS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400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CARBOHIDRATOS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40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GRASAS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PROTEINAS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28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0F4404-CEB0-A64D-898D-E0AA7A4C51DD}"/>
              </a:ext>
            </a:extLst>
          </p:cNvPr>
          <p:cNvSpPr/>
          <p:nvPr/>
        </p:nvSpPr>
        <p:spPr>
          <a:xfrm>
            <a:off x="6342186" y="427803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LICORMENTA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LICOR DE MENTA,LIDER,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AZUCARES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1.6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CALORIAS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CARBOHIDRATOS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1.6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GRASAS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PROTEINAS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0.2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9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24170-4DF2-A44C-836A-DACA71C8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3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CF95A1-FF0B-324F-A714-802AD1852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La receta de un producto es un archivo con nombre RECETA- PRODUCTO.txt. En la primera línea se indica su peso en gramos, y en la segunda en adelante se describen las cantidades en gramos de los ingredientes a utilizar.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6568DBD-5068-B041-BD48-99DDA794DF21}"/>
              </a:ext>
            </a:extLst>
          </p:cNvPr>
          <p:cNvSpPr/>
          <p:nvPr/>
        </p:nvSpPr>
        <p:spPr>
          <a:xfrm>
            <a:off x="3481753" y="429768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RECETA-CHOCOLATE_CON_MENTA</a:t>
            </a:r>
            <a:r>
              <a:rPr lang="es-CL" sz="2000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sz="2000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160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CHOCOLATEAMARGO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150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LICORMENTA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02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2261A-7CE0-B74C-992E-F0DEFF99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3 (Certamen 3 2017-1)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697691-87CB-3F4A-96BC-78961807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09" y="1781908"/>
            <a:ext cx="11058613" cy="2239108"/>
          </a:xfrm>
        </p:spPr>
        <p:txBody>
          <a:bodyPr>
            <a:normAutofit lnSpcReduction="10000"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Se les pide a usted que escriba la función calcular_total(archivo_receta) que genera un archivo con la información nutricional de nuevo producto. El nombre de archivo debe ser NUTRICION-NOMBRE_RECETA.txt. Tenga en cuenta que el cálcula de la información nutricional debe considerar la información nutricional de materia prima, la cual debe ser proporcional a la cantidad de gramos indicada en la receta.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3DC93F-8C89-DB45-AB88-0477B2FC0336}"/>
              </a:ext>
            </a:extLst>
          </p:cNvPr>
          <p:cNvSpPr/>
          <p:nvPr/>
        </p:nvSpPr>
        <p:spPr>
          <a:xfrm>
            <a:off x="3938953" y="41807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NUTRICION-CHOCOLATE_CON_MENTA</a:t>
            </a:r>
            <a:r>
              <a:rPr lang="es-CL" dirty="0">
                <a:solidFill>
                  <a:srgbClr val="F9267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highlight>
                  <a:srgbClr val="F92672"/>
                </a:highlight>
                <a:latin typeface="Menlo" panose="020B0609030804020204" pitchFamily="49" charset="0"/>
              </a:rPr>
              <a:t>txt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CHOCOLATE CON MENTA,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160.0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**********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AZUCARES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19.0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CALORIAS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650.0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CARBOHIDRATOS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64.0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GRASAS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30.0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PROTEINAS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42.5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6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EB4CC80-3CA1-A44C-9BBD-82595197F328}"/>
              </a:ext>
            </a:extLst>
          </p:cNvPr>
          <p:cNvSpPr/>
          <p:nvPr/>
        </p:nvSpPr>
        <p:spPr>
          <a:xfrm>
            <a:off x="845128" y="955963"/>
            <a:ext cx="12718473" cy="535531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calcular_total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(archivo_receta):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a_receta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open(archivo_receta,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count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dicc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{}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receta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(archivo_receta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"-"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])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"."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a_nutricion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open(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"NUTRICION-"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receta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".txt"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"w"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linea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a_receta: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count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peso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float(linea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receta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receta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"_"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receta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 "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join(receta)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a_nutricion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write(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","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join([receta, str(peso)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\n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]))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a_nutricion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write(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"*"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\n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count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else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producto, cantidad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linea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 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arch_aux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open(producto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".txt"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"r"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count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count_aux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489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3FD731-8091-994C-888A-D7B989FB1B3F}"/>
              </a:ext>
            </a:extLst>
          </p:cNvPr>
          <p:cNvSpPr/>
          <p:nvPr/>
        </p:nvSpPr>
        <p:spPr>
          <a:xfrm>
            <a:off x="2050472" y="889843"/>
            <a:ext cx="1263534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arch_aux: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count_aux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_, _, porcion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","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count_aux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else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count_aux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ingrediente, cant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strip()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split(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 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						</a:t>
            </a:r>
            <a:r>
              <a:rPr lang="es-CL" dirty="0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# cantidad en receta es proporcional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cantidad_proporcional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    float(cant)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/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float(porcion))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float(cantidad)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ingrediente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not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dicc: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    dicc[ingrediente]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cantidad_proporcional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else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    dicc[ingrediente]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cantidad_proporcional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arch_aux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a_receta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ing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dicc: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a_nutricion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write(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 "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join([ing, str(dicc[ing])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\n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]))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a_nutricion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close()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59442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wi131_plantilla" id="{D380A461-5A20-4D47-9F98-D24C79C9FB07}" vid="{023703D2-664B-314B-A55A-ECEA48B24E4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2667</TotalTime>
  <Words>1917</Words>
  <Application>Microsoft Macintosh PowerPoint</Application>
  <PresentationFormat>Panorámica</PresentationFormat>
  <Paragraphs>201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Calibri</vt:lpstr>
      <vt:lpstr>Consolas</vt:lpstr>
      <vt:lpstr>Menlo</vt:lpstr>
      <vt:lpstr>Tw Cen MT</vt:lpstr>
      <vt:lpstr>Tw Cen MT Condensed</vt:lpstr>
      <vt:lpstr>Wingdings 3</vt:lpstr>
      <vt:lpstr>Integral</vt:lpstr>
      <vt:lpstr>IWI 131- Programación</vt:lpstr>
      <vt:lpstr>Ejercicio 1 (Certamen 2 2013-2)</vt:lpstr>
      <vt:lpstr>Ejercicio 1 (Certamen 2 2013-2)</vt:lpstr>
      <vt:lpstr>Solución</vt:lpstr>
      <vt:lpstr>Ejercicio 1 (Certamen 2 2013-2)</vt:lpstr>
      <vt:lpstr>Solución</vt:lpstr>
      <vt:lpstr>Ejercicio 1 (Certamen 2 2013-2)</vt:lpstr>
      <vt:lpstr>Solución</vt:lpstr>
      <vt:lpstr>Ejercicio 2 (Certamen 3 2017-1)</vt:lpstr>
      <vt:lpstr>Ejercicio 2 (Certamen 3 2017-1)</vt:lpstr>
      <vt:lpstr>Solución</vt:lpstr>
      <vt:lpstr>Ejercicio 2 (Certamen 3 2017-1)</vt:lpstr>
      <vt:lpstr>Solución</vt:lpstr>
      <vt:lpstr>Ejercicio 2 (Certamen 3 2017-1)</vt:lpstr>
      <vt:lpstr>Solución</vt:lpstr>
      <vt:lpstr>Ejercicio 3 (Certamen 3 2017-1)</vt:lpstr>
      <vt:lpstr>Ejercicio 3 (Certamen 3 2017-1)</vt:lpstr>
      <vt:lpstr>Ejercicio 3 (Certamen 3 2017-1)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IWI 131- Programación</dc:title>
  <dc:creator>ANASTASIIA FEDOROVA .</dc:creator>
  <cp:lastModifiedBy>ANASTASIIA FEDOROVA .</cp:lastModifiedBy>
  <cp:revision>503</cp:revision>
  <dcterms:created xsi:type="dcterms:W3CDTF">2020-04-03T20:18:37Z</dcterms:created>
  <dcterms:modified xsi:type="dcterms:W3CDTF">2020-07-29T21:27:44Z</dcterms:modified>
</cp:coreProperties>
</file>