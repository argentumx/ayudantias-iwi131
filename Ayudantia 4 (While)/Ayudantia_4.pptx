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03" r:id="rId1"/>
  </p:sldMasterIdLst>
  <p:notesMasterIdLst>
    <p:notesMasterId r:id="rId17"/>
  </p:notesMasterIdLst>
  <p:sldIdLst>
    <p:sldId id="256" r:id="rId2"/>
    <p:sldId id="265" r:id="rId3"/>
    <p:sldId id="260" r:id="rId4"/>
    <p:sldId id="261" r:id="rId5"/>
    <p:sldId id="266" r:id="rId6"/>
    <p:sldId id="268" r:id="rId7"/>
    <p:sldId id="267" r:id="rId8"/>
    <p:sldId id="270" r:id="rId9"/>
    <p:sldId id="271" r:id="rId10"/>
    <p:sldId id="262" r:id="rId11"/>
    <p:sldId id="264" r:id="rId12"/>
    <p:sldId id="272" r:id="rId13"/>
    <p:sldId id="273" r:id="rId14"/>
    <p:sldId id="274" r:id="rId15"/>
    <p:sldId id="275"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D9EF"/>
    <a:srgbClr val="FD971F"/>
    <a:srgbClr val="F92672"/>
    <a:srgbClr val="AE81FF"/>
    <a:srgbClr val="A6E22E"/>
    <a:srgbClr val="27282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Estilo medio 2 - Énfasis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08"/>
    <p:restoredTop sz="94679"/>
  </p:normalViewPr>
  <p:slideViewPr>
    <p:cSldViewPr snapToGrid="0" snapToObjects="1">
      <p:cViewPr varScale="1">
        <p:scale>
          <a:sx n="88" d="100"/>
          <a:sy n="88" d="100"/>
        </p:scale>
        <p:origin x="944" y="176"/>
      </p:cViewPr>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2204AC-F89F-5A43-A3C5-FD728B04A101}" type="datetimeFigureOut">
              <a:rPr lang="es-CL" smtClean="0"/>
              <a:t>15-08-20</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F209DA-5710-E544-8A8A-F492DBBD5AA6}" type="slidenum">
              <a:rPr lang="es-CL" smtClean="0"/>
              <a:t>‹Nº›</a:t>
            </a:fld>
            <a:endParaRPr lang="es-CL"/>
          </a:p>
        </p:txBody>
      </p:sp>
    </p:spTree>
    <p:extLst>
      <p:ext uri="{BB962C8B-B14F-4D97-AF65-F5344CB8AC3E}">
        <p14:creationId xmlns:p14="http://schemas.microsoft.com/office/powerpoint/2010/main" val="3880556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dirty="0"/>
          </a:p>
        </p:txBody>
      </p:sp>
      <p:sp>
        <p:nvSpPr>
          <p:cNvPr id="4" name="Marcador de número de diapositiva 3"/>
          <p:cNvSpPr>
            <a:spLocks noGrp="1"/>
          </p:cNvSpPr>
          <p:nvPr>
            <p:ph type="sldNum" sz="quarter" idx="5"/>
          </p:nvPr>
        </p:nvSpPr>
        <p:spPr/>
        <p:txBody>
          <a:bodyPr/>
          <a:lstStyle/>
          <a:p>
            <a:fld id="{91F209DA-5710-E544-8A8A-F492DBBD5AA6}" type="slidenum">
              <a:rPr lang="es-CL" smtClean="0"/>
              <a:t>1</a:t>
            </a:fld>
            <a:endParaRPr lang="es-CL"/>
          </a:p>
        </p:txBody>
      </p:sp>
    </p:spTree>
    <p:extLst>
      <p:ext uri="{BB962C8B-B14F-4D97-AF65-F5344CB8AC3E}">
        <p14:creationId xmlns:p14="http://schemas.microsoft.com/office/powerpoint/2010/main" val="41000001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lvl1pPr algn="l">
              <a:defRPr/>
            </a:lvl1pPr>
          </a:lstStyle>
          <a:p>
            <a:fld id="{7EB30784-A5C3-6349-BD2A-7A8E658959DF}" type="datetimeFigureOut">
              <a:rPr lang="es-CL" smtClean="0"/>
              <a:t>15-08-20</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E3D891C6-CE47-3447-99AD-3B11D616AAE1}" type="slidenum">
              <a:rPr lang="es-CL" smtClean="0"/>
              <a:t>‹Nº›</a:t>
            </a:fld>
            <a:endParaRPr lang="es-CL"/>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57729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7EB30784-A5C3-6349-BD2A-7A8E658959DF}" type="datetimeFigureOut">
              <a:rPr lang="es-CL" smtClean="0"/>
              <a:t>15-08-20</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E3D891C6-CE47-3447-99AD-3B11D616AAE1}" type="slidenum">
              <a:rPr lang="es-CL" smtClean="0"/>
              <a:t>‹Nº›</a:t>
            </a:fld>
            <a:endParaRPr lang="es-CL"/>
          </a:p>
        </p:txBody>
      </p:sp>
    </p:spTree>
    <p:extLst>
      <p:ext uri="{BB962C8B-B14F-4D97-AF65-F5344CB8AC3E}">
        <p14:creationId xmlns:p14="http://schemas.microsoft.com/office/powerpoint/2010/main" val="7351733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7EB30784-A5C3-6349-BD2A-7A8E658959DF}" type="datetimeFigureOut">
              <a:rPr lang="es-CL" smtClean="0"/>
              <a:t>15-08-20</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E3D891C6-CE47-3447-99AD-3B11D616AAE1}" type="slidenum">
              <a:rPr lang="es-CL" smtClean="0"/>
              <a:t>‹Nº›</a:t>
            </a:fld>
            <a:endParaRPr lang="es-CL"/>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86771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7EB30784-A5C3-6349-BD2A-7A8E658959DF}" type="datetimeFigureOut">
              <a:rPr lang="es-CL" smtClean="0"/>
              <a:t>15-08-20</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E3D891C6-CE47-3447-99AD-3B11D616AAE1}" type="slidenum">
              <a:rPr lang="es-CL" smtClean="0"/>
              <a:t>‹Nº›</a:t>
            </a:fld>
            <a:endParaRPr lang="es-CL"/>
          </a:p>
        </p:txBody>
      </p:sp>
    </p:spTree>
    <p:extLst>
      <p:ext uri="{BB962C8B-B14F-4D97-AF65-F5344CB8AC3E}">
        <p14:creationId xmlns:p14="http://schemas.microsoft.com/office/powerpoint/2010/main" val="41427615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024128" y="2967788"/>
            <a:ext cx="4754880" cy="334157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s-ES"/>
              <a:t>Haga clic para modificar los estilos de texto del patrón</a:t>
            </a:r>
          </a:p>
        </p:txBody>
      </p:sp>
      <p:sp>
        <p:nvSpPr>
          <p:cNvPr id="6" name="Content Placeholder 5"/>
          <p:cNvSpPr>
            <a:spLocks noGrp="1"/>
          </p:cNvSpPr>
          <p:nvPr>
            <p:ph sz="quarter" idx="4"/>
          </p:nvPr>
        </p:nvSpPr>
        <p:spPr>
          <a:xfrm>
            <a:off x="5990888" y="2967788"/>
            <a:ext cx="4754880" cy="334157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7EB30784-A5C3-6349-BD2A-7A8E658959DF}" type="datetimeFigureOut">
              <a:rPr lang="es-CL" smtClean="0"/>
              <a:t>15-08-20</a:t>
            </a:fld>
            <a:endParaRPr lang="es-CL"/>
          </a:p>
        </p:txBody>
      </p:sp>
      <p:sp>
        <p:nvSpPr>
          <p:cNvPr id="8" name="Footer Placeholder 7"/>
          <p:cNvSpPr>
            <a:spLocks noGrp="1"/>
          </p:cNvSpPr>
          <p:nvPr>
            <p:ph type="ftr" sz="quarter" idx="11"/>
          </p:nvPr>
        </p:nvSpPr>
        <p:spPr/>
        <p:txBody>
          <a:bodyPr/>
          <a:lstStyle/>
          <a:p>
            <a:endParaRPr lang="es-CL"/>
          </a:p>
        </p:txBody>
      </p:sp>
      <p:sp>
        <p:nvSpPr>
          <p:cNvPr id="9" name="Slide Number Placeholder 8"/>
          <p:cNvSpPr>
            <a:spLocks noGrp="1"/>
          </p:cNvSpPr>
          <p:nvPr>
            <p:ph type="sldNum" sz="quarter" idx="12"/>
          </p:nvPr>
        </p:nvSpPr>
        <p:spPr/>
        <p:txBody>
          <a:bodyPr/>
          <a:lstStyle/>
          <a:p>
            <a:fld id="{E3D891C6-CE47-3447-99AD-3B11D616AAE1}" type="slidenum">
              <a:rPr lang="es-CL" smtClean="0"/>
              <a:t>‹Nº›</a:t>
            </a:fld>
            <a:endParaRPr lang="es-CL"/>
          </a:p>
        </p:txBody>
      </p:sp>
    </p:spTree>
    <p:extLst>
      <p:ext uri="{BB962C8B-B14F-4D97-AF65-F5344CB8AC3E}">
        <p14:creationId xmlns:p14="http://schemas.microsoft.com/office/powerpoint/2010/main" val="19679072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7EB30784-A5C3-6349-BD2A-7A8E658959DF}" type="datetimeFigureOut">
              <a:rPr lang="es-CL" smtClean="0"/>
              <a:t>15-08-20</a:t>
            </a:fld>
            <a:endParaRPr lang="es-CL"/>
          </a:p>
        </p:txBody>
      </p:sp>
      <p:sp>
        <p:nvSpPr>
          <p:cNvPr id="4" name="Footer Placeholder 3"/>
          <p:cNvSpPr>
            <a:spLocks noGrp="1"/>
          </p:cNvSpPr>
          <p:nvPr>
            <p:ph type="ftr" sz="quarter" idx="11"/>
          </p:nvPr>
        </p:nvSpPr>
        <p:spPr/>
        <p:txBody>
          <a:bodyPr/>
          <a:lstStyle/>
          <a:p>
            <a:endParaRPr lang="es-CL"/>
          </a:p>
        </p:txBody>
      </p:sp>
      <p:sp>
        <p:nvSpPr>
          <p:cNvPr id="5" name="Slide Number Placeholder 4"/>
          <p:cNvSpPr>
            <a:spLocks noGrp="1"/>
          </p:cNvSpPr>
          <p:nvPr>
            <p:ph type="sldNum" sz="quarter" idx="12"/>
          </p:nvPr>
        </p:nvSpPr>
        <p:spPr/>
        <p:txBody>
          <a:bodyPr/>
          <a:lstStyle/>
          <a:p>
            <a:fld id="{E3D891C6-CE47-3447-99AD-3B11D616AAE1}" type="slidenum">
              <a:rPr lang="es-CL" smtClean="0"/>
              <a:t>‹Nº›</a:t>
            </a:fld>
            <a:endParaRPr lang="es-CL"/>
          </a:p>
        </p:txBody>
      </p:sp>
    </p:spTree>
    <p:extLst>
      <p:ext uri="{BB962C8B-B14F-4D97-AF65-F5344CB8AC3E}">
        <p14:creationId xmlns:p14="http://schemas.microsoft.com/office/powerpoint/2010/main" val="7920389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EB30784-A5C3-6349-BD2A-7A8E658959DF}" type="datetimeFigureOut">
              <a:rPr lang="es-CL" smtClean="0"/>
              <a:t>15-08-20</a:t>
            </a:fld>
            <a:endParaRPr lang="es-CL"/>
          </a:p>
        </p:txBody>
      </p:sp>
      <p:sp>
        <p:nvSpPr>
          <p:cNvPr id="3" name="Footer Placeholder 2"/>
          <p:cNvSpPr>
            <a:spLocks noGrp="1"/>
          </p:cNvSpPr>
          <p:nvPr>
            <p:ph type="ftr" sz="quarter" idx="11"/>
          </p:nvPr>
        </p:nvSpPr>
        <p:spPr/>
        <p:txBody>
          <a:bodyPr/>
          <a:lstStyle/>
          <a:p>
            <a:endParaRPr lang="es-CL"/>
          </a:p>
        </p:txBody>
      </p:sp>
      <p:sp>
        <p:nvSpPr>
          <p:cNvPr id="4" name="Slide Number Placeholder 3"/>
          <p:cNvSpPr>
            <a:spLocks noGrp="1"/>
          </p:cNvSpPr>
          <p:nvPr>
            <p:ph type="sldNum" sz="quarter" idx="12"/>
          </p:nvPr>
        </p:nvSpPr>
        <p:spPr/>
        <p:txBody>
          <a:bodyPr/>
          <a:lstStyle/>
          <a:p>
            <a:fld id="{E3D891C6-CE47-3447-99AD-3B11D616AAE1}" type="slidenum">
              <a:rPr lang="es-CL" smtClean="0"/>
              <a:t>‹Nº›</a:t>
            </a:fld>
            <a:endParaRPr lang="es-CL"/>
          </a:p>
        </p:txBody>
      </p:sp>
    </p:spTree>
    <p:extLst>
      <p:ext uri="{BB962C8B-B14F-4D97-AF65-F5344CB8AC3E}">
        <p14:creationId xmlns:p14="http://schemas.microsoft.com/office/powerpoint/2010/main" val="39636898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7EB30784-A5C3-6349-BD2A-7A8E658959DF}" type="datetimeFigureOut">
              <a:rPr lang="es-CL" smtClean="0"/>
              <a:t>15-08-20</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E3D891C6-CE47-3447-99AD-3B11D616AAE1}" type="slidenum">
              <a:rPr lang="es-CL" smtClean="0"/>
              <a:t>‹Nº›</a:t>
            </a:fld>
            <a:endParaRPr lang="es-CL"/>
          </a:p>
        </p:txBody>
      </p:sp>
    </p:spTree>
    <p:extLst>
      <p:ext uri="{BB962C8B-B14F-4D97-AF65-F5344CB8AC3E}">
        <p14:creationId xmlns:p14="http://schemas.microsoft.com/office/powerpoint/2010/main" val="21928484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7EB30784-A5C3-6349-BD2A-7A8E658959DF}" type="datetimeFigureOut">
              <a:rPr lang="es-CL" smtClean="0"/>
              <a:t>15-08-20</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E3D891C6-CE47-3447-99AD-3B11D616AAE1}" type="slidenum">
              <a:rPr lang="es-CL" smtClean="0"/>
              <a:t>‹Nº›</a:t>
            </a:fld>
            <a:endParaRPr lang="es-CL"/>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33370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7EB30784-A5C3-6349-BD2A-7A8E658959DF}" type="datetimeFigureOut">
              <a:rPr lang="es-CL" smtClean="0"/>
              <a:t>15-08-20</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E3D891C6-CE47-3447-99AD-3B11D616AAE1}" type="slidenum">
              <a:rPr lang="es-CL" smtClean="0"/>
              <a:t>‹Nº›</a:t>
            </a:fld>
            <a:endParaRPr lang="es-CL"/>
          </a:p>
        </p:txBody>
      </p:sp>
    </p:spTree>
    <p:extLst>
      <p:ext uri="{BB962C8B-B14F-4D97-AF65-F5344CB8AC3E}">
        <p14:creationId xmlns:p14="http://schemas.microsoft.com/office/powerpoint/2010/main" val="23085311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7EB30784-A5C3-6349-BD2A-7A8E658959DF}" type="datetimeFigureOut">
              <a:rPr lang="es-CL" smtClean="0"/>
              <a:t>15-08-20</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E3D891C6-CE47-3447-99AD-3B11D616AAE1}" type="slidenum">
              <a:rPr lang="es-CL" smtClean="0"/>
              <a:t>‹Nº›</a:t>
            </a:fld>
            <a:endParaRPr lang="es-CL"/>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05478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27282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7EB30784-A5C3-6349-BD2A-7A8E658959DF}" type="datetimeFigureOut">
              <a:rPr lang="es-CL" smtClean="0"/>
              <a:t>15-08-20</a:t>
            </a:fld>
            <a:endParaRPr lang="es-CL"/>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s-CL"/>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3D891C6-CE47-3447-99AD-3B11D616AAE1}" type="slidenum">
              <a:rPr lang="es-CL" smtClean="0"/>
              <a:t>‹Nº›</a:t>
            </a:fld>
            <a:endParaRPr lang="es-CL"/>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8201775"/>
      </p:ext>
    </p:extLst>
  </p:cSld>
  <p:clrMap bg1="lt1" tx1="dk1" bg2="lt2" tx2="dk2" accent1="accent1" accent2="accent2" accent3="accent3" accent4="accent4" accent5="accent5" accent6="accent6" hlink="hlink" folHlink="folHlink"/>
  <p:sldLayoutIdLst>
    <p:sldLayoutId id="2147483904" r:id="rId1"/>
    <p:sldLayoutId id="2147483905" r:id="rId2"/>
    <p:sldLayoutId id="2147483906" r:id="rId3"/>
    <p:sldLayoutId id="2147483907" r:id="rId4"/>
    <p:sldLayoutId id="2147483908" r:id="rId5"/>
    <p:sldLayoutId id="2147483909" r:id="rId6"/>
    <p:sldLayoutId id="2147483910" r:id="rId7"/>
    <p:sldLayoutId id="2147483911" r:id="rId8"/>
    <p:sldLayoutId id="2147483912" r:id="rId9"/>
    <p:sldLayoutId id="2147483913" r:id="rId10"/>
    <p:sldLayoutId id="2147483914"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tiff"/><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tiff"/></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tif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51" name="Rectangle 44">
            <a:extLst>
              <a:ext uri="{FF2B5EF4-FFF2-40B4-BE49-F238E27FC236}">
                <a16:creationId xmlns:a16="http://schemas.microsoft.com/office/drawing/2014/main" id="{2A85F7B3-F4E6-4FBF-B74E-43CAB468F5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6630811-6F38-6F45-AD6B-CD5290979456}"/>
              </a:ext>
            </a:extLst>
          </p:cNvPr>
          <p:cNvSpPr>
            <a:spLocks noGrp="1"/>
          </p:cNvSpPr>
          <p:nvPr>
            <p:ph type="ctrTitle"/>
          </p:nvPr>
        </p:nvSpPr>
        <p:spPr>
          <a:xfrm>
            <a:off x="636805" y="640080"/>
            <a:ext cx="4809406" cy="3034857"/>
          </a:xfrm>
        </p:spPr>
        <p:txBody>
          <a:bodyPr anchor="b">
            <a:normAutofit/>
          </a:bodyPr>
          <a:lstStyle/>
          <a:p>
            <a:r>
              <a:rPr lang="es-CL" sz="4400" dirty="0">
                <a:solidFill>
                  <a:srgbClr val="A6E22E"/>
                </a:solidFill>
              </a:rPr>
              <a:t>IWI 131- Programación</a:t>
            </a:r>
          </a:p>
        </p:txBody>
      </p:sp>
      <p:sp>
        <p:nvSpPr>
          <p:cNvPr id="3" name="Subtítulo 2">
            <a:extLst>
              <a:ext uri="{FF2B5EF4-FFF2-40B4-BE49-F238E27FC236}">
                <a16:creationId xmlns:a16="http://schemas.microsoft.com/office/drawing/2014/main" id="{12541EAE-D840-1044-9E2E-6BCB100AF241}"/>
              </a:ext>
            </a:extLst>
          </p:cNvPr>
          <p:cNvSpPr>
            <a:spLocks noGrp="1"/>
          </p:cNvSpPr>
          <p:nvPr>
            <p:ph type="subTitle" idx="1"/>
          </p:nvPr>
        </p:nvSpPr>
        <p:spPr>
          <a:xfrm>
            <a:off x="636806" y="3849539"/>
            <a:ext cx="4819340" cy="2367405"/>
          </a:xfrm>
        </p:spPr>
        <p:txBody>
          <a:bodyPr anchor="t">
            <a:normAutofit/>
          </a:bodyPr>
          <a:lstStyle/>
          <a:p>
            <a:pPr algn="r"/>
            <a:r>
              <a:rPr lang="es-CL" sz="4800" b="1" dirty="0">
                <a:solidFill>
                  <a:schemeClr val="bg1"/>
                </a:solidFill>
              </a:rPr>
              <a:t> </a:t>
            </a:r>
            <a:r>
              <a:rPr lang="es-CL" sz="4800" b="1" dirty="0">
                <a:solidFill>
                  <a:srgbClr val="FD971F"/>
                </a:solidFill>
              </a:rPr>
              <a:t>Ayudantía 4</a:t>
            </a:r>
          </a:p>
          <a:p>
            <a:pPr algn="r"/>
            <a:endParaRPr lang="es-CL" sz="4800" b="1" dirty="0">
              <a:solidFill>
                <a:srgbClr val="FD971F"/>
              </a:solidFill>
            </a:endParaRPr>
          </a:p>
        </p:txBody>
      </p:sp>
      <p:cxnSp>
        <p:nvCxnSpPr>
          <p:cNvPr id="52" name="Straight Connector 46">
            <a:extLst>
              <a:ext uri="{FF2B5EF4-FFF2-40B4-BE49-F238E27FC236}">
                <a16:creationId xmlns:a16="http://schemas.microsoft.com/office/drawing/2014/main" id="{73741D5B-1709-4CDB-963A-CC3C749412B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0698" y="3765314"/>
            <a:ext cx="4754880" cy="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Imagen 4">
            <a:extLst>
              <a:ext uri="{FF2B5EF4-FFF2-40B4-BE49-F238E27FC236}">
                <a16:creationId xmlns:a16="http://schemas.microsoft.com/office/drawing/2014/main" id="{B92C8723-CC91-E04D-9503-EA3C2107EEC8}"/>
              </a:ext>
            </a:extLst>
          </p:cNvPr>
          <p:cNvPicPr>
            <a:picLocks noChangeAspect="1"/>
          </p:cNvPicPr>
          <p:nvPr/>
        </p:nvPicPr>
        <p:blipFill>
          <a:blip r:embed="rId3"/>
          <a:stretch>
            <a:fillRect/>
          </a:stretch>
        </p:blipFill>
        <p:spPr>
          <a:xfrm>
            <a:off x="6092952" y="713651"/>
            <a:ext cx="5458968" cy="5431673"/>
          </a:xfrm>
          <a:prstGeom prst="rect">
            <a:avLst/>
          </a:prstGeom>
        </p:spPr>
      </p:pic>
      <p:sp>
        <p:nvSpPr>
          <p:cNvPr id="7" name="CuadroTexto 6">
            <a:extLst>
              <a:ext uri="{FF2B5EF4-FFF2-40B4-BE49-F238E27FC236}">
                <a16:creationId xmlns:a16="http://schemas.microsoft.com/office/drawing/2014/main" id="{018DC0F8-FEB1-CB46-BEDA-051EFAAFB367}"/>
              </a:ext>
            </a:extLst>
          </p:cNvPr>
          <p:cNvSpPr txBox="1"/>
          <p:nvPr/>
        </p:nvSpPr>
        <p:spPr>
          <a:xfrm>
            <a:off x="1432740" y="4737466"/>
            <a:ext cx="4013471" cy="1200329"/>
          </a:xfrm>
          <a:prstGeom prst="rect">
            <a:avLst/>
          </a:prstGeom>
          <a:noFill/>
        </p:spPr>
        <p:txBody>
          <a:bodyPr wrap="none" rtlCol="0">
            <a:spAutoFit/>
          </a:bodyPr>
          <a:lstStyle/>
          <a:p>
            <a:pPr algn="r"/>
            <a:r>
              <a:rPr lang="es-CL" sz="2400" dirty="0">
                <a:solidFill>
                  <a:srgbClr val="66D9EF"/>
                </a:solidFill>
              </a:rPr>
              <a:t>Ayudante: Anastasiia Fedorova</a:t>
            </a:r>
          </a:p>
          <a:p>
            <a:pPr algn="r"/>
            <a:r>
              <a:rPr lang="es-CL" sz="2400" dirty="0">
                <a:solidFill>
                  <a:srgbClr val="66D9EF"/>
                </a:solidFill>
              </a:rPr>
              <a:t>Paralelo: 212</a:t>
            </a:r>
          </a:p>
          <a:p>
            <a:pPr algn="r"/>
            <a:r>
              <a:rPr lang="es-CL" sz="2400" dirty="0">
                <a:solidFill>
                  <a:srgbClr val="66D9EF"/>
                </a:solidFill>
              </a:rPr>
              <a:t>Fecha: 29.04.2020</a:t>
            </a:r>
          </a:p>
        </p:txBody>
      </p:sp>
      <p:pic>
        <p:nvPicPr>
          <p:cNvPr id="8" name="Imagen 7">
            <a:extLst>
              <a:ext uri="{FF2B5EF4-FFF2-40B4-BE49-F238E27FC236}">
                <a16:creationId xmlns:a16="http://schemas.microsoft.com/office/drawing/2014/main" id="{F8D300A6-4E08-8947-92F8-EF6DB8F93BCC}"/>
              </a:ext>
            </a:extLst>
          </p:cNvPr>
          <p:cNvPicPr>
            <a:picLocks noChangeAspect="1"/>
          </p:cNvPicPr>
          <p:nvPr/>
        </p:nvPicPr>
        <p:blipFill rotWithShape="1">
          <a:blip r:embed="rId4">
            <a:duotone>
              <a:schemeClr val="accent3">
                <a:shade val="45000"/>
                <a:satMod val="135000"/>
              </a:schemeClr>
              <a:prstClr val="white"/>
            </a:duotone>
            <a:extLst>
              <a:ext uri="{BEBA8EAE-BF5A-486C-A8C5-ECC9F3942E4B}">
                <a14:imgProps xmlns:a14="http://schemas.microsoft.com/office/drawing/2010/main">
                  <a14:imgLayer r:embed="rId5">
                    <a14:imgEffect>
                      <a14:colorTemperature colorTemp="7052"/>
                    </a14:imgEffect>
                    <a14:imgEffect>
                      <a14:saturation sat="322000"/>
                    </a14:imgEffect>
                  </a14:imgLayer>
                </a14:imgProps>
              </a:ext>
            </a:extLst>
          </a:blip>
          <a:srcRect/>
          <a:stretch/>
        </p:blipFill>
        <p:spPr>
          <a:xfrm>
            <a:off x="6717698" y="1324263"/>
            <a:ext cx="4209473" cy="4209473"/>
          </a:xfrm>
          <a:prstGeom prst="rect">
            <a:avLst/>
          </a:prstGeom>
        </p:spPr>
      </p:pic>
    </p:spTree>
    <p:extLst>
      <p:ext uri="{BB962C8B-B14F-4D97-AF65-F5344CB8AC3E}">
        <p14:creationId xmlns:p14="http://schemas.microsoft.com/office/powerpoint/2010/main" val="4200168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066ABA-974B-A34E-922A-5F284FBC683A}"/>
              </a:ext>
            </a:extLst>
          </p:cNvPr>
          <p:cNvSpPr>
            <a:spLocks noGrp="1"/>
          </p:cNvSpPr>
          <p:nvPr>
            <p:ph type="title"/>
          </p:nvPr>
        </p:nvSpPr>
        <p:spPr>
          <a:xfrm>
            <a:off x="1024127" y="585216"/>
            <a:ext cx="10702637" cy="1479111"/>
          </a:xfrm>
        </p:spPr>
        <p:txBody>
          <a:bodyPr/>
          <a:lstStyle/>
          <a:p>
            <a:r>
              <a:rPr lang="es-CL" dirty="0">
                <a:solidFill>
                  <a:srgbClr val="66D9EF"/>
                </a:solidFill>
              </a:rPr>
              <a:t>¿Qué Son los Ciclos? Repeticiones en python</a:t>
            </a:r>
          </a:p>
        </p:txBody>
      </p:sp>
      <p:pic>
        <p:nvPicPr>
          <p:cNvPr id="5" name="Imagen 4">
            <a:extLst>
              <a:ext uri="{FF2B5EF4-FFF2-40B4-BE49-F238E27FC236}">
                <a16:creationId xmlns:a16="http://schemas.microsoft.com/office/drawing/2014/main" id="{026A18EE-DACF-1C45-8060-9D5A59E137E6}"/>
              </a:ext>
            </a:extLst>
          </p:cNvPr>
          <p:cNvPicPr>
            <a:picLocks noChangeAspect="1"/>
          </p:cNvPicPr>
          <p:nvPr/>
        </p:nvPicPr>
        <p:blipFill>
          <a:blip r:embed="rId2"/>
          <a:stretch>
            <a:fillRect/>
          </a:stretch>
        </p:blipFill>
        <p:spPr>
          <a:xfrm>
            <a:off x="465235" y="1963608"/>
            <a:ext cx="7785240" cy="1618835"/>
          </a:xfrm>
          <a:prstGeom prst="rect">
            <a:avLst/>
          </a:prstGeom>
        </p:spPr>
      </p:pic>
      <p:pic>
        <p:nvPicPr>
          <p:cNvPr id="7" name="Imagen 6">
            <a:extLst>
              <a:ext uri="{FF2B5EF4-FFF2-40B4-BE49-F238E27FC236}">
                <a16:creationId xmlns:a16="http://schemas.microsoft.com/office/drawing/2014/main" id="{1D26219D-957B-2047-837D-D9BAD3158D61}"/>
              </a:ext>
            </a:extLst>
          </p:cNvPr>
          <p:cNvPicPr>
            <a:picLocks noChangeAspect="1"/>
          </p:cNvPicPr>
          <p:nvPr/>
        </p:nvPicPr>
        <p:blipFill>
          <a:blip r:embed="rId3"/>
          <a:stretch>
            <a:fillRect/>
          </a:stretch>
        </p:blipFill>
        <p:spPr>
          <a:xfrm>
            <a:off x="8486002" y="3035024"/>
            <a:ext cx="3476290" cy="3476290"/>
          </a:xfrm>
          <a:prstGeom prst="rect">
            <a:avLst/>
          </a:prstGeom>
        </p:spPr>
      </p:pic>
      <p:pic>
        <p:nvPicPr>
          <p:cNvPr id="8" name="Imagen 7">
            <a:extLst>
              <a:ext uri="{FF2B5EF4-FFF2-40B4-BE49-F238E27FC236}">
                <a16:creationId xmlns:a16="http://schemas.microsoft.com/office/drawing/2014/main" id="{43578E1D-BECB-8740-860E-DFD66D9F5C29}"/>
              </a:ext>
            </a:extLst>
          </p:cNvPr>
          <p:cNvPicPr>
            <a:picLocks noChangeAspect="1"/>
          </p:cNvPicPr>
          <p:nvPr/>
        </p:nvPicPr>
        <p:blipFill>
          <a:blip r:embed="rId4"/>
          <a:stretch>
            <a:fillRect/>
          </a:stretch>
        </p:blipFill>
        <p:spPr>
          <a:xfrm rot="12976859" flipV="1">
            <a:off x="-80163" y="3280492"/>
            <a:ext cx="1593378" cy="1402173"/>
          </a:xfrm>
          <a:prstGeom prst="rect">
            <a:avLst/>
          </a:prstGeom>
        </p:spPr>
      </p:pic>
      <p:sp>
        <p:nvSpPr>
          <p:cNvPr id="9" name="Marcador de contenido 2">
            <a:extLst>
              <a:ext uri="{FF2B5EF4-FFF2-40B4-BE49-F238E27FC236}">
                <a16:creationId xmlns:a16="http://schemas.microsoft.com/office/drawing/2014/main" id="{6E6CF0D2-357B-4446-8199-941E92FA3536}"/>
              </a:ext>
            </a:extLst>
          </p:cNvPr>
          <p:cNvSpPr>
            <a:spLocks noGrp="1"/>
          </p:cNvSpPr>
          <p:nvPr>
            <p:ph idx="1"/>
          </p:nvPr>
        </p:nvSpPr>
        <p:spPr>
          <a:xfrm>
            <a:off x="1485900" y="4170219"/>
            <a:ext cx="6764575" cy="2466108"/>
          </a:xfrm>
        </p:spPr>
        <p:txBody>
          <a:bodyPr>
            <a:normAutofit fontScale="85000" lnSpcReduction="10000"/>
          </a:bodyPr>
          <a:lstStyle/>
          <a:p>
            <a:pPr marL="0" indent="0" algn="ctr">
              <a:buNone/>
            </a:pPr>
            <a:r>
              <a:rPr lang="es-CL" sz="3300" dirty="0">
                <a:solidFill>
                  <a:schemeClr val="bg1"/>
                </a:solidFill>
              </a:rPr>
              <a:t>En Python, por ahora utilizaremos solamente el bucle </a:t>
            </a:r>
            <a:r>
              <a:rPr lang="es-CL" sz="3300" dirty="0">
                <a:solidFill>
                  <a:schemeClr val="bg1"/>
                </a:solidFill>
                <a:latin typeface="PT Mono" panose="02060509020205020204" pitchFamily="49" charset="77"/>
              </a:rPr>
              <a:t>while</a:t>
            </a:r>
            <a:r>
              <a:rPr lang="es-CL" sz="3300" dirty="0">
                <a:solidFill>
                  <a:schemeClr val="bg1"/>
                </a:solidFill>
              </a:rPr>
              <a:t>, ”ejecutar mientras que...”.</a:t>
            </a:r>
          </a:p>
          <a:p>
            <a:pPr marL="0" indent="0" algn="ctr">
              <a:buNone/>
            </a:pPr>
            <a:r>
              <a:rPr lang="es-CL" sz="3300" dirty="0">
                <a:solidFill>
                  <a:schemeClr val="bg1"/>
                </a:solidFill>
              </a:rPr>
              <a:t>El ciclo </a:t>
            </a:r>
            <a:r>
              <a:rPr lang="es-CL" sz="3300" dirty="0">
                <a:solidFill>
                  <a:schemeClr val="bg1"/>
                </a:solidFill>
                <a:latin typeface="PT Mono" panose="02060509020205020204" pitchFamily="49" charset="77"/>
              </a:rPr>
              <a:t>for</a:t>
            </a:r>
            <a:r>
              <a:rPr lang="es-CL" sz="3300" dirty="0">
                <a:solidFill>
                  <a:schemeClr val="bg1"/>
                </a:solidFill>
              </a:rPr>
              <a:t> tiene el comportamiento parecido a </a:t>
            </a:r>
            <a:r>
              <a:rPr lang="es-CL" sz="3300" dirty="0">
                <a:solidFill>
                  <a:schemeClr val="bg1"/>
                </a:solidFill>
                <a:latin typeface="PT Mono" panose="02060509020205020204" pitchFamily="49" charset="77"/>
              </a:rPr>
              <a:t>while</a:t>
            </a:r>
            <a:r>
              <a:rPr lang="es-CL" sz="3300" dirty="0">
                <a:solidFill>
                  <a:schemeClr val="bg1"/>
                </a:solidFill>
              </a:rPr>
              <a:t> (o </a:t>
            </a:r>
            <a:r>
              <a:rPr lang="es-CL" sz="3300" dirty="0">
                <a:solidFill>
                  <a:schemeClr val="bg1"/>
                </a:solidFill>
                <a:latin typeface="PT Mono" panose="02060509020205020204" pitchFamily="49" charset="77"/>
              </a:rPr>
              <a:t>while</a:t>
            </a:r>
            <a:r>
              <a:rPr lang="es-CL" sz="3300" dirty="0">
                <a:solidFill>
                  <a:schemeClr val="bg1"/>
                </a:solidFill>
              </a:rPr>
              <a:t> a </a:t>
            </a:r>
            <a:r>
              <a:rPr lang="es-CL" sz="3300" dirty="0">
                <a:solidFill>
                  <a:schemeClr val="bg1"/>
                </a:solidFill>
                <a:latin typeface="PT Mono" panose="02060509020205020204" pitchFamily="49" charset="77"/>
              </a:rPr>
              <a:t>for</a:t>
            </a:r>
            <a:r>
              <a:rPr lang="es-CL" sz="3300" dirty="0">
                <a:solidFill>
                  <a:schemeClr val="bg1"/>
                </a:solidFill>
              </a:rPr>
              <a:t>), pero a veces conviene usar </a:t>
            </a:r>
            <a:r>
              <a:rPr lang="es-CL" sz="3300" dirty="0">
                <a:solidFill>
                  <a:schemeClr val="bg1"/>
                </a:solidFill>
                <a:latin typeface="PT Mono" panose="02060509020205020204" pitchFamily="49" charset="77"/>
              </a:rPr>
              <a:t>while</a:t>
            </a:r>
            <a:r>
              <a:rPr lang="es-CL" sz="3300" dirty="0">
                <a:solidFill>
                  <a:schemeClr val="bg1"/>
                </a:solidFill>
              </a:rPr>
              <a:t> en vez de </a:t>
            </a:r>
            <a:r>
              <a:rPr lang="es-CL" sz="3300" dirty="0">
                <a:solidFill>
                  <a:schemeClr val="bg1"/>
                </a:solidFill>
                <a:latin typeface="PT Mono" panose="02060509020205020204" pitchFamily="49" charset="77"/>
              </a:rPr>
              <a:t>for</a:t>
            </a:r>
            <a:r>
              <a:rPr lang="es-CL" sz="3300" dirty="0">
                <a:solidFill>
                  <a:schemeClr val="bg1"/>
                </a:solidFill>
              </a:rPr>
              <a:t> y en otras ocasiones – </a:t>
            </a:r>
            <a:r>
              <a:rPr lang="es-CL" sz="3300" dirty="0">
                <a:solidFill>
                  <a:schemeClr val="bg1"/>
                </a:solidFill>
                <a:latin typeface="PT Mono" panose="02060509020205020204" pitchFamily="49" charset="77"/>
              </a:rPr>
              <a:t>for</a:t>
            </a:r>
            <a:r>
              <a:rPr lang="es-CL" sz="3300" dirty="0">
                <a:solidFill>
                  <a:schemeClr val="bg1"/>
                </a:solidFill>
              </a:rPr>
              <a:t>, en vez de </a:t>
            </a:r>
            <a:r>
              <a:rPr lang="es-CL" sz="3300" dirty="0">
                <a:solidFill>
                  <a:schemeClr val="bg1"/>
                </a:solidFill>
                <a:latin typeface="PT Mono" panose="02060509020205020204" pitchFamily="49" charset="77"/>
              </a:rPr>
              <a:t>while</a:t>
            </a:r>
            <a:r>
              <a:rPr lang="es-CL" sz="3300" dirty="0">
                <a:solidFill>
                  <a:schemeClr val="bg1"/>
                </a:solidFill>
              </a:rPr>
              <a:t>.</a:t>
            </a:r>
          </a:p>
          <a:p>
            <a:endParaRPr lang="es-CL" sz="1800" dirty="0"/>
          </a:p>
        </p:txBody>
      </p:sp>
    </p:spTree>
    <p:extLst>
      <p:ext uri="{BB962C8B-B14F-4D97-AF65-F5344CB8AC3E}">
        <p14:creationId xmlns:p14="http://schemas.microsoft.com/office/powerpoint/2010/main" val="17652932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E5B1BE-7580-9C43-8A9C-276B2BA1FCE2}"/>
              </a:ext>
            </a:extLst>
          </p:cNvPr>
          <p:cNvSpPr>
            <a:spLocks noGrp="1"/>
          </p:cNvSpPr>
          <p:nvPr>
            <p:ph type="title"/>
          </p:nvPr>
        </p:nvSpPr>
        <p:spPr/>
        <p:txBody>
          <a:bodyPr/>
          <a:lstStyle/>
          <a:p>
            <a:r>
              <a:rPr lang="es-CL" dirty="0">
                <a:solidFill>
                  <a:srgbClr val="66D9EF"/>
                </a:solidFill>
              </a:rPr>
              <a:t>Bucle while</a:t>
            </a:r>
          </a:p>
        </p:txBody>
      </p:sp>
      <p:sp>
        <p:nvSpPr>
          <p:cNvPr id="3" name="Marcador de contenido 2">
            <a:extLst>
              <a:ext uri="{FF2B5EF4-FFF2-40B4-BE49-F238E27FC236}">
                <a16:creationId xmlns:a16="http://schemas.microsoft.com/office/drawing/2014/main" id="{24B6EAA2-A960-8140-80AD-595D93386F83}"/>
              </a:ext>
            </a:extLst>
          </p:cNvPr>
          <p:cNvSpPr>
            <a:spLocks noGrp="1"/>
          </p:cNvSpPr>
          <p:nvPr>
            <p:ph idx="1"/>
          </p:nvPr>
        </p:nvSpPr>
        <p:spPr>
          <a:xfrm>
            <a:off x="691620" y="2084832"/>
            <a:ext cx="5071871" cy="4066033"/>
          </a:xfrm>
        </p:spPr>
        <p:txBody>
          <a:bodyPr>
            <a:normAutofit/>
          </a:bodyPr>
          <a:lstStyle/>
          <a:p>
            <a:pPr marL="0" indent="0" algn="ctr">
              <a:buNone/>
            </a:pPr>
            <a:r>
              <a:rPr lang="es-CL" sz="2800" dirty="0">
                <a:solidFill>
                  <a:schemeClr val="bg1"/>
                </a:solidFill>
              </a:rPr>
              <a:t>Un bucle while permite repetir la ejecución de instrucciones mientras se cumpla una condición (es decir, mientras la condición tenga el valor True).</a:t>
            </a:r>
          </a:p>
          <a:p>
            <a:pPr marL="0" indent="0" algn="ctr">
              <a:buNone/>
            </a:pPr>
            <a:r>
              <a:rPr lang="es-CL" sz="2800" dirty="0">
                <a:solidFill>
                  <a:schemeClr val="bg1"/>
                </a:solidFill>
              </a:rPr>
              <a:t>La sintaxis del while es:</a:t>
            </a:r>
          </a:p>
          <a:p>
            <a:pPr marL="0" indent="0" algn="ctr">
              <a:buNone/>
            </a:pPr>
            <a:endParaRPr lang="es-CL" sz="2800" dirty="0">
              <a:solidFill>
                <a:schemeClr val="bg1"/>
              </a:solidFill>
            </a:endParaRPr>
          </a:p>
          <a:p>
            <a:endParaRPr lang="es-CL" dirty="0"/>
          </a:p>
        </p:txBody>
      </p:sp>
      <p:pic>
        <p:nvPicPr>
          <p:cNvPr id="5" name="Imagen 4">
            <a:extLst>
              <a:ext uri="{FF2B5EF4-FFF2-40B4-BE49-F238E27FC236}">
                <a16:creationId xmlns:a16="http://schemas.microsoft.com/office/drawing/2014/main" id="{D3037E0E-9440-7248-8614-03A00D778925}"/>
              </a:ext>
            </a:extLst>
          </p:cNvPr>
          <p:cNvPicPr>
            <a:picLocks noChangeAspect="1"/>
          </p:cNvPicPr>
          <p:nvPr/>
        </p:nvPicPr>
        <p:blipFill>
          <a:blip r:embed="rId2"/>
          <a:stretch>
            <a:fillRect/>
          </a:stretch>
        </p:blipFill>
        <p:spPr>
          <a:xfrm>
            <a:off x="7537980" y="443346"/>
            <a:ext cx="3962400" cy="5334000"/>
          </a:xfrm>
          <a:prstGeom prst="rect">
            <a:avLst/>
          </a:prstGeom>
        </p:spPr>
      </p:pic>
      <p:sp>
        <p:nvSpPr>
          <p:cNvPr id="6" name="CuadroTexto 5">
            <a:extLst>
              <a:ext uri="{FF2B5EF4-FFF2-40B4-BE49-F238E27FC236}">
                <a16:creationId xmlns:a16="http://schemas.microsoft.com/office/drawing/2014/main" id="{B8B86D8F-B8F4-A64F-89A0-25572B7ACB77}"/>
              </a:ext>
            </a:extLst>
          </p:cNvPr>
          <p:cNvSpPr txBox="1"/>
          <p:nvPr/>
        </p:nvSpPr>
        <p:spPr>
          <a:xfrm>
            <a:off x="8243455" y="5919216"/>
            <a:ext cx="3117272" cy="461665"/>
          </a:xfrm>
          <a:prstGeom prst="rect">
            <a:avLst/>
          </a:prstGeom>
          <a:noFill/>
        </p:spPr>
        <p:txBody>
          <a:bodyPr wrap="square" rtlCol="0">
            <a:spAutoFit/>
          </a:bodyPr>
          <a:lstStyle/>
          <a:p>
            <a:r>
              <a:rPr lang="es-CL" sz="2400" dirty="0">
                <a:solidFill>
                  <a:schemeClr val="bg1"/>
                </a:solidFill>
              </a:rPr>
              <a:t>Diagrama de flujo</a:t>
            </a:r>
          </a:p>
        </p:txBody>
      </p:sp>
      <p:sp>
        <p:nvSpPr>
          <p:cNvPr id="7" name="Rectángulo 6">
            <a:extLst>
              <a:ext uri="{FF2B5EF4-FFF2-40B4-BE49-F238E27FC236}">
                <a16:creationId xmlns:a16="http://schemas.microsoft.com/office/drawing/2014/main" id="{CD428F73-3D9A-B14E-925F-34A2C21CE831}"/>
              </a:ext>
            </a:extLst>
          </p:cNvPr>
          <p:cNvSpPr/>
          <p:nvPr/>
        </p:nvSpPr>
        <p:spPr>
          <a:xfrm>
            <a:off x="1731818" y="5124088"/>
            <a:ext cx="6096000" cy="646331"/>
          </a:xfrm>
          <a:prstGeom prst="rect">
            <a:avLst/>
          </a:prstGeom>
        </p:spPr>
        <p:txBody>
          <a:bodyPr>
            <a:spAutoFit/>
          </a:bodyPr>
          <a:lstStyle/>
          <a:p>
            <a:r>
              <a:rPr lang="es-CL" dirty="0">
                <a:solidFill>
                  <a:srgbClr val="75E0F2"/>
                </a:solidFill>
                <a:latin typeface="Monaco" pitchFamily="2" charset="0"/>
              </a:rPr>
              <a:t>while</a:t>
            </a:r>
            <a:r>
              <a:rPr lang="es-CL" dirty="0">
                <a:solidFill>
                  <a:srgbClr val="F9F9F5"/>
                </a:solidFill>
                <a:latin typeface="Monaco" pitchFamily="2" charset="0"/>
              </a:rPr>
              <a:t> condicion:</a:t>
            </a:r>
          </a:p>
          <a:p>
            <a:r>
              <a:rPr lang="es-CL" dirty="0">
                <a:solidFill>
                  <a:srgbClr val="F9F9F5"/>
                </a:solidFill>
                <a:latin typeface="Monaco" pitchFamily="2" charset="0"/>
              </a:rPr>
              <a:t>    </a:t>
            </a:r>
            <a:r>
              <a:rPr lang="es-CL" dirty="0">
                <a:solidFill>
                  <a:srgbClr val="888471"/>
                </a:solidFill>
                <a:latin typeface="Monaco" pitchFamily="2" charset="0"/>
              </a:rPr>
              <a:t>#codigo a ejecutar</a:t>
            </a:r>
            <a:endParaRPr lang="es-CL" dirty="0">
              <a:solidFill>
                <a:srgbClr val="888471"/>
              </a:solidFill>
              <a:effectLst/>
              <a:latin typeface="Monaco" pitchFamily="2" charset="0"/>
            </a:endParaRPr>
          </a:p>
        </p:txBody>
      </p:sp>
    </p:spTree>
    <p:extLst>
      <p:ext uri="{BB962C8B-B14F-4D97-AF65-F5344CB8AC3E}">
        <p14:creationId xmlns:p14="http://schemas.microsoft.com/office/powerpoint/2010/main" val="24601061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A5A4532-CD5E-1F4F-9ABF-1F0604766A37}"/>
              </a:ext>
            </a:extLst>
          </p:cNvPr>
          <p:cNvSpPr>
            <a:spLocks noGrp="1"/>
          </p:cNvSpPr>
          <p:nvPr>
            <p:ph type="title"/>
          </p:nvPr>
        </p:nvSpPr>
        <p:spPr/>
        <p:txBody>
          <a:bodyPr/>
          <a:lstStyle/>
          <a:p>
            <a:r>
              <a:rPr lang="es-CL" dirty="0">
                <a:solidFill>
                  <a:srgbClr val="66D9EF"/>
                </a:solidFill>
              </a:rPr>
              <a:t>Bucle while</a:t>
            </a:r>
            <a:endParaRPr lang="es-CL" dirty="0"/>
          </a:p>
        </p:txBody>
      </p:sp>
      <p:sp>
        <p:nvSpPr>
          <p:cNvPr id="3" name="Marcador de contenido 2">
            <a:extLst>
              <a:ext uri="{FF2B5EF4-FFF2-40B4-BE49-F238E27FC236}">
                <a16:creationId xmlns:a16="http://schemas.microsoft.com/office/drawing/2014/main" id="{0DAF84AB-094E-F346-976A-B9348D17C02B}"/>
              </a:ext>
            </a:extLst>
          </p:cNvPr>
          <p:cNvSpPr>
            <a:spLocks noGrp="1"/>
          </p:cNvSpPr>
          <p:nvPr>
            <p:ph idx="1"/>
          </p:nvPr>
        </p:nvSpPr>
        <p:spPr>
          <a:xfrm>
            <a:off x="1024128" y="1801091"/>
            <a:ext cx="5071872" cy="4023360"/>
          </a:xfrm>
        </p:spPr>
        <p:txBody>
          <a:bodyPr>
            <a:normAutofit/>
          </a:bodyPr>
          <a:lstStyle/>
          <a:p>
            <a:r>
              <a:rPr lang="es-CL" sz="2800" dirty="0">
                <a:solidFill>
                  <a:schemeClr val="bg1"/>
                </a:solidFill>
              </a:rPr>
              <a:t>La variable o las variables que aparezcan en la condición se llaman variables de control. Las variables de control se definen fuera del bucle y se cambian dentro de este.</a:t>
            </a:r>
          </a:p>
          <a:p>
            <a:r>
              <a:rPr lang="es-CL" sz="2800" dirty="0">
                <a:solidFill>
                  <a:schemeClr val="bg1"/>
                </a:solidFill>
              </a:rPr>
              <a:t>Por ejemplo:</a:t>
            </a:r>
          </a:p>
        </p:txBody>
      </p:sp>
      <p:sp>
        <p:nvSpPr>
          <p:cNvPr id="4" name="Rectángulo 3">
            <a:extLst>
              <a:ext uri="{FF2B5EF4-FFF2-40B4-BE49-F238E27FC236}">
                <a16:creationId xmlns:a16="http://schemas.microsoft.com/office/drawing/2014/main" id="{4C757481-E6CC-434A-9832-2AA6880C0E05}"/>
              </a:ext>
            </a:extLst>
          </p:cNvPr>
          <p:cNvSpPr/>
          <p:nvPr/>
        </p:nvSpPr>
        <p:spPr>
          <a:xfrm>
            <a:off x="1024128" y="4773169"/>
            <a:ext cx="6096000" cy="1477328"/>
          </a:xfrm>
          <a:prstGeom prst="rect">
            <a:avLst/>
          </a:prstGeom>
        </p:spPr>
        <p:txBody>
          <a:bodyPr>
            <a:spAutoFit/>
          </a:bodyPr>
          <a:lstStyle/>
          <a:p>
            <a:r>
              <a:rPr lang="es-CL" dirty="0">
                <a:solidFill>
                  <a:srgbClr val="F9F9F5"/>
                </a:solidFill>
                <a:latin typeface="Monaco" pitchFamily="2" charset="0"/>
              </a:rPr>
              <a:t>n </a:t>
            </a:r>
            <a:r>
              <a:rPr lang="es-CL" dirty="0">
                <a:solidFill>
                  <a:srgbClr val="FD4485"/>
                </a:solidFill>
                <a:latin typeface="Monaco" pitchFamily="2" charset="0"/>
              </a:rPr>
              <a:t>=</a:t>
            </a:r>
            <a:r>
              <a:rPr lang="es-CL" dirty="0">
                <a:solidFill>
                  <a:srgbClr val="F9F9F5"/>
                </a:solidFill>
                <a:latin typeface="Monaco" pitchFamily="2" charset="0"/>
              </a:rPr>
              <a:t> </a:t>
            </a:r>
            <a:r>
              <a:rPr lang="es-CL" dirty="0">
                <a:solidFill>
                  <a:srgbClr val="BD99FF"/>
                </a:solidFill>
                <a:latin typeface="Monaco" pitchFamily="2" charset="0"/>
              </a:rPr>
              <a:t>10</a:t>
            </a:r>
            <a:endParaRPr lang="es-CL" dirty="0">
              <a:solidFill>
                <a:srgbClr val="F9F9F5"/>
              </a:solidFill>
              <a:latin typeface="Monaco" pitchFamily="2" charset="0"/>
            </a:endParaRPr>
          </a:p>
          <a:p>
            <a:r>
              <a:rPr lang="es-CL" dirty="0">
                <a:solidFill>
                  <a:srgbClr val="75E0F2"/>
                </a:solidFill>
                <a:latin typeface="Monaco" pitchFamily="2" charset="0"/>
              </a:rPr>
              <a:t>while</a:t>
            </a:r>
            <a:r>
              <a:rPr lang="es-CL" dirty="0">
                <a:solidFill>
                  <a:srgbClr val="F9F9F5"/>
                </a:solidFill>
                <a:latin typeface="Monaco" pitchFamily="2" charset="0"/>
              </a:rPr>
              <a:t>(n </a:t>
            </a:r>
            <a:r>
              <a:rPr lang="es-CL" dirty="0">
                <a:solidFill>
                  <a:srgbClr val="FD4485"/>
                </a:solidFill>
                <a:latin typeface="Monaco" pitchFamily="2" charset="0"/>
              </a:rPr>
              <a:t>&gt;</a:t>
            </a:r>
            <a:r>
              <a:rPr lang="es-CL" dirty="0">
                <a:solidFill>
                  <a:srgbClr val="F9F9F5"/>
                </a:solidFill>
                <a:latin typeface="Monaco" pitchFamily="2" charset="0"/>
              </a:rPr>
              <a:t> </a:t>
            </a:r>
            <a:r>
              <a:rPr lang="es-CL" dirty="0">
                <a:solidFill>
                  <a:srgbClr val="BD99FF"/>
                </a:solidFill>
                <a:latin typeface="Monaco" pitchFamily="2" charset="0"/>
              </a:rPr>
              <a:t>0</a:t>
            </a:r>
            <a:r>
              <a:rPr lang="es-CL" dirty="0">
                <a:solidFill>
                  <a:srgbClr val="F9F9F5"/>
                </a:solidFill>
                <a:latin typeface="Monaco" pitchFamily="2" charset="0"/>
              </a:rPr>
              <a:t>):</a:t>
            </a:r>
          </a:p>
          <a:p>
            <a:r>
              <a:rPr lang="es-CL" dirty="0">
                <a:solidFill>
                  <a:srgbClr val="F9F9F5"/>
                </a:solidFill>
                <a:latin typeface="Monaco" pitchFamily="2" charset="0"/>
              </a:rPr>
              <a:t>  </a:t>
            </a:r>
            <a:r>
              <a:rPr lang="es-CL" dirty="0">
                <a:solidFill>
                  <a:srgbClr val="888471"/>
                </a:solidFill>
                <a:latin typeface="Monaco" pitchFamily="2" charset="0"/>
              </a:rPr>
              <a:t>#hacer algo mientras n es mayor que 10</a:t>
            </a:r>
          </a:p>
          <a:p>
            <a:r>
              <a:rPr lang="es-CL" dirty="0">
                <a:solidFill>
                  <a:srgbClr val="F9F9F5"/>
                </a:solidFill>
                <a:latin typeface="Monaco" pitchFamily="2" charset="0"/>
              </a:rPr>
              <a:t>  </a:t>
            </a:r>
            <a:r>
              <a:rPr lang="es-CL" dirty="0">
                <a:solidFill>
                  <a:srgbClr val="888471"/>
                </a:solidFill>
                <a:latin typeface="Monaco" pitchFamily="2" charset="0"/>
              </a:rPr>
              <a:t>#una vez que n == 0, el ciclo termina</a:t>
            </a:r>
          </a:p>
          <a:p>
            <a:r>
              <a:rPr lang="es-CL" dirty="0">
                <a:solidFill>
                  <a:srgbClr val="F9F9F5"/>
                </a:solidFill>
                <a:latin typeface="Monaco" pitchFamily="2" charset="0"/>
              </a:rPr>
              <a:t>  n </a:t>
            </a:r>
            <a:r>
              <a:rPr lang="es-CL" dirty="0">
                <a:solidFill>
                  <a:srgbClr val="FD4485"/>
                </a:solidFill>
                <a:latin typeface="Monaco" pitchFamily="2" charset="0"/>
              </a:rPr>
              <a:t>-=</a:t>
            </a:r>
            <a:r>
              <a:rPr lang="es-CL" dirty="0">
                <a:solidFill>
                  <a:srgbClr val="F9F9F5"/>
                </a:solidFill>
                <a:latin typeface="Monaco" pitchFamily="2" charset="0"/>
              </a:rPr>
              <a:t> </a:t>
            </a:r>
            <a:r>
              <a:rPr lang="es-CL" dirty="0">
                <a:solidFill>
                  <a:srgbClr val="BD99FF"/>
                </a:solidFill>
                <a:latin typeface="Monaco" pitchFamily="2" charset="0"/>
              </a:rPr>
              <a:t>1</a:t>
            </a:r>
            <a:endParaRPr lang="es-CL" dirty="0">
              <a:solidFill>
                <a:srgbClr val="F9F9F5"/>
              </a:solidFill>
              <a:effectLst/>
              <a:latin typeface="Monaco" pitchFamily="2" charset="0"/>
            </a:endParaRPr>
          </a:p>
        </p:txBody>
      </p:sp>
      <p:pic>
        <p:nvPicPr>
          <p:cNvPr id="6" name="Imagen 5">
            <a:extLst>
              <a:ext uri="{FF2B5EF4-FFF2-40B4-BE49-F238E27FC236}">
                <a16:creationId xmlns:a16="http://schemas.microsoft.com/office/drawing/2014/main" id="{FB2989AA-4704-BA40-A309-DC610D30331D}"/>
              </a:ext>
            </a:extLst>
          </p:cNvPr>
          <p:cNvPicPr>
            <a:picLocks noChangeAspect="1"/>
          </p:cNvPicPr>
          <p:nvPr/>
        </p:nvPicPr>
        <p:blipFill>
          <a:blip r:embed="rId2"/>
          <a:stretch>
            <a:fillRect/>
          </a:stretch>
        </p:blipFill>
        <p:spPr>
          <a:xfrm>
            <a:off x="7715313" y="240515"/>
            <a:ext cx="3779253" cy="6032269"/>
          </a:xfrm>
          <a:prstGeom prst="rect">
            <a:avLst/>
          </a:prstGeom>
        </p:spPr>
      </p:pic>
      <p:sp>
        <p:nvSpPr>
          <p:cNvPr id="7" name="CuadroTexto 6">
            <a:extLst>
              <a:ext uri="{FF2B5EF4-FFF2-40B4-BE49-F238E27FC236}">
                <a16:creationId xmlns:a16="http://schemas.microsoft.com/office/drawing/2014/main" id="{E0A08E5D-D4B9-E64A-A40F-CD84DF0C1C30}"/>
              </a:ext>
            </a:extLst>
          </p:cNvPr>
          <p:cNvSpPr txBox="1"/>
          <p:nvPr/>
        </p:nvSpPr>
        <p:spPr>
          <a:xfrm>
            <a:off x="8377294" y="6272784"/>
            <a:ext cx="3117272" cy="461665"/>
          </a:xfrm>
          <a:prstGeom prst="rect">
            <a:avLst/>
          </a:prstGeom>
          <a:noFill/>
        </p:spPr>
        <p:txBody>
          <a:bodyPr wrap="square" rtlCol="0">
            <a:spAutoFit/>
          </a:bodyPr>
          <a:lstStyle/>
          <a:p>
            <a:r>
              <a:rPr lang="es-CL" sz="2400" dirty="0">
                <a:solidFill>
                  <a:schemeClr val="bg1"/>
                </a:solidFill>
              </a:rPr>
              <a:t>Diagrama de flujo</a:t>
            </a:r>
          </a:p>
        </p:txBody>
      </p:sp>
    </p:spTree>
    <p:extLst>
      <p:ext uri="{BB962C8B-B14F-4D97-AF65-F5344CB8AC3E}">
        <p14:creationId xmlns:p14="http://schemas.microsoft.com/office/powerpoint/2010/main" val="10740350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53FCBB-BCF8-D144-945E-B3AAF5F12F82}"/>
              </a:ext>
            </a:extLst>
          </p:cNvPr>
          <p:cNvSpPr>
            <a:spLocks noGrp="1"/>
          </p:cNvSpPr>
          <p:nvPr>
            <p:ph type="title"/>
          </p:nvPr>
        </p:nvSpPr>
        <p:spPr/>
        <p:txBody>
          <a:bodyPr/>
          <a:lstStyle/>
          <a:p>
            <a:r>
              <a:rPr lang="es-CL" dirty="0">
                <a:solidFill>
                  <a:srgbClr val="66D9EF"/>
                </a:solidFill>
              </a:rPr>
              <a:t>Bucle infinito</a:t>
            </a:r>
          </a:p>
        </p:txBody>
      </p:sp>
      <p:sp>
        <p:nvSpPr>
          <p:cNvPr id="3" name="Marcador de contenido 2">
            <a:extLst>
              <a:ext uri="{FF2B5EF4-FFF2-40B4-BE49-F238E27FC236}">
                <a16:creationId xmlns:a16="http://schemas.microsoft.com/office/drawing/2014/main" id="{C139719F-62F2-AF4A-9B9E-3BC3E68390A4}"/>
              </a:ext>
            </a:extLst>
          </p:cNvPr>
          <p:cNvSpPr>
            <a:spLocks noGrp="1"/>
          </p:cNvSpPr>
          <p:nvPr>
            <p:ph idx="1"/>
          </p:nvPr>
        </p:nvSpPr>
        <p:spPr>
          <a:xfrm>
            <a:off x="677764" y="2249424"/>
            <a:ext cx="9720073" cy="4023360"/>
          </a:xfrm>
        </p:spPr>
        <p:txBody>
          <a:bodyPr>
            <a:normAutofit/>
          </a:bodyPr>
          <a:lstStyle/>
          <a:p>
            <a:r>
              <a:rPr lang="es-CL" sz="2800" dirty="0">
                <a:solidFill>
                  <a:schemeClr val="bg1"/>
                </a:solidFill>
              </a:rPr>
              <a:t>Bucle infinito es un error que consiste en realizar un ciclo que se repite de forma indefinida ya que su condición de control siempre se evalua como True.</a:t>
            </a:r>
          </a:p>
          <a:p>
            <a:r>
              <a:rPr lang="es-CL" sz="2800" dirty="0">
                <a:solidFill>
                  <a:schemeClr val="bg1"/>
                </a:solidFill>
              </a:rPr>
              <a:t>Esto puede pasar si, por ejemplo, nunca cambio la variable de control:</a:t>
            </a:r>
          </a:p>
          <a:p>
            <a:endParaRPr lang="es-CL" sz="2800" dirty="0">
              <a:solidFill>
                <a:schemeClr val="bg1"/>
              </a:solidFill>
            </a:endParaRPr>
          </a:p>
          <a:p>
            <a:r>
              <a:rPr lang="es-CL" sz="2800" dirty="0">
                <a:solidFill>
                  <a:schemeClr val="bg1"/>
                </a:solidFill>
              </a:rPr>
              <a:t>O si corro un while, cuya condicion es siempre cierta:</a:t>
            </a:r>
          </a:p>
        </p:txBody>
      </p:sp>
      <p:pic>
        <p:nvPicPr>
          <p:cNvPr id="4" name="Imagen 3">
            <a:extLst>
              <a:ext uri="{FF2B5EF4-FFF2-40B4-BE49-F238E27FC236}">
                <a16:creationId xmlns:a16="http://schemas.microsoft.com/office/drawing/2014/main" id="{7B137A11-F431-8649-85EE-753B28C62AA6}"/>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2541" b="91884" l="10000" r="90000">
                        <a14:foregroundMark x1="54833" y1="13550" x2="48167" y2="4658"/>
                        <a14:foregroundMark x1="51000" y1="3246" x2="43833" y2="2611"/>
                        <a14:foregroundMark x1="45167" y1="91320" x2="49000" y2="89061"/>
                        <a14:foregroundMark x1="56667" y1="91884" x2="56167" y2="90685"/>
                      </a14:backgroundRemoval>
                    </a14:imgEffect>
                  </a14:imgLayer>
                </a14:imgProps>
              </a:ext>
            </a:extLst>
          </a:blip>
          <a:stretch>
            <a:fillRect/>
          </a:stretch>
        </p:blipFill>
        <p:spPr>
          <a:xfrm>
            <a:off x="9818358" y="0"/>
            <a:ext cx="3819224" cy="9013369"/>
          </a:xfrm>
          <a:prstGeom prst="rect">
            <a:avLst/>
          </a:prstGeom>
        </p:spPr>
      </p:pic>
      <p:sp>
        <p:nvSpPr>
          <p:cNvPr id="5" name="Rectángulo 4">
            <a:extLst>
              <a:ext uri="{FF2B5EF4-FFF2-40B4-BE49-F238E27FC236}">
                <a16:creationId xmlns:a16="http://schemas.microsoft.com/office/drawing/2014/main" id="{FEBCC12E-1A61-A945-B39D-4D6E6394F3C2}"/>
              </a:ext>
            </a:extLst>
          </p:cNvPr>
          <p:cNvSpPr/>
          <p:nvPr/>
        </p:nvSpPr>
        <p:spPr>
          <a:xfrm>
            <a:off x="3947437" y="4108150"/>
            <a:ext cx="6096000" cy="1200329"/>
          </a:xfrm>
          <a:prstGeom prst="rect">
            <a:avLst/>
          </a:prstGeom>
        </p:spPr>
        <p:txBody>
          <a:bodyPr>
            <a:spAutoFit/>
          </a:bodyPr>
          <a:lstStyle/>
          <a:p>
            <a:r>
              <a:rPr lang="es-CL" dirty="0">
                <a:solidFill>
                  <a:srgbClr val="F9F9F5"/>
                </a:solidFill>
                <a:latin typeface="Monaco" pitchFamily="2" charset="0"/>
              </a:rPr>
              <a:t>n </a:t>
            </a:r>
            <a:r>
              <a:rPr lang="es-CL" dirty="0">
                <a:solidFill>
                  <a:srgbClr val="FD4485"/>
                </a:solidFill>
                <a:latin typeface="Monaco" pitchFamily="2" charset="0"/>
              </a:rPr>
              <a:t>=</a:t>
            </a:r>
            <a:r>
              <a:rPr lang="es-CL" dirty="0">
                <a:solidFill>
                  <a:srgbClr val="F9F9F5"/>
                </a:solidFill>
                <a:latin typeface="Monaco" pitchFamily="2" charset="0"/>
              </a:rPr>
              <a:t> </a:t>
            </a:r>
            <a:r>
              <a:rPr lang="es-CL" dirty="0">
                <a:solidFill>
                  <a:srgbClr val="BD99FF"/>
                </a:solidFill>
                <a:latin typeface="Monaco" pitchFamily="2" charset="0"/>
              </a:rPr>
              <a:t>10</a:t>
            </a:r>
            <a:endParaRPr lang="es-CL" dirty="0">
              <a:solidFill>
                <a:srgbClr val="F9F9F5"/>
              </a:solidFill>
              <a:latin typeface="Monaco" pitchFamily="2" charset="0"/>
            </a:endParaRPr>
          </a:p>
          <a:p>
            <a:r>
              <a:rPr lang="es-CL" dirty="0">
                <a:solidFill>
                  <a:srgbClr val="75E0F2"/>
                </a:solidFill>
                <a:latin typeface="Monaco" pitchFamily="2" charset="0"/>
              </a:rPr>
              <a:t>while</a:t>
            </a:r>
            <a:r>
              <a:rPr lang="es-CL" dirty="0">
                <a:solidFill>
                  <a:srgbClr val="F9F9F5"/>
                </a:solidFill>
                <a:latin typeface="Monaco" pitchFamily="2" charset="0"/>
              </a:rPr>
              <a:t> n </a:t>
            </a:r>
            <a:r>
              <a:rPr lang="es-CL" dirty="0">
                <a:solidFill>
                  <a:srgbClr val="FD4485"/>
                </a:solidFill>
                <a:latin typeface="Monaco" pitchFamily="2" charset="0"/>
              </a:rPr>
              <a:t>&gt;</a:t>
            </a:r>
            <a:r>
              <a:rPr lang="es-CL" dirty="0">
                <a:solidFill>
                  <a:srgbClr val="F9F9F5"/>
                </a:solidFill>
                <a:latin typeface="Monaco" pitchFamily="2" charset="0"/>
              </a:rPr>
              <a:t> </a:t>
            </a:r>
            <a:r>
              <a:rPr lang="es-CL" dirty="0">
                <a:solidFill>
                  <a:srgbClr val="BD99FF"/>
                </a:solidFill>
                <a:latin typeface="Monaco" pitchFamily="2" charset="0"/>
              </a:rPr>
              <a:t>0</a:t>
            </a:r>
            <a:r>
              <a:rPr lang="es-CL" dirty="0">
                <a:solidFill>
                  <a:srgbClr val="F9F9F5"/>
                </a:solidFill>
                <a:latin typeface="Monaco" pitchFamily="2" charset="0"/>
              </a:rPr>
              <a:t>:</a:t>
            </a:r>
          </a:p>
          <a:p>
            <a:r>
              <a:rPr lang="es-CL" dirty="0">
                <a:solidFill>
                  <a:srgbClr val="F9F9F5"/>
                </a:solidFill>
                <a:latin typeface="Monaco" pitchFamily="2" charset="0"/>
              </a:rPr>
              <a:t>  </a:t>
            </a:r>
            <a:r>
              <a:rPr lang="es-CL" dirty="0">
                <a:solidFill>
                  <a:srgbClr val="888471"/>
                </a:solidFill>
                <a:latin typeface="Monaco" pitchFamily="2" charset="0"/>
              </a:rPr>
              <a:t>#codigo</a:t>
            </a:r>
          </a:p>
          <a:p>
            <a:r>
              <a:rPr lang="es-CL" dirty="0">
                <a:solidFill>
                  <a:srgbClr val="888471"/>
                </a:solidFill>
                <a:effectLst/>
                <a:latin typeface="Monaco" pitchFamily="2" charset="0"/>
              </a:rPr>
              <a:t>	</a:t>
            </a:r>
            <a:endParaRPr lang="es-CL" dirty="0">
              <a:solidFill>
                <a:srgbClr val="F9F9F5"/>
              </a:solidFill>
              <a:effectLst/>
              <a:latin typeface="Monaco" pitchFamily="2" charset="0"/>
            </a:endParaRPr>
          </a:p>
        </p:txBody>
      </p:sp>
      <p:sp>
        <p:nvSpPr>
          <p:cNvPr id="6" name="Rectángulo 5">
            <a:extLst>
              <a:ext uri="{FF2B5EF4-FFF2-40B4-BE49-F238E27FC236}">
                <a16:creationId xmlns:a16="http://schemas.microsoft.com/office/drawing/2014/main" id="{7FEE44C0-CFA0-FB4C-B33C-5C94BAD1D61D}"/>
              </a:ext>
            </a:extLst>
          </p:cNvPr>
          <p:cNvSpPr/>
          <p:nvPr/>
        </p:nvSpPr>
        <p:spPr>
          <a:xfrm>
            <a:off x="4109673" y="5811119"/>
            <a:ext cx="6096000" cy="923330"/>
          </a:xfrm>
          <a:prstGeom prst="rect">
            <a:avLst/>
          </a:prstGeom>
        </p:spPr>
        <p:txBody>
          <a:bodyPr>
            <a:spAutoFit/>
          </a:bodyPr>
          <a:lstStyle/>
          <a:p>
            <a:r>
              <a:rPr lang="es-CL" dirty="0">
                <a:solidFill>
                  <a:srgbClr val="75E0F2"/>
                </a:solidFill>
                <a:latin typeface="Monaco" pitchFamily="2" charset="0"/>
              </a:rPr>
              <a:t>while</a:t>
            </a:r>
            <a:r>
              <a:rPr lang="es-CL" dirty="0">
                <a:solidFill>
                  <a:srgbClr val="F9F9F5"/>
                </a:solidFill>
                <a:latin typeface="Monaco" pitchFamily="2" charset="0"/>
              </a:rPr>
              <a:t> 1:</a:t>
            </a:r>
          </a:p>
          <a:p>
            <a:r>
              <a:rPr lang="es-CL" dirty="0">
                <a:solidFill>
                  <a:srgbClr val="F9F9F5"/>
                </a:solidFill>
                <a:latin typeface="Monaco" pitchFamily="2" charset="0"/>
              </a:rPr>
              <a:t>  </a:t>
            </a:r>
            <a:r>
              <a:rPr lang="es-CL" dirty="0">
                <a:solidFill>
                  <a:srgbClr val="888471"/>
                </a:solidFill>
                <a:latin typeface="Monaco" pitchFamily="2" charset="0"/>
              </a:rPr>
              <a:t>#codigo</a:t>
            </a:r>
          </a:p>
          <a:p>
            <a:r>
              <a:rPr lang="es-CL" dirty="0">
                <a:solidFill>
                  <a:srgbClr val="888471"/>
                </a:solidFill>
                <a:effectLst/>
                <a:latin typeface="Monaco" pitchFamily="2" charset="0"/>
              </a:rPr>
              <a:t>	</a:t>
            </a:r>
            <a:endParaRPr lang="es-CL" dirty="0">
              <a:solidFill>
                <a:srgbClr val="F9F9F5"/>
              </a:solidFill>
              <a:effectLst/>
              <a:latin typeface="Monaco" pitchFamily="2" charset="0"/>
            </a:endParaRPr>
          </a:p>
        </p:txBody>
      </p:sp>
    </p:spTree>
    <p:extLst>
      <p:ext uri="{BB962C8B-B14F-4D97-AF65-F5344CB8AC3E}">
        <p14:creationId xmlns:p14="http://schemas.microsoft.com/office/powerpoint/2010/main" val="39390879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162D1F-BEC7-6F43-80A0-0070C9BFAB7C}"/>
              </a:ext>
            </a:extLst>
          </p:cNvPr>
          <p:cNvSpPr>
            <a:spLocks noGrp="1"/>
          </p:cNvSpPr>
          <p:nvPr>
            <p:ph type="title"/>
          </p:nvPr>
        </p:nvSpPr>
        <p:spPr>
          <a:xfrm>
            <a:off x="1024128" y="400119"/>
            <a:ext cx="9720072" cy="1499616"/>
          </a:xfrm>
        </p:spPr>
        <p:txBody>
          <a:bodyPr/>
          <a:lstStyle/>
          <a:p>
            <a:r>
              <a:rPr lang="es-CL" dirty="0">
                <a:solidFill>
                  <a:srgbClr val="66D9EF"/>
                </a:solidFill>
              </a:rPr>
              <a:t>Ejemplos</a:t>
            </a:r>
          </a:p>
        </p:txBody>
      </p:sp>
      <p:sp>
        <p:nvSpPr>
          <p:cNvPr id="3" name="Marcador de contenido 2">
            <a:extLst>
              <a:ext uri="{FF2B5EF4-FFF2-40B4-BE49-F238E27FC236}">
                <a16:creationId xmlns:a16="http://schemas.microsoft.com/office/drawing/2014/main" id="{85EEC988-781B-144C-A330-EC845CC688BB}"/>
              </a:ext>
            </a:extLst>
          </p:cNvPr>
          <p:cNvSpPr>
            <a:spLocks noGrp="1"/>
          </p:cNvSpPr>
          <p:nvPr>
            <p:ph idx="1"/>
          </p:nvPr>
        </p:nvSpPr>
        <p:spPr>
          <a:xfrm>
            <a:off x="936290" y="1482546"/>
            <a:ext cx="10231582" cy="3954288"/>
          </a:xfrm>
        </p:spPr>
        <p:txBody>
          <a:bodyPr>
            <a:normAutofit/>
          </a:bodyPr>
          <a:lstStyle/>
          <a:p>
            <a:r>
              <a:rPr lang="es-CL" sz="2800" dirty="0">
                <a:solidFill>
                  <a:schemeClr val="bg1"/>
                </a:solidFill>
              </a:rPr>
              <a:t>Podemos utilizar el loop controlado para conseguir, por ejemplo, recepción continua de input, hasta que la condición impuesta a while se vuelva False.</a:t>
            </a:r>
          </a:p>
          <a:p>
            <a:r>
              <a:rPr lang="es-CL" sz="2800" dirty="0">
                <a:solidFill>
                  <a:schemeClr val="bg1"/>
                </a:solidFill>
              </a:rPr>
              <a:t>Por ejemplo, podemos pedir dígitos a un usuario, pero terminar el programa una vez que este ingrese un carácter cualquiera o algo de largo 1, que no sea un entero entre 0 y 9.</a:t>
            </a:r>
          </a:p>
          <a:p>
            <a:endParaRPr lang="es-CL" sz="2800" dirty="0">
              <a:solidFill>
                <a:schemeClr val="bg1"/>
              </a:solidFill>
            </a:endParaRPr>
          </a:p>
        </p:txBody>
      </p:sp>
      <p:pic>
        <p:nvPicPr>
          <p:cNvPr id="4" name="Imagen 3">
            <a:extLst>
              <a:ext uri="{FF2B5EF4-FFF2-40B4-BE49-F238E27FC236}">
                <a16:creationId xmlns:a16="http://schemas.microsoft.com/office/drawing/2014/main" id="{D60E3343-7476-414B-85C9-02EDAD5CA1D3}"/>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2541" b="91884" l="10000" r="90000">
                        <a14:foregroundMark x1="54833" y1="13550" x2="48167" y2="4658"/>
                        <a14:foregroundMark x1="51000" y1="3246" x2="43833" y2="2611"/>
                        <a14:foregroundMark x1="45167" y1="91320" x2="49000" y2="89061"/>
                        <a14:foregroundMark x1="56667" y1="91884" x2="56167" y2="90685"/>
                      </a14:backgroundRemoval>
                    </a14:imgEffect>
                  </a14:imgLayer>
                </a14:imgProps>
              </a:ext>
            </a:extLst>
          </a:blip>
          <a:stretch>
            <a:fillRect/>
          </a:stretch>
        </p:blipFill>
        <p:spPr>
          <a:xfrm>
            <a:off x="9785940" y="-748146"/>
            <a:ext cx="3819224" cy="9013369"/>
          </a:xfrm>
          <a:prstGeom prst="rect">
            <a:avLst/>
          </a:prstGeom>
        </p:spPr>
      </p:pic>
      <p:sp>
        <p:nvSpPr>
          <p:cNvPr id="5" name="Rectángulo 4">
            <a:extLst>
              <a:ext uri="{FF2B5EF4-FFF2-40B4-BE49-F238E27FC236}">
                <a16:creationId xmlns:a16="http://schemas.microsoft.com/office/drawing/2014/main" id="{DADAB9A7-E711-234C-9B9F-004252B81A68}"/>
              </a:ext>
            </a:extLst>
          </p:cNvPr>
          <p:cNvSpPr/>
          <p:nvPr/>
        </p:nvSpPr>
        <p:spPr>
          <a:xfrm>
            <a:off x="1134964" y="4254409"/>
            <a:ext cx="9255945" cy="2308324"/>
          </a:xfrm>
          <a:prstGeom prst="rect">
            <a:avLst/>
          </a:prstGeom>
        </p:spPr>
        <p:txBody>
          <a:bodyPr wrap="square">
            <a:spAutoFit/>
          </a:bodyPr>
          <a:lstStyle/>
          <a:p>
            <a:r>
              <a:rPr lang="es-CL" sz="1600" dirty="0">
                <a:solidFill>
                  <a:srgbClr val="F9F9F5"/>
                </a:solidFill>
                <a:latin typeface="Monaco" pitchFamily="2" charset="0"/>
              </a:rPr>
              <a:t>flag </a:t>
            </a:r>
            <a:r>
              <a:rPr lang="es-CL" sz="1600" dirty="0">
                <a:solidFill>
                  <a:srgbClr val="FD4485"/>
                </a:solidFill>
                <a:latin typeface="Monaco" pitchFamily="2" charset="0"/>
              </a:rPr>
              <a:t>=</a:t>
            </a:r>
            <a:r>
              <a:rPr lang="es-CL" sz="1600" dirty="0">
                <a:solidFill>
                  <a:srgbClr val="F9F9F5"/>
                </a:solidFill>
                <a:latin typeface="Monaco" pitchFamily="2" charset="0"/>
              </a:rPr>
              <a:t> True</a:t>
            </a:r>
          </a:p>
          <a:p>
            <a:r>
              <a:rPr lang="es-CL" sz="1600" dirty="0">
                <a:solidFill>
                  <a:srgbClr val="75E0F2"/>
                </a:solidFill>
                <a:latin typeface="Monaco" pitchFamily="2" charset="0"/>
              </a:rPr>
              <a:t>while</a:t>
            </a:r>
            <a:r>
              <a:rPr lang="es-CL" sz="1600" dirty="0">
                <a:solidFill>
                  <a:srgbClr val="F9F9F5"/>
                </a:solidFill>
                <a:latin typeface="Monaco" pitchFamily="2" charset="0"/>
              </a:rPr>
              <a:t> flag:</a:t>
            </a:r>
          </a:p>
          <a:p>
            <a:r>
              <a:rPr lang="es-CL" sz="1600" dirty="0">
                <a:solidFill>
                  <a:srgbClr val="F9F9F5"/>
                </a:solidFill>
                <a:latin typeface="Monaco" pitchFamily="2" charset="0"/>
              </a:rPr>
              <a:t>    </a:t>
            </a:r>
            <a:r>
              <a:rPr lang="es-CL" sz="1600" dirty="0">
                <a:solidFill>
                  <a:schemeClr val="bg1"/>
                </a:solidFill>
                <a:latin typeface="Monaco" pitchFamily="2" charset="0"/>
              </a:rPr>
              <a:t>i</a:t>
            </a:r>
            <a:r>
              <a:rPr lang="es-CL" sz="1600" dirty="0">
                <a:solidFill>
                  <a:srgbClr val="F9F9F5"/>
                </a:solidFill>
                <a:latin typeface="Monaco" pitchFamily="2" charset="0"/>
              </a:rPr>
              <a:t> </a:t>
            </a:r>
            <a:r>
              <a:rPr lang="es-CL" sz="1600" dirty="0">
                <a:solidFill>
                  <a:srgbClr val="FD4485"/>
                </a:solidFill>
                <a:latin typeface="Monaco" pitchFamily="2" charset="0"/>
              </a:rPr>
              <a:t>=</a:t>
            </a:r>
            <a:r>
              <a:rPr lang="es-CL" sz="1600" dirty="0">
                <a:solidFill>
                  <a:srgbClr val="F9F9F5"/>
                </a:solidFill>
                <a:latin typeface="Monaco" pitchFamily="2" charset="0"/>
              </a:rPr>
              <a:t> input(</a:t>
            </a:r>
            <a:r>
              <a:rPr lang="es-CL" sz="1600" dirty="0">
                <a:solidFill>
                  <a:srgbClr val="EBE087"/>
                </a:solidFill>
                <a:latin typeface="Monaco" pitchFamily="2" charset="0"/>
              </a:rPr>
              <a:t>"Ingrese un digito: "</a:t>
            </a:r>
            <a:r>
              <a:rPr lang="es-CL" sz="1600" dirty="0">
                <a:solidFill>
                  <a:srgbClr val="F9F9F5"/>
                </a:solidFill>
                <a:latin typeface="Monaco" pitchFamily="2" charset="0"/>
              </a:rPr>
              <a:t>)</a:t>
            </a:r>
            <a:endParaRPr lang="es-CL" sz="1600" dirty="0">
              <a:solidFill>
                <a:srgbClr val="EBE087"/>
              </a:solidFill>
              <a:latin typeface="Monaco" pitchFamily="2" charset="0"/>
            </a:endParaRPr>
          </a:p>
          <a:p>
            <a:r>
              <a:rPr lang="es-CL" sz="1600" dirty="0">
                <a:solidFill>
                  <a:srgbClr val="F9F9F5"/>
                </a:solidFill>
                <a:latin typeface="Monaco" pitchFamily="2" charset="0"/>
              </a:rPr>
              <a:t>    </a:t>
            </a:r>
            <a:r>
              <a:rPr lang="es-CL" sz="1600" dirty="0">
                <a:solidFill>
                  <a:srgbClr val="75E0F2"/>
                </a:solidFill>
                <a:latin typeface="Monaco" pitchFamily="2" charset="0"/>
              </a:rPr>
              <a:t>if</a:t>
            </a:r>
            <a:r>
              <a:rPr lang="es-CL" sz="1600" dirty="0">
                <a:solidFill>
                  <a:srgbClr val="F9F9F5"/>
                </a:solidFill>
                <a:latin typeface="Monaco" pitchFamily="2" charset="0"/>
              </a:rPr>
              <a:t> ord(</a:t>
            </a:r>
            <a:r>
              <a:rPr lang="es-CL" sz="1600" dirty="0">
                <a:solidFill>
                  <a:schemeClr val="bg1"/>
                </a:solidFill>
                <a:latin typeface="Monaco" pitchFamily="2" charset="0"/>
              </a:rPr>
              <a:t>i)</a:t>
            </a:r>
            <a:r>
              <a:rPr lang="es-CL" sz="1600" dirty="0">
                <a:solidFill>
                  <a:srgbClr val="F9F9F5"/>
                </a:solidFill>
                <a:latin typeface="Monaco" pitchFamily="2" charset="0"/>
              </a:rPr>
              <a:t> </a:t>
            </a:r>
            <a:r>
              <a:rPr lang="es-CL" sz="1600" dirty="0">
                <a:solidFill>
                  <a:srgbClr val="FD4485"/>
                </a:solidFill>
                <a:latin typeface="Monaco" pitchFamily="2" charset="0"/>
              </a:rPr>
              <a:t>&gt;=</a:t>
            </a:r>
            <a:r>
              <a:rPr lang="es-CL" sz="1600" dirty="0">
                <a:solidFill>
                  <a:srgbClr val="F9F9F5"/>
                </a:solidFill>
                <a:latin typeface="Monaco" pitchFamily="2" charset="0"/>
              </a:rPr>
              <a:t> </a:t>
            </a:r>
            <a:r>
              <a:rPr lang="es-CL" sz="1600" dirty="0">
                <a:solidFill>
                  <a:srgbClr val="BD99FF"/>
                </a:solidFill>
                <a:latin typeface="Monaco" pitchFamily="2" charset="0"/>
              </a:rPr>
              <a:t>48</a:t>
            </a:r>
            <a:r>
              <a:rPr lang="es-CL" sz="1600" dirty="0">
                <a:solidFill>
                  <a:srgbClr val="F9F9F5"/>
                </a:solidFill>
                <a:latin typeface="Monaco" pitchFamily="2" charset="0"/>
              </a:rPr>
              <a:t> </a:t>
            </a:r>
            <a:r>
              <a:rPr lang="es-CL" sz="1600" dirty="0">
                <a:solidFill>
                  <a:srgbClr val="FD4485"/>
                </a:solidFill>
                <a:latin typeface="Monaco" pitchFamily="2" charset="0"/>
              </a:rPr>
              <a:t>and</a:t>
            </a:r>
            <a:r>
              <a:rPr lang="es-CL" sz="1600" dirty="0">
                <a:solidFill>
                  <a:srgbClr val="F9F9F5"/>
                </a:solidFill>
                <a:latin typeface="Monaco" pitchFamily="2" charset="0"/>
              </a:rPr>
              <a:t> ord(</a:t>
            </a:r>
            <a:r>
              <a:rPr lang="es-CL" sz="1600" dirty="0">
                <a:solidFill>
                  <a:schemeClr val="bg1"/>
                </a:solidFill>
                <a:latin typeface="Monaco" pitchFamily="2" charset="0"/>
              </a:rPr>
              <a:t>i)</a:t>
            </a:r>
            <a:r>
              <a:rPr lang="es-CL" sz="1600" dirty="0">
                <a:solidFill>
                  <a:srgbClr val="F9F9F5"/>
                </a:solidFill>
                <a:latin typeface="Monaco" pitchFamily="2" charset="0"/>
              </a:rPr>
              <a:t> </a:t>
            </a:r>
            <a:r>
              <a:rPr lang="es-CL" sz="1600" dirty="0">
                <a:solidFill>
                  <a:srgbClr val="FD4485"/>
                </a:solidFill>
                <a:latin typeface="Monaco" pitchFamily="2" charset="0"/>
              </a:rPr>
              <a:t>&lt;=</a:t>
            </a:r>
            <a:r>
              <a:rPr lang="es-CL" sz="1600" dirty="0">
                <a:solidFill>
                  <a:srgbClr val="F9F9F5"/>
                </a:solidFill>
                <a:latin typeface="Monaco" pitchFamily="2" charset="0"/>
              </a:rPr>
              <a:t> </a:t>
            </a:r>
            <a:r>
              <a:rPr lang="es-CL" sz="1600" dirty="0">
                <a:solidFill>
                  <a:srgbClr val="BD99FF"/>
                </a:solidFill>
                <a:latin typeface="Monaco" pitchFamily="2" charset="0"/>
              </a:rPr>
              <a:t>57</a:t>
            </a:r>
            <a:r>
              <a:rPr lang="es-CL" sz="1600" dirty="0">
                <a:solidFill>
                  <a:srgbClr val="F9F9F5"/>
                </a:solidFill>
                <a:latin typeface="Monaco" pitchFamily="2" charset="0"/>
              </a:rPr>
              <a:t>:</a:t>
            </a:r>
          </a:p>
          <a:p>
            <a:r>
              <a:rPr lang="es-CL" sz="1600" dirty="0">
                <a:solidFill>
                  <a:srgbClr val="F9F9F5"/>
                </a:solidFill>
                <a:latin typeface="Monaco" pitchFamily="2" charset="0"/>
              </a:rPr>
              <a:t>        </a:t>
            </a:r>
            <a:r>
              <a:rPr lang="es-CL" sz="1600" dirty="0">
                <a:solidFill>
                  <a:schemeClr val="bg1"/>
                </a:solidFill>
                <a:latin typeface="Monaco" pitchFamily="2" charset="0"/>
              </a:rPr>
              <a:t>i</a:t>
            </a:r>
            <a:r>
              <a:rPr lang="es-CL" sz="1600" dirty="0">
                <a:solidFill>
                  <a:srgbClr val="F9F9F5"/>
                </a:solidFill>
                <a:latin typeface="Monaco" pitchFamily="2" charset="0"/>
              </a:rPr>
              <a:t> </a:t>
            </a:r>
            <a:r>
              <a:rPr lang="es-CL" sz="1600" dirty="0">
                <a:solidFill>
                  <a:srgbClr val="FD4485"/>
                </a:solidFill>
                <a:latin typeface="Monaco" pitchFamily="2" charset="0"/>
              </a:rPr>
              <a:t>=</a:t>
            </a:r>
            <a:r>
              <a:rPr lang="es-CL" sz="1600" dirty="0">
                <a:solidFill>
                  <a:srgbClr val="F9F9F5"/>
                </a:solidFill>
                <a:latin typeface="Monaco" pitchFamily="2" charset="0"/>
              </a:rPr>
              <a:t> int(</a:t>
            </a:r>
            <a:r>
              <a:rPr lang="es-CL" sz="1600" dirty="0">
                <a:solidFill>
                  <a:schemeClr val="bg1"/>
                </a:solidFill>
                <a:latin typeface="Monaco" pitchFamily="2" charset="0"/>
              </a:rPr>
              <a:t>i</a:t>
            </a:r>
            <a:r>
              <a:rPr lang="es-CL" sz="1600" dirty="0">
                <a:solidFill>
                  <a:srgbClr val="F9F9F5"/>
                </a:solidFill>
                <a:latin typeface="Monaco" pitchFamily="2" charset="0"/>
              </a:rPr>
              <a:t>)</a:t>
            </a:r>
          </a:p>
          <a:p>
            <a:r>
              <a:rPr lang="es-CL" sz="1600" dirty="0">
                <a:solidFill>
                  <a:srgbClr val="F9F9F5"/>
                </a:solidFill>
                <a:latin typeface="Monaco" pitchFamily="2" charset="0"/>
              </a:rPr>
              <a:t>        </a:t>
            </a:r>
            <a:r>
              <a:rPr lang="es-CL" sz="1600" dirty="0">
                <a:solidFill>
                  <a:srgbClr val="888471"/>
                </a:solidFill>
                <a:latin typeface="Monaco" pitchFamily="2" charset="0"/>
              </a:rPr>
              <a:t>#hacer algun calculo</a:t>
            </a:r>
          </a:p>
          <a:p>
            <a:r>
              <a:rPr lang="es-CL" sz="1600" dirty="0">
                <a:solidFill>
                  <a:srgbClr val="F9F9F5"/>
                </a:solidFill>
                <a:latin typeface="Monaco" pitchFamily="2" charset="0"/>
              </a:rPr>
              <a:t>    </a:t>
            </a:r>
            <a:r>
              <a:rPr lang="es-CL" sz="1600" dirty="0">
                <a:solidFill>
                  <a:srgbClr val="75E0F2"/>
                </a:solidFill>
                <a:latin typeface="Monaco" pitchFamily="2" charset="0"/>
              </a:rPr>
              <a:t>else</a:t>
            </a:r>
            <a:r>
              <a:rPr lang="es-CL" sz="1600" dirty="0">
                <a:solidFill>
                  <a:srgbClr val="F9F9F5"/>
                </a:solidFill>
                <a:latin typeface="Monaco" pitchFamily="2" charset="0"/>
              </a:rPr>
              <a:t>:</a:t>
            </a:r>
          </a:p>
          <a:p>
            <a:r>
              <a:rPr lang="es-CL" sz="1600" dirty="0">
                <a:solidFill>
                  <a:srgbClr val="F9F9F5"/>
                </a:solidFill>
                <a:latin typeface="Monaco" pitchFamily="2" charset="0"/>
              </a:rPr>
              <a:t>        flag </a:t>
            </a:r>
            <a:r>
              <a:rPr lang="es-CL" sz="1600" dirty="0">
                <a:solidFill>
                  <a:srgbClr val="FD4485"/>
                </a:solidFill>
                <a:latin typeface="Monaco" pitchFamily="2" charset="0"/>
              </a:rPr>
              <a:t>=</a:t>
            </a:r>
            <a:r>
              <a:rPr lang="es-CL" sz="1600" dirty="0">
                <a:solidFill>
                  <a:srgbClr val="F9F9F5"/>
                </a:solidFill>
                <a:latin typeface="Monaco" pitchFamily="2" charset="0"/>
              </a:rPr>
              <a:t> False</a:t>
            </a:r>
          </a:p>
          <a:p>
            <a:r>
              <a:rPr lang="es-CL" sz="1600" dirty="0">
                <a:solidFill>
                  <a:srgbClr val="F9F9F5"/>
                </a:solidFill>
                <a:latin typeface="Monaco" pitchFamily="2" charset="0"/>
              </a:rPr>
              <a:t>        </a:t>
            </a:r>
            <a:r>
              <a:rPr lang="es-CL" sz="1600" dirty="0">
                <a:solidFill>
                  <a:srgbClr val="888471"/>
                </a:solidFill>
                <a:latin typeface="Monaco" pitchFamily="2" charset="0"/>
              </a:rPr>
              <a:t>#sale del ciclo, recibimos algo, que no es un entero de 0 a 9</a:t>
            </a:r>
            <a:endParaRPr lang="es-CL" sz="1600" dirty="0">
              <a:solidFill>
                <a:srgbClr val="888471"/>
              </a:solidFill>
              <a:effectLst/>
              <a:latin typeface="Monaco" pitchFamily="2" charset="0"/>
            </a:endParaRPr>
          </a:p>
        </p:txBody>
      </p:sp>
    </p:spTree>
    <p:extLst>
      <p:ext uri="{BB962C8B-B14F-4D97-AF65-F5344CB8AC3E}">
        <p14:creationId xmlns:p14="http://schemas.microsoft.com/office/powerpoint/2010/main" val="37850628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162D1F-BEC7-6F43-80A0-0070C9BFAB7C}"/>
              </a:ext>
            </a:extLst>
          </p:cNvPr>
          <p:cNvSpPr>
            <a:spLocks noGrp="1"/>
          </p:cNvSpPr>
          <p:nvPr>
            <p:ph type="title"/>
          </p:nvPr>
        </p:nvSpPr>
        <p:spPr/>
        <p:txBody>
          <a:bodyPr/>
          <a:lstStyle/>
          <a:p>
            <a:r>
              <a:rPr lang="es-CL" dirty="0">
                <a:solidFill>
                  <a:srgbClr val="66D9EF"/>
                </a:solidFill>
              </a:rPr>
              <a:t>Ejemplos</a:t>
            </a:r>
          </a:p>
        </p:txBody>
      </p:sp>
      <p:pic>
        <p:nvPicPr>
          <p:cNvPr id="4" name="Imagen 3">
            <a:extLst>
              <a:ext uri="{FF2B5EF4-FFF2-40B4-BE49-F238E27FC236}">
                <a16:creationId xmlns:a16="http://schemas.microsoft.com/office/drawing/2014/main" id="{D60E3343-7476-414B-85C9-02EDAD5CA1D3}"/>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2541" b="91884" l="10000" r="90000">
                        <a14:foregroundMark x1="54833" y1="13550" x2="48167" y2="4658"/>
                        <a14:foregroundMark x1="51000" y1="3246" x2="43833" y2="2611"/>
                        <a14:foregroundMark x1="45167" y1="91320" x2="49000" y2="89061"/>
                        <a14:foregroundMark x1="56667" y1="91884" x2="56167" y2="90685"/>
                      </a14:backgroundRemoval>
                    </a14:imgEffect>
                  </a14:imgLayer>
                </a14:imgProps>
              </a:ext>
            </a:extLst>
          </a:blip>
          <a:stretch>
            <a:fillRect/>
          </a:stretch>
        </p:blipFill>
        <p:spPr>
          <a:xfrm>
            <a:off x="9804186" y="-6026727"/>
            <a:ext cx="3819224" cy="9013369"/>
          </a:xfrm>
          <a:prstGeom prst="rect">
            <a:avLst/>
          </a:prstGeom>
        </p:spPr>
      </p:pic>
      <p:sp>
        <p:nvSpPr>
          <p:cNvPr id="8" name="Rectángulo 7">
            <a:extLst>
              <a:ext uri="{FF2B5EF4-FFF2-40B4-BE49-F238E27FC236}">
                <a16:creationId xmlns:a16="http://schemas.microsoft.com/office/drawing/2014/main" id="{66FABEA2-B81A-1A4B-B34D-65B675872FC0}"/>
              </a:ext>
            </a:extLst>
          </p:cNvPr>
          <p:cNvSpPr/>
          <p:nvPr/>
        </p:nvSpPr>
        <p:spPr>
          <a:xfrm>
            <a:off x="1024128" y="1914804"/>
            <a:ext cx="6096000" cy="3416320"/>
          </a:xfrm>
          <a:prstGeom prst="rect">
            <a:avLst/>
          </a:prstGeom>
        </p:spPr>
        <p:txBody>
          <a:bodyPr>
            <a:spAutoFit/>
          </a:bodyPr>
          <a:lstStyle/>
          <a:p>
            <a:r>
              <a:rPr lang="es-CL" dirty="0">
                <a:solidFill>
                  <a:srgbClr val="F9F9F5"/>
                </a:solidFill>
                <a:latin typeface="Monaco" pitchFamily="2" charset="0"/>
              </a:rPr>
              <a:t>n </a:t>
            </a:r>
            <a:r>
              <a:rPr lang="es-CL" dirty="0">
                <a:solidFill>
                  <a:srgbClr val="FD4485"/>
                </a:solidFill>
                <a:latin typeface="Monaco" pitchFamily="2" charset="0"/>
              </a:rPr>
              <a:t>=</a:t>
            </a:r>
            <a:r>
              <a:rPr lang="es-CL" dirty="0">
                <a:solidFill>
                  <a:srgbClr val="F9F9F5"/>
                </a:solidFill>
                <a:latin typeface="Monaco" pitchFamily="2" charset="0"/>
              </a:rPr>
              <a:t> </a:t>
            </a:r>
            <a:r>
              <a:rPr lang="es-CL" dirty="0">
                <a:solidFill>
                  <a:srgbClr val="BD99FF"/>
                </a:solidFill>
                <a:latin typeface="Monaco" pitchFamily="2" charset="0"/>
              </a:rPr>
              <a:t>10</a:t>
            </a:r>
            <a:endParaRPr lang="es-CL" dirty="0">
              <a:solidFill>
                <a:srgbClr val="F9F9F5"/>
              </a:solidFill>
              <a:latin typeface="Monaco" pitchFamily="2" charset="0"/>
            </a:endParaRPr>
          </a:p>
          <a:p>
            <a:r>
              <a:rPr lang="es-CL" dirty="0">
                <a:solidFill>
                  <a:srgbClr val="75E0F2"/>
                </a:solidFill>
                <a:latin typeface="Monaco" pitchFamily="2" charset="0"/>
              </a:rPr>
              <a:t>print</a:t>
            </a:r>
            <a:r>
              <a:rPr lang="es-CL" dirty="0">
                <a:solidFill>
                  <a:srgbClr val="F9F9F5"/>
                </a:solidFill>
                <a:latin typeface="Monaco" pitchFamily="2" charset="0"/>
              </a:rPr>
              <a:t>(</a:t>
            </a:r>
            <a:r>
              <a:rPr lang="es-CL" dirty="0">
                <a:solidFill>
                  <a:srgbClr val="EBE087"/>
                </a:solidFill>
                <a:latin typeface="Monaco" pitchFamily="2" charset="0"/>
              </a:rPr>
              <a:t>"/</a:t>
            </a:r>
            <a:r>
              <a:rPr lang="es-CL" dirty="0">
                <a:solidFill>
                  <a:srgbClr val="BD99FF"/>
                </a:solidFill>
                <a:latin typeface="Monaco" pitchFamily="2" charset="0"/>
              </a:rPr>
              <a:t>\\</a:t>
            </a:r>
            <a:r>
              <a:rPr lang="es-CL" dirty="0">
                <a:solidFill>
                  <a:srgbClr val="EBE087"/>
                </a:solidFill>
                <a:latin typeface="Monaco" pitchFamily="2" charset="0"/>
              </a:rPr>
              <a:t>_____/</a:t>
            </a:r>
            <a:r>
              <a:rPr lang="es-CL" dirty="0">
                <a:solidFill>
                  <a:srgbClr val="BD99FF"/>
                </a:solidFill>
                <a:latin typeface="Monaco" pitchFamily="2" charset="0"/>
              </a:rPr>
              <a:t>\\</a:t>
            </a:r>
            <a:r>
              <a:rPr lang="es-CL" dirty="0">
                <a:solidFill>
                  <a:srgbClr val="EBE087"/>
                </a:solidFill>
                <a:latin typeface="Monaco" pitchFamily="2" charset="0"/>
              </a:rPr>
              <a:t>"</a:t>
            </a:r>
            <a:r>
              <a:rPr lang="es-CL" dirty="0">
                <a:solidFill>
                  <a:srgbClr val="F9F9F5"/>
                </a:solidFill>
                <a:latin typeface="Monaco" pitchFamily="2" charset="0"/>
              </a:rPr>
              <a:t>)</a:t>
            </a:r>
            <a:endParaRPr lang="es-CL" dirty="0">
              <a:solidFill>
                <a:srgbClr val="EBE087"/>
              </a:solidFill>
              <a:latin typeface="Monaco" pitchFamily="2" charset="0"/>
            </a:endParaRPr>
          </a:p>
          <a:p>
            <a:r>
              <a:rPr lang="es-CL" dirty="0">
                <a:solidFill>
                  <a:srgbClr val="75E0F2"/>
                </a:solidFill>
                <a:latin typeface="Monaco" pitchFamily="2" charset="0"/>
              </a:rPr>
              <a:t>print</a:t>
            </a:r>
            <a:r>
              <a:rPr lang="es-CL" dirty="0">
                <a:solidFill>
                  <a:srgbClr val="F9F9F5"/>
                </a:solidFill>
                <a:latin typeface="Monaco" pitchFamily="2" charset="0"/>
              </a:rPr>
              <a:t>(</a:t>
            </a:r>
            <a:r>
              <a:rPr lang="es-CL" dirty="0">
                <a:solidFill>
                  <a:srgbClr val="EBE087"/>
                </a:solidFill>
                <a:latin typeface="Monaco" pitchFamily="2" charset="0"/>
              </a:rPr>
              <a:t>"/        </a:t>
            </a:r>
            <a:r>
              <a:rPr lang="es-CL" dirty="0">
                <a:solidFill>
                  <a:srgbClr val="BD99FF"/>
                </a:solidFill>
                <a:latin typeface="Monaco" pitchFamily="2" charset="0"/>
              </a:rPr>
              <a:t>\\</a:t>
            </a:r>
            <a:r>
              <a:rPr lang="es-CL" dirty="0">
                <a:solidFill>
                  <a:srgbClr val="EBE087"/>
                </a:solidFill>
                <a:latin typeface="Monaco" pitchFamily="2" charset="0"/>
              </a:rPr>
              <a:t>"</a:t>
            </a:r>
            <a:r>
              <a:rPr lang="es-CL" dirty="0">
                <a:solidFill>
                  <a:srgbClr val="F9F9F5"/>
                </a:solidFill>
                <a:latin typeface="Monaco" pitchFamily="2" charset="0"/>
              </a:rPr>
              <a:t>)</a:t>
            </a:r>
            <a:endParaRPr lang="es-CL" dirty="0">
              <a:solidFill>
                <a:srgbClr val="EBE087"/>
              </a:solidFill>
              <a:latin typeface="Monaco" pitchFamily="2" charset="0"/>
            </a:endParaRPr>
          </a:p>
          <a:p>
            <a:r>
              <a:rPr lang="es-CL" dirty="0">
                <a:solidFill>
                  <a:srgbClr val="75E0F2"/>
                </a:solidFill>
                <a:latin typeface="Monaco" pitchFamily="2" charset="0"/>
              </a:rPr>
              <a:t>print</a:t>
            </a:r>
            <a:r>
              <a:rPr lang="es-CL" dirty="0">
                <a:solidFill>
                  <a:srgbClr val="F9F9F5"/>
                </a:solidFill>
                <a:latin typeface="Monaco" pitchFamily="2" charset="0"/>
              </a:rPr>
              <a:t>(</a:t>
            </a:r>
            <a:r>
              <a:rPr lang="es-CL" dirty="0">
                <a:solidFill>
                  <a:srgbClr val="EBE087"/>
                </a:solidFill>
                <a:latin typeface="Monaco" pitchFamily="2" charset="0"/>
              </a:rPr>
              <a:t>"|  O  O  |"</a:t>
            </a:r>
            <a:r>
              <a:rPr lang="es-CL" dirty="0">
                <a:solidFill>
                  <a:srgbClr val="F9F9F5"/>
                </a:solidFill>
                <a:latin typeface="Monaco" pitchFamily="2" charset="0"/>
              </a:rPr>
              <a:t>)</a:t>
            </a:r>
            <a:endParaRPr lang="es-CL" dirty="0">
              <a:solidFill>
                <a:srgbClr val="EBE087"/>
              </a:solidFill>
              <a:latin typeface="Monaco" pitchFamily="2" charset="0"/>
            </a:endParaRPr>
          </a:p>
          <a:p>
            <a:r>
              <a:rPr lang="es-CL" dirty="0">
                <a:solidFill>
                  <a:srgbClr val="75E0F2"/>
                </a:solidFill>
                <a:latin typeface="Monaco" pitchFamily="2" charset="0"/>
              </a:rPr>
              <a:t>print</a:t>
            </a:r>
            <a:r>
              <a:rPr lang="es-CL" dirty="0">
                <a:solidFill>
                  <a:srgbClr val="F9F9F5"/>
                </a:solidFill>
                <a:latin typeface="Monaco" pitchFamily="2" charset="0"/>
              </a:rPr>
              <a:t>(</a:t>
            </a:r>
            <a:r>
              <a:rPr lang="es-CL" dirty="0">
                <a:solidFill>
                  <a:srgbClr val="EBE087"/>
                </a:solidFill>
                <a:latin typeface="Monaco" pitchFamily="2" charset="0"/>
              </a:rPr>
              <a:t>"</a:t>
            </a:r>
            <a:r>
              <a:rPr lang="es-CL" dirty="0">
                <a:solidFill>
                  <a:srgbClr val="BD99FF"/>
                </a:solidFill>
                <a:latin typeface="Monaco" pitchFamily="2" charset="0"/>
              </a:rPr>
              <a:t>\\</a:t>
            </a:r>
            <a:r>
              <a:rPr lang="es-CL" dirty="0">
                <a:solidFill>
                  <a:srgbClr val="EBE087"/>
                </a:solidFill>
                <a:latin typeface="Monaco" pitchFamily="2" charset="0"/>
              </a:rPr>
              <a:t>   ∇    |"</a:t>
            </a:r>
            <a:r>
              <a:rPr lang="es-CL" dirty="0">
                <a:solidFill>
                  <a:srgbClr val="F9F9F5"/>
                </a:solidFill>
                <a:latin typeface="Monaco" pitchFamily="2" charset="0"/>
              </a:rPr>
              <a:t>)</a:t>
            </a:r>
            <a:endParaRPr lang="es-CL" dirty="0">
              <a:solidFill>
                <a:srgbClr val="EBE087"/>
              </a:solidFill>
              <a:latin typeface="Monaco" pitchFamily="2" charset="0"/>
            </a:endParaRPr>
          </a:p>
          <a:p>
            <a:r>
              <a:rPr lang="es-CL" dirty="0">
                <a:solidFill>
                  <a:srgbClr val="75E0F2"/>
                </a:solidFill>
                <a:latin typeface="Monaco" pitchFamily="2" charset="0"/>
              </a:rPr>
              <a:t>print</a:t>
            </a:r>
            <a:r>
              <a:rPr lang="es-CL" dirty="0">
                <a:solidFill>
                  <a:srgbClr val="F9F9F5"/>
                </a:solidFill>
                <a:latin typeface="Monaco" pitchFamily="2" charset="0"/>
              </a:rPr>
              <a:t>(</a:t>
            </a:r>
            <a:r>
              <a:rPr lang="es-CL" dirty="0">
                <a:solidFill>
                  <a:srgbClr val="EBE087"/>
                </a:solidFill>
                <a:latin typeface="Monaco" pitchFamily="2" charset="0"/>
              </a:rPr>
              <a:t>"</a:t>
            </a:r>
            <a:r>
              <a:rPr lang="es-CL" dirty="0">
                <a:solidFill>
                  <a:srgbClr val="BD99FF"/>
                </a:solidFill>
                <a:latin typeface="Monaco" pitchFamily="2" charset="0"/>
              </a:rPr>
              <a:t>\\</a:t>
            </a:r>
            <a:r>
              <a:rPr lang="es-CL" dirty="0">
                <a:solidFill>
                  <a:srgbClr val="EBE087"/>
                </a:solidFill>
                <a:latin typeface="Monaco" pitchFamily="2" charset="0"/>
              </a:rPr>
              <a:t>  _|_  /"</a:t>
            </a:r>
            <a:r>
              <a:rPr lang="es-CL" dirty="0">
                <a:solidFill>
                  <a:srgbClr val="F9F9F5"/>
                </a:solidFill>
                <a:latin typeface="Monaco" pitchFamily="2" charset="0"/>
              </a:rPr>
              <a:t>)</a:t>
            </a:r>
            <a:endParaRPr lang="es-CL" dirty="0">
              <a:solidFill>
                <a:srgbClr val="EBE087"/>
              </a:solidFill>
              <a:latin typeface="Monaco" pitchFamily="2" charset="0"/>
            </a:endParaRPr>
          </a:p>
          <a:p>
            <a:r>
              <a:rPr lang="es-CL" dirty="0">
                <a:solidFill>
                  <a:srgbClr val="75E0F2"/>
                </a:solidFill>
                <a:latin typeface="Monaco" pitchFamily="2" charset="0"/>
              </a:rPr>
              <a:t>print</a:t>
            </a:r>
            <a:r>
              <a:rPr lang="es-CL" dirty="0">
                <a:solidFill>
                  <a:srgbClr val="F9F9F5"/>
                </a:solidFill>
                <a:latin typeface="Monaco" pitchFamily="2" charset="0"/>
              </a:rPr>
              <a:t>(</a:t>
            </a:r>
            <a:r>
              <a:rPr lang="es-CL" dirty="0">
                <a:solidFill>
                  <a:srgbClr val="EBE087"/>
                </a:solidFill>
                <a:latin typeface="Monaco" pitchFamily="2" charset="0"/>
              </a:rPr>
              <a:t>" /      </a:t>
            </a:r>
            <a:r>
              <a:rPr lang="es-CL" dirty="0">
                <a:solidFill>
                  <a:srgbClr val="BD99FF"/>
                </a:solidFill>
                <a:latin typeface="Monaco" pitchFamily="2" charset="0"/>
              </a:rPr>
              <a:t>\\</a:t>
            </a:r>
            <a:r>
              <a:rPr lang="es-CL" dirty="0">
                <a:solidFill>
                  <a:srgbClr val="EBE087"/>
                </a:solidFill>
                <a:latin typeface="Monaco" pitchFamily="2" charset="0"/>
              </a:rPr>
              <a:t>______"</a:t>
            </a:r>
            <a:r>
              <a:rPr lang="es-CL" dirty="0">
                <a:solidFill>
                  <a:srgbClr val="F9F9F5"/>
                </a:solidFill>
                <a:latin typeface="Monaco" pitchFamily="2" charset="0"/>
              </a:rPr>
              <a:t>)</a:t>
            </a:r>
            <a:endParaRPr lang="es-CL" dirty="0">
              <a:solidFill>
                <a:srgbClr val="EBE087"/>
              </a:solidFill>
              <a:latin typeface="Monaco" pitchFamily="2" charset="0"/>
            </a:endParaRPr>
          </a:p>
          <a:p>
            <a:r>
              <a:rPr lang="es-CL" dirty="0">
                <a:solidFill>
                  <a:srgbClr val="75E0F2"/>
                </a:solidFill>
                <a:latin typeface="Monaco" pitchFamily="2" charset="0"/>
              </a:rPr>
              <a:t>print</a:t>
            </a:r>
            <a:r>
              <a:rPr lang="es-CL" dirty="0">
                <a:solidFill>
                  <a:srgbClr val="F9F9F5"/>
                </a:solidFill>
                <a:latin typeface="Monaco" pitchFamily="2" charset="0"/>
              </a:rPr>
              <a:t>(</a:t>
            </a:r>
            <a:r>
              <a:rPr lang="es-CL" dirty="0">
                <a:solidFill>
                  <a:srgbClr val="EBE087"/>
                </a:solidFill>
                <a:latin typeface="Monaco" pitchFamily="2" charset="0"/>
              </a:rPr>
              <a:t>"/  ______ ___  </a:t>
            </a:r>
            <a:r>
              <a:rPr lang="es-CL" dirty="0">
                <a:solidFill>
                  <a:srgbClr val="BD99FF"/>
                </a:solidFill>
                <a:latin typeface="Monaco" pitchFamily="2" charset="0"/>
              </a:rPr>
              <a:t>\\</a:t>
            </a:r>
            <a:r>
              <a:rPr lang="es-CL" dirty="0">
                <a:solidFill>
                  <a:srgbClr val="EBE087"/>
                </a:solidFill>
                <a:latin typeface="Monaco" pitchFamily="2" charset="0"/>
              </a:rPr>
              <a:t>"</a:t>
            </a:r>
            <a:r>
              <a:rPr lang="es-CL" dirty="0">
                <a:solidFill>
                  <a:srgbClr val="F9F9F5"/>
                </a:solidFill>
                <a:latin typeface="Monaco" pitchFamily="2" charset="0"/>
              </a:rPr>
              <a:t>)</a:t>
            </a:r>
            <a:endParaRPr lang="es-CL" dirty="0">
              <a:solidFill>
                <a:srgbClr val="EBE087"/>
              </a:solidFill>
              <a:latin typeface="Monaco" pitchFamily="2" charset="0"/>
            </a:endParaRPr>
          </a:p>
          <a:p>
            <a:r>
              <a:rPr lang="es-CL" dirty="0">
                <a:solidFill>
                  <a:srgbClr val="75E0F2"/>
                </a:solidFill>
                <a:latin typeface="Monaco" pitchFamily="2" charset="0"/>
              </a:rPr>
              <a:t>print</a:t>
            </a:r>
            <a:r>
              <a:rPr lang="es-CL" dirty="0">
                <a:solidFill>
                  <a:srgbClr val="F9F9F5"/>
                </a:solidFill>
                <a:latin typeface="Monaco" pitchFamily="2" charset="0"/>
              </a:rPr>
              <a:t>(</a:t>
            </a:r>
            <a:r>
              <a:rPr lang="es-CL" dirty="0">
                <a:solidFill>
                  <a:srgbClr val="EBE087"/>
                </a:solidFill>
                <a:latin typeface="Monaco" pitchFamily="2" charset="0"/>
              </a:rPr>
              <a:t>"|_______  </a:t>
            </a:r>
            <a:r>
              <a:rPr lang="es-CL" dirty="0">
                <a:solidFill>
                  <a:srgbClr val="BD99FF"/>
                </a:solidFill>
                <a:latin typeface="Monaco" pitchFamily="2" charset="0"/>
              </a:rPr>
              <a:t>\\</a:t>
            </a:r>
            <a:r>
              <a:rPr lang="es-CL" dirty="0">
                <a:solidFill>
                  <a:srgbClr val="EBE087"/>
                </a:solidFill>
                <a:latin typeface="Monaco" pitchFamily="2" charset="0"/>
              </a:rPr>
              <a:t> </a:t>
            </a:r>
            <a:r>
              <a:rPr lang="es-CL" dirty="0">
                <a:solidFill>
                  <a:srgbClr val="BD99FF"/>
                </a:solidFill>
                <a:latin typeface="Monaco" pitchFamily="2" charset="0"/>
              </a:rPr>
              <a:t>\\</a:t>
            </a:r>
            <a:r>
              <a:rPr lang="es-CL" dirty="0">
                <a:solidFill>
                  <a:srgbClr val="EBE087"/>
                </a:solidFill>
                <a:latin typeface="Monaco" pitchFamily="2" charset="0"/>
              </a:rPr>
              <a:t>__/"</a:t>
            </a:r>
            <a:r>
              <a:rPr lang="es-CL" dirty="0">
                <a:solidFill>
                  <a:srgbClr val="F9F9F5"/>
                </a:solidFill>
                <a:latin typeface="Monaco" pitchFamily="2" charset="0"/>
              </a:rPr>
              <a:t>)</a:t>
            </a:r>
            <a:endParaRPr lang="es-CL" dirty="0">
              <a:solidFill>
                <a:srgbClr val="EBE087"/>
              </a:solidFill>
              <a:latin typeface="Monaco" pitchFamily="2" charset="0"/>
            </a:endParaRPr>
          </a:p>
          <a:p>
            <a:r>
              <a:rPr lang="es-CL" dirty="0">
                <a:solidFill>
                  <a:srgbClr val="75E0F2"/>
                </a:solidFill>
                <a:latin typeface="Monaco" pitchFamily="2" charset="0"/>
              </a:rPr>
              <a:t>print</a:t>
            </a:r>
            <a:r>
              <a:rPr lang="es-CL" dirty="0">
                <a:solidFill>
                  <a:srgbClr val="F9F9F5"/>
                </a:solidFill>
                <a:latin typeface="Monaco" pitchFamily="2" charset="0"/>
              </a:rPr>
              <a:t>(</a:t>
            </a:r>
            <a:r>
              <a:rPr lang="es-CL" dirty="0">
                <a:solidFill>
                  <a:srgbClr val="EBE087"/>
                </a:solidFill>
                <a:latin typeface="Monaco" pitchFamily="2" charset="0"/>
              </a:rPr>
              <a:t>"|    </a:t>
            </a:r>
            <a:r>
              <a:rPr lang="es-CL" dirty="0">
                <a:solidFill>
                  <a:srgbClr val="BD99FF"/>
                </a:solidFill>
                <a:latin typeface="Monaco" pitchFamily="2" charset="0"/>
              </a:rPr>
              <a:t>\\</a:t>
            </a:r>
            <a:r>
              <a:rPr lang="es-CL" dirty="0">
                <a:solidFill>
                  <a:srgbClr val="EBE087"/>
                </a:solidFill>
                <a:latin typeface="Monaco" pitchFamily="2" charset="0"/>
              </a:rPr>
              <a:t>__/"</a:t>
            </a:r>
            <a:r>
              <a:rPr lang="es-CL" dirty="0">
                <a:solidFill>
                  <a:srgbClr val="F9F9F5"/>
                </a:solidFill>
                <a:latin typeface="Monaco" pitchFamily="2" charset="0"/>
              </a:rPr>
              <a:t>)</a:t>
            </a:r>
            <a:endParaRPr lang="es-CL" dirty="0">
              <a:solidFill>
                <a:srgbClr val="EBE087"/>
              </a:solidFill>
              <a:latin typeface="Monaco" pitchFamily="2" charset="0"/>
            </a:endParaRPr>
          </a:p>
          <a:p>
            <a:r>
              <a:rPr lang="es-CL" dirty="0">
                <a:solidFill>
                  <a:srgbClr val="75E0F2"/>
                </a:solidFill>
                <a:latin typeface="Monaco" pitchFamily="2" charset="0"/>
              </a:rPr>
              <a:t>while</a:t>
            </a:r>
            <a:r>
              <a:rPr lang="es-CL" dirty="0">
                <a:solidFill>
                  <a:srgbClr val="F9F9F5"/>
                </a:solidFill>
                <a:latin typeface="Monaco" pitchFamily="2" charset="0"/>
              </a:rPr>
              <a:t> n </a:t>
            </a:r>
            <a:r>
              <a:rPr lang="es-CL" dirty="0">
                <a:solidFill>
                  <a:srgbClr val="FD4485"/>
                </a:solidFill>
                <a:latin typeface="Monaco" pitchFamily="2" charset="0"/>
              </a:rPr>
              <a:t>&gt;</a:t>
            </a:r>
            <a:r>
              <a:rPr lang="es-CL" dirty="0">
                <a:solidFill>
                  <a:srgbClr val="F9F9F5"/>
                </a:solidFill>
                <a:latin typeface="Monaco" pitchFamily="2" charset="0"/>
              </a:rPr>
              <a:t> </a:t>
            </a:r>
            <a:r>
              <a:rPr lang="es-CL" dirty="0">
                <a:solidFill>
                  <a:srgbClr val="BD99FF"/>
                </a:solidFill>
                <a:latin typeface="Monaco" pitchFamily="2" charset="0"/>
              </a:rPr>
              <a:t>0</a:t>
            </a:r>
            <a:r>
              <a:rPr lang="es-CL" dirty="0">
                <a:solidFill>
                  <a:srgbClr val="F9F9F5"/>
                </a:solidFill>
                <a:latin typeface="Monaco" pitchFamily="2" charset="0"/>
              </a:rPr>
              <a:t>:</a:t>
            </a:r>
          </a:p>
          <a:p>
            <a:r>
              <a:rPr lang="es-CL" dirty="0">
                <a:solidFill>
                  <a:srgbClr val="F9F9F5"/>
                </a:solidFill>
                <a:latin typeface="Monaco" pitchFamily="2" charset="0"/>
              </a:rPr>
              <a:t>	</a:t>
            </a:r>
            <a:r>
              <a:rPr lang="es-CL" dirty="0">
                <a:solidFill>
                  <a:srgbClr val="75E0F2"/>
                </a:solidFill>
                <a:latin typeface="Monaco" pitchFamily="2" charset="0"/>
              </a:rPr>
              <a:t>print</a:t>
            </a:r>
            <a:r>
              <a:rPr lang="es-CL" dirty="0">
                <a:solidFill>
                  <a:srgbClr val="F9F9F5"/>
                </a:solidFill>
                <a:latin typeface="Monaco" pitchFamily="2" charset="0"/>
              </a:rPr>
              <a:t>(</a:t>
            </a:r>
            <a:r>
              <a:rPr lang="es-CL" dirty="0">
                <a:solidFill>
                  <a:srgbClr val="EBE087"/>
                </a:solidFill>
                <a:latin typeface="Monaco" pitchFamily="2" charset="0"/>
              </a:rPr>
              <a:t>"|    |"</a:t>
            </a:r>
            <a:r>
              <a:rPr lang="es-CL" dirty="0">
                <a:solidFill>
                  <a:srgbClr val="F9F9F5"/>
                </a:solidFill>
                <a:latin typeface="Monaco" pitchFamily="2" charset="0"/>
              </a:rPr>
              <a:t>)</a:t>
            </a:r>
            <a:endParaRPr lang="es-CL" dirty="0">
              <a:solidFill>
                <a:srgbClr val="EBE087"/>
              </a:solidFill>
              <a:effectLst/>
              <a:latin typeface="Monaco" pitchFamily="2" charset="0"/>
            </a:endParaRPr>
          </a:p>
        </p:txBody>
      </p:sp>
      <p:pic>
        <p:nvPicPr>
          <p:cNvPr id="10" name="Imagen 9">
            <a:extLst>
              <a:ext uri="{FF2B5EF4-FFF2-40B4-BE49-F238E27FC236}">
                <a16:creationId xmlns:a16="http://schemas.microsoft.com/office/drawing/2014/main" id="{0F8DA77B-CC6A-D14C-9366-2C0A44C69693}"/>
              </a:ext>
            </a:extLst>
          </p:cNvPr>
          <p:cNvPicPr>
            <a:picLocks noChangeAspect="1"/>
          </p:cNvPicPr>
          <p:nvPr/>
        </p:nvPicPr>
        <p:blipFill>
          <a:blip r:embed="rId4"/>
          <a:stretch>
            <a:fillRect/>
          </a:stretch>
        </p:blipFill>
        <p:spPr>
          <a:xfrm>
            <a:off x="6668428" y="372410"/>
            <a:ext cx="3935242" cy="6113180"/>
          </a:xfrm>
          <a:prstGeom prst="rect">
            <a:avLst/>
          </a:prstGeom>
        </p:spPr>
      </p:pic>
      <p:sp>
        <p:nvSpPr>
          <p:cNvPr id="11" name="CuadroTexto 10">
            <a:extLst>
              <a:ext uri="{FF2B5EF4-FFF2-40B4-BE49-F238E27FC236}">
                <a16:creationId xmlns:a16="http://schemas.microsoft.com/office/drawing/2014/main" id="{3729821A-F064-BD46-8568-9CE233AADEB0}"/>
              </a:ext>
            </a:extLst>
          </p:cNvPr>
          <p:cNvSpPr txBox="1"/>
          <p:nvPr/>
        </p:nvSpPr>
        <p:spPr>
          <a:xfrm>
            <a:off x="498764" y="5677525"/>
            <a:ext cx="5929745" cy="830997"/>
          </a:xfrm>
          <a:prstGeom prst="rect">
            <a:avLst/>
          </a:prstGeom>
          <a:noFill/>
        </p:spPr>
        <p:txBody>
          <a:bodyPr wrap="square" rtlCol="0">
            <a:spAutoFit/>
          </a:bodyPr>
          <a:lstStyle/>
          <a:p>
            <a:r>
              <a:rPr lang="es-CL" sz="2400" dirty="0">
                <a:solidFill>
                  <a:schemeClr val="bg1"/>
                </a:solidFill>
              </a:rPr>
              <a:t>Un ejemplo de uso de “error” de loop infinito – no es muy aplicable en la práctica.</a:t>
            </a:r>
          </a:p>
        </p:txBody>
      </p:sp>
    </p:spTree>
    <p:extLst>
      <p:ext uri="{BB962C8B-B14F-4D97-AF65-F5344CB8AC3E}">
        <p14:creationId xmlns:p14="http://schemas.microsoft.com/office/powerpoint/2010/main" val="9285225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43A33B-7323-CC4A-9A10-485386ED58BF}"/>
              </a:ext>
            </a:extLst>
          </p:cNvPr>
          <p:cNvSpPr>
            <a:spLocks noGrp="1"/>
          </p:cNvSpPr>
          <p:nvPr>
            <p:ph type="title"/>
          </p:nvPr>
        </p:nvSpPr>
        <p:spPr/>
        <p:txBody>
          <a:bodyPr/>
          <a:lstStyle/>
          <a:p>
            <a:r>
              <a:rPr lang="es-CL" dirty="0">
                <a:solidFill>
                  <a:srgbClr val="66D9EF"/>
                </a:solidFill>
              </a:rPr>
              <a:t>Ejercicio 1: Estaca</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8CE02DDA-87B9-094B-85AD-2006F6F3045F}"/>
                  </a:ext>
                </a:extLst>
              </p:cNvPr>
              <p:cNvSpPr>
                <a:spLocks noGrp="1"/>
              </p:cNvSpPr>
              <p:nvPr>
                <p:ph idx="1"/>
              </p:nvPr>
            </p:nvSpPr>
            <p:spPr>
              <a:xfrm>
                <a:off x="195513" y="1721289"/>
                <a:ext cx="8230708" cy="5070764"/>
              </a:xfrm>
            </p:spPr>
            <p:txBody>
              <a:bodyPr>
                <a:normAutofit lnSpcReduction="10000"/>
              </a:bodyPr>
              <a:lstStyle/>
              <a:p>
                <a:r>
                  <a:rPr lang="es-CL" sz="2800" dirty="0">
                    <a:solidFill>
                      <a:schemeClr val="bg1"/>
                    </a:solidFill>
                  </a:rPr>
                  <a:t>Su ayudante actualmente está cursando INF280 – Estadística Computacional, y en esta se trabaja mucho con Python. Un día el profesor se le pidió calcular las medias de un conjunto de números, ingresados uno a uno por el usuario. Se desconoce la cantidad de números que ingresa el usuario, solo se sabe que este escribe un “x” cuando quiere terminar.</a:t>
                </a:r>
              </a:p>
              <a:p>
                <a:r>
                  <a:rPr lang="es-CL" sz="2800" dirty="0">
                    <a:solidFill>
                      <a:schemeClr val="bg1"/>
                    </a:solidFill>
                  </a:rPr>
                  <a:t>Se les pide escribir un programa, que calcula la media de números, ingresados hasta el momento (osea para cada nuevo numero se calcula una media con conjunto ingresado hasta el momento). Recordar que la media viene dada por: </a:t>
                </a:r>
                <a14:m>
                  <m:oMath xmlns:m="http://schemas.openxmlformats.org/officeDocument/2006/math">
                    <m:acc>
                      <m:accPr>
                        <m:chr m:val="̅"/>
                        <m:ctrlPr>
                          <a:rPr lang="en-US" sz="2800" b="0" i="1" smtClean="0">
                            <a:solidFill>
                              <a:schemeClr val="bg1"/>
                            </a:solidFill>
                            <a:latin typeface="Cambria Math" panose="02040503050406030204" pitchFamily="18" charset="0"/>
                          </a:rPr>
                        </m:ctrlPr>
                      </m:accPr>
                      <m:e>
                        <m:r>
                          <a:rPr lang="en-US" sz="2800" b="0" i="1" smtClean="0">
                            <a:solidFill>
                              <a:schemeClr val="bg1"/>
                            </a:solidFill>
                            <a:latin typeface="Cambria Math" panose="02040503050406030204" pitchFamily="18" charset="0"/>
                          </a:rPr>
                          <m:t>𝑥</m:t>
                        </m:r>
                      </m:e>
                    </m:acc>
                    <m:r>
                      <a:rPr lang="es-CL" sz="2800" i="1" smtClean="0">
                        <a:solidFill>
                          <a:schemeClr val="bg1"/>
                        </a:solidFill>
                        <a:latin typeface="Cambria Math" panose="02040503050406030204" pitchFamily="18" charset="0"/>
                      </a:rPr>
                      <m:t>=</m:t>
                    </m:r>
                    <m:f>
                      <m:fPr>
                        <m:ctrlPr>
                          <a:rPr lang="es-CL" sz="2800" i="1" smtClean="0">
                            <a:solidFill>
                              <a:schemeClr val="bg1"/>
                            </a:solidFill>
                            <a:latin typeface="Cambria Math" panose="02040503050406030204" pitchFamily="18" charset="0"/>
                          </a:rPr>
                        </m:ctrlPr>
                      </m:fPr>
                      <m:num>
                        <m:nary>
                          <m:naryPr>
                            <m:chr m:val="∑"/>
                            <m:ctrlPr>
                              <a:rPr lang="es-CL" sz="2800" i="1" smtClean="0">
                                <a:solidFill>
                                  <a:schemeClr val="bg1"/>
                                </a:solidFill>
                                <a:latin typeface="Cambria Math" panose="02040503050406030204" pitchFamily="18" charset="0"/>
                              </a:rPr>
                            </m:ctrlPr>
                          </m:naryPr>
                          <m:sub>
                            <m:r>
                              <m:rPr>
                                <m:brk m:alnAt="23"/>
                              </m:rPr>
                              <a:rPr lang="en-US" sz="2800" b="0" i="1" smtClean="0">
                                <a:solidFill>
                                  <a:schemeClr val="bg1"/>
                                </a:solidFill>
                                <a:latin typeface="Cambria Math" panose="02040503050406030204" pitchFamily="18" charset="0"/>
                              </a:rPr>
                              <m:t>𝑖</m:t>
                            </m:r>
                            <m:r>
                              <a:rPr lang="en-US" sz="2800" b="0" i="1" smtClean="0">
                                <a:solidFill>
                                  <a:schemeClr val="bg1"/>
                                </a:solidFill>
                                <a:latin typeface="Cambria Math" panose="02040503050406030204" pitchFamily="18" charset="0"/>
                              </a:rPr>
                              <m:t>=1</m:t>
                            </m:r>
                          </m:sub>
                          <m:sup>
                            <m:r>
                              <a:rPr lang="en-US" sz="2800" b="0" i="1" smtClean="0">
                                <a:solidFill>
                                  <a:schemeClr val="bg1"/>
                                </a:solidFill>
                                <a:latin typeface="Cambria Math" panose="02040503050406030204" pitchFamily="18" charset="0"/>
                              </a:rPr>
                              <m:t>𝑁</m:t>
                            </m:r>
                          </m:sup>
                          <m:e>
                            <m:sSub>
                              <m:sSubPr>
                                <m:ctrlPr>
                                  <a:rPr lang="en-US" sz="2800" b="0" i="1" smtClean="0">
                                    <a:solidFill>
                                      <a:schemeClr val="bg1"/>
                                    </a:solidFill>
                                    <a:latin typeface="Cambria Math" panose="02040503050406030204" pitchFamily="18" charset="0"/>
                                  </a:rPr>
                                </m:ctrlPr>
                              </m:sSubPr>
                              <m:e>
                                <m:r>
                                  <a:rPr lang="en-US" sz="2800" b="0" i="1" smtClean="0">
                                    <a:solidFill>
                                      <a:schemeClr val="bg1"/>
                                    </a:solidFill>
                                    <a:latin typeface="Cambria Math" panose="02040503050406030204" pitchFamily="18" charset="0"/>
                                  </a:rPr>
                                  <m:t>𝑥</m:t>
                                </m:r>
                              </m:e>
                              <m:sub>
                                <m:r>
                                  <a:rPr lang="en-US" sz="2800" b="0" i="1" smtClean="0">
                                    <a:solidFill>
                                      <a:schemeClr val="bg1"/>
                                    </a:solidFill>
                                    <a:latin typeface="Cambria Math" panose="02040503050406030204" pitchFamily="18" charset="0"/>
                                  </a:rPr>
                                  <m:t>𝑖</m:t>
                                </m:r>
                              </m:sub>
                            </m:sSub>
                          </m:e>
                        </m:nary>
                      </m:num>
                      <m:den>
                        <m:r>
                          <a:rPr lang="en-US" sz="2800" b="0" i="1" smtClean="0">
                            <a:solidFill>
                              <a:schemeClr val="bg1"/>
                            </a:solidFill>
                            <a:latin typeface="Cambria Math" panose="02040503050406030204" pitchFamily="18" charset="0"/>
                          </a:rPr>
                          <m:t>𝑁</m:t>
                        </m:r>
                      </m:den>
                    </m:f>
                  </m:oMath>
                </a14:m>
                <a:r>
                  <a:rPr lang="es-CL" sz="2800" dirty="0">
                    <a:solidFill>
                      <a:schemeClr val="bg1"/>
                    </a:solidFill>
                  </a:rPr>
                  <a:t> . </a:t>
                </a:r>
              </a:p>
            </p:txBody>
          </p:sp>
        </mc:Choice>
        <mc:Fallback xmlns="">
          <p:sp>
            <p:nvSpPr>
              <p:cNvPr id="3" name="Marcador de contenido 2">
                <a:extLst>
                  <a:ext uri="{FF2B5EF4-FFF2-40B4-BE49-F238E27FC236}">
                    <a16:creationId xmlns:a16="http://schemas.microsoft.com/office/drawing/2014/main" id="{8CE02DDA-87B9-094B-85AD-2006F6F3045F}"/>
                  </a:ext>
                </a:extLst>
              </p:cNvPr>
              <p:cNvSpPr>
                <a:spLocks noGrp="1" noRot="1" noChangeAspect="1" noMove="1" noResize="1" noEditPoints="1" noAdjustHandles="1" noChangeArrowheads="1" noChangeShapeType="1" noTextEdit="1"/>
              </p:cNvSpPr>
              <p:nvPr>
                <p:ph idx="1"/>
              </p:nvPr>
            </p:nvSpPr>
            <p:spPr>
              <a:xfrm>
                <a:off x="195513" y="1721289"/>
                <a:ext cx="8230708" cy="5070764"/>
              </a:xfrm>
              <a:blipFill>
                <a:blip r:embed="rId2"/>
                <a:stretch>
                  <a:fillRect l="-770" t="-2750" r="-2773"/>
                </a:stretch>
              </a:blipFill>
            </p:spPr>
            <p:txBody>
              <a:bodyPr/>
              <a:lstStyle/>
              <a:p>
                <a:r>
                  <a:rPr lang="es-CL">
                    <a:noFill/>
                  </a:rPr>
                  <a:t> </a:t>
                </a:r>
              </a:p>
            </p:txBody>
          </p:sp>
        </mc:Fallback>
      </mc:AlternateContent>
      <p:pic>
        <p:nvPicPr>
          <p:cNvPr id="5" name="Imagen 4">
            <a:extLst>
              <a:ext uri="{FF2B5EF4-FFF2-40B4-BE49-F238E27FC236}">
                <a16:creationId xmlns:a16="http://schemas.microsoft.com/office/drawing/2014/main" id="{DB25E4AB-A799-AE46-BFAD-C07FAE1424A0}"/>
              </a:ext>
            </a:extLst>
          </p:cNvPr>
          <p:cNvPicPr>
            <a:picLocks noChangeAspect="1"/>
          </p:cNvPicPr>
          <p:nvPr/>
        </p:nvPicPr>
        <p:blipFill>
          <a:blip r:embed="rId3"/>
          <a:stretch>
            <a:fillRect/>
          </a:stretch>
        </p:blipFill>
        <p:spPr>
          <a:xfrm>
            <a:off x="8540033" y="744266"/>
            <a:ext cx="3384113" cy="2462784"/>
          </a:xfrm>
          <a:prstGeom prst="rect">
            <a:avLst/>
          </a:prstGeom>
        </p:spPr>
      </p:pic>
      <p:sp>
        <p:nvSpPr>
          <p:cNvPr id="6" name="CuadroTexto 5">
            <a:extLst>
              <a:ext uri="{FF2B5EF4-FFF2-40B4-BE49-F238E27FC236}">
                <a16:creationId xmlns:a16="http://schemas.microsoft.com/office/drawing/2014/main" id="{AA1CA442-92CA-4043-82F2-549E889AC166}"/>
              </a:ext>
            </a:extLst>
          </p:cNvPr>
          <p:cNvSpPr txBox="1"/>
          <p:nvPr/>
        </p:nvSpPr>
        <p:spPr>
          <a:xfrm>
            <a:off x="8545759" y="3595128"/>
            <a:ext cx="841897" cy="2677656"/>
          </a:xfrm>
          <a:prstGeom prst="rect">
            <a:avLst/>
          </a:prstGeom>
          <a:noFill/>
        </p:spPr>
        <p:txBody>
          <a:bodyPr wrap="none" rtlCol="0">
            <a:spAutoFit/>
          </a:bodyPr>
          <a:lstStyle/>
          <a:p>
            <a:r>
              <a:rPr lang="es-CL" sz="2400" dirty="0">
                <a:solidFill>
                  <a:schemeClr val="bg1"/>
                </a:solidFill>
              </a:rPr>
              <a:t>Input:</a:t>
            </a:r>
          </a:p>
          <a:p>
            <a:r>
              <a:rPr lang="es-CL" sz="2400" dirty="0">
                <a:solidFill>
                  <a:schemeClr val="bg1"/>
                </a:solidFill>
              </a:rPr>
              <a:t>2</a:t>
            </a:r>
          </a:p>
          <a:p>
            <a:r>
              <a:rPr lang="es-CL" sz="2400" dirty="0">
                <a:solidFill>
                  <a:schemeClr val="bg1"/>
                </a:solidFill>
              </a:rPr>
              <a:t>9</a:t>
            </a:r>
          </a:p>
          <a:p>
            <a:r>
              <a:rPr lang="es-CL" sz="2400" dirty="0">
                <a:solidFill>
                  <a:schemeClr val="bg1"/>
                </a:solidFill>
              </a:rPr>
              <a:t>1</a:t>
            </a:r>
          </a:p>
          <a:p>
            <a:r>
              <a:rPr lang="es-CL" sz="2400" dirty="0">
                <a:solidFill>
                  <a:schemeClr val="bg1"/>
                </a:solidFill>
              </a:rPr>
              <a:t>2</a:t>
            </a:r>
          </a:p>
          <a:p>
            <a:r>
              <a:rPr lang="es-CL" sz="2400" dirty="0">
                <a:solidFill>
                  <a:schemeClr val="bg1"/>
                </a:solidFill>
              </a:rPr>
              <a:t>3</a:t>
            </a:r>
          </a:p>
          <a:p>
            <a:r>
              <a:rPr lang="es-CL" sz="2400" dirty="0">
                <a:solidFill>
                  <a:schemeClr val="bg1"/>
                </a:solidFill>
              </a:rPr>
              <a:t>x</a:t>
            </a:r>
          </a:p>
        </p:txBody>
      </p:sp>
      <p:sp>
        <p:nvSpPr>
          <p:cNvPr id="7" name="CuadroTexto 6">
            <a:extLst>
              <a:ext uri="{FF2B5EF4-FFF2-40B4-BE49-F238E27FC236}">
                <a16:creationId xmlns:a16="http://schemas.microsoft.com/office/drawing/2014/main" id="{4BB01FF5-977F-6E4E-96E3-1D7B599460D6}"/>
              </a:ext>
            </a:extLst>
          </p:cNvPr>
          <p:cNvSpPr txBox="1"/>
          <p:nvPr/>
        </p:nvSpPr>
        <p:spPr>
          <a:xfrm>
            <a:off x="9507194" y="3595128"/>
            <a:ext cx="1542410" cy="2677656"/>
          </a:xfrm>
          <a:prstGeom prst="rect">
            <a:avLst/>
          </a:prstGeom>
          <a:noFill/>
        </p:spPr>
        <p:txBody>
          <a:bodyPr wrap="none" rtlCol="0">
            <a:spAutoFit/>
          </a:bodyPr>
          <a:lstStyle/>
          <a:p>
            <a:r>
              <a:rPr lang="es-CL" sz="2400" dirty="0">
                <a:solidFill>
                  <a:schemeClr val="bg1"/>
                </a:solidFill>
              </a:rPr>
              <a:t>Output:</a:t>
            </a:r>
          </a:p>
          <a:p>
            <a:r>
              <a:rPr lang="es-CL" sz="2400" dirty="0">
                <a:solidFill>
                  <a:schemeClr val="bg1"/>
                </a:solidFill>
              </a:rPr>
              <a:t>2.0</a:t>
            </a:r>
          </a:p>
          <a:p>
            <a:r>
              <a:rPr lang="es-CL" sz="2400" dirty="0">
                <a:solidFill>
                  <a:schemeClr val="bg1"/>
                </a:solidFill>
              </a:rPr>
              <a:t>5.5</a:t>
            </a:r>
          </a:p>
          <a:p>
            <a:r>
              <a:rPr lang="es-CL" sz="2400" dirty="0">
                <a:solidFill>
                  <a:schemeClr val="bg1"/>
                </a:solidFill>
              </a:rPr>
              <a:t>4.0</a:t>
            </a:r>
          </a:p>
          <a:p>
            <a:r>
              <a:rPr lang="es-CL" sz="2400" dirty="0">
                <a:solidFill>
                  <a:schemeClr val="bg1"/>
                </a:solidFill>
              </a:rPr>
              <a:t>3.5</a:t>
            </a:r>
          </a:p>
          <a:p>
            <a:r>
              <a:rPr lang="es-CL" sz="2400" dirty="0">
                <a:solidFill>
                  <a:schemeClr val="bg1"/>
                </a:solidFill>
              </a:rPr>
              <a:t>3.4</a:t>
            </a:r>
          </a:p>
          <a:p>
            <a:r>
              <a:rPr lang="es-CL" sz="2400" dirty="0">
                <a:solidFill>
                  <a:schemeClr val="bg1"/>
                </a:solidFill>
              </a:rPr>
              <a:t>Media: 3.4</a:t>
            </a:r>
          </a:p>
        </p:txBody>
      </p:sp>
    </p:spTree>
    <p:extLst>
      <p:ext uri="{BB962C8B-B14F-4D97-AF65-F5344CB8AC3E}">
        <p14:creationId xmlns:p14="http://schemas.microsoft.com/office/powerpoint/2010/main" val="26534128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29CAF61-8E6E-2740-BFBF-FE2533C59277}"/>
              </a:ext>
            </a:extLst>
          </p:cNvPr>
          <p:cNvSpPr>
            <a:spLocks noGrp="1"/>
          </p:cNvSpPr>
          <p:nvPr>
            <p:ph type="title"/>
          </p:nvPr>
        </p:nvSpPr>
        <p:spPr/>
        <p:txBody>
          <a:bodyPr/>
          <a:lstStyle/>
          <a:p>
            <a:r>
              <a:rPr lang="es-CL" dirty="0">
                <a:solidFill>
                  <a:srgbClr val="66D9EF"/>
                </a:solidFill>
              </a:rPr>
              <a:t>Ejercicio 1: Solución</a:t>
            </a:r>
          </a:p>
        </p:txBody>
      </p:sp>
      <p:sp>
        <p:nvSpPr>
          <p:cNvPr id="4" name="Rectángulo 3">
            <a:extLst>
              <a:ext uri="{FF2B5EF4-FFF2-40B4-BE49-F238E27FC236}">
                <a16:creationId xmlns:a16="http://schemas.microsoft.com/office/drawing/2014/main" id="{A2C45E48-5520-3C44-94BC-2EE15BB67DA7}"/>
              </a:ext>
            </a:extLst>
          </p:cNvPr>
          <p:cNvSpPr/>
          <p:nvPr/>
        </p:nvSpPr>
        <p:spPr>
          <a:xfrm>
            <a:off x="845127" y="2251087"/>
            <a:ext cx="10820399" cy="3293209"/>
          </a:xfrm>
          <a:prstGeom prst="rect">
            <a:avLst/>
          </a:prstGeom>
        </p:spPr>
        <p:txBody>
          <a:bodyPr wrap="square">
            <a:spAutoFit/>
          </a:bodyPr>
          <a:lstStyle/>
          <a:p>
            <a:r>
              <a:rPr lang="es-CL" sz="1600" dirty="0">
                <a:solidFill>
                  <a:srgbClr val="F9F9F5"/>
                </a:solidFill>
                <a:latin typeface="Monaco" pitchFamily="2" charset="0"/>
              </a:rPr>
              <a:t>flag </a:t>
            </a:r>
            <a:r>
              <a:rPr lang="es-CL" sz="1600" dirty="0">
                <a:solidFill>
                  <a:srgbClr val="FD4485"/>
                </a:solidFill>
                <a:latin typeface="Monaco" pitchFamily="2" charset="0"/>
              </a:rPr>
              <a:t>=</a:t>
            </a:r>
            <a:r>
              <a:rPr lang="es-CL" sz="1600" dirty="0">
                <a:solidFill>
                  <a:srgbClr val="F9F9F5"/>
                </a:solidFill>
                <a:latin typeface="Monaco" pitchFamily="2" charset="0"/>
              </a:rPr>
              <a:t> True</a:t>
            </a:r>
          </a:p>
          <a:p>
            <a:r>
              <a:rPr lang="es-CL" sz="1600" dirty="0">
                <a:solidFill>
                  <a:srgbClr val="F9F9F5"/>
                </a:solidFill>
                <a:latin typeface="Monaco" pitchFamily="2" charset="0"/>
              </a:rPr>
              <a:t>suma </a:t>
            </a:r>
            <a:r>
              <a:rPr lang="es-CL" sz="1600" dirty="0">
                <a:solidFill>
                  <a:srgbClr val="FD4485"/>
                </a:solidFill>
                <a:latin typeface="Monaco" pitchFamily="2" charset="0"/>
              </a:rPr>
              <a:t>=</a:t>
            </a:r>
            <a:r>
              <a:rPr lang="es-CL" sz="1600" dirty="0">
                <a:solidFill>
                  <a:srgbClr val="F9F9F5"/>
                </a:solidFill>
                <a:latin typeface="Monaco" pitchFamily="2" charset="0"/>
              </a:rPr>
              <a:t> </a:t>
            </a:r>
            <a:r>
              <a:rPr lang="es-CL" sz="1600" dirty="0">
                <a:solidFill>
                  <a:srgbClr val="BD99FF"/>
                </a:solidFill>
                <a:latin typeface="Monaco" pitchFamily="2" charset="0"/>
              </a:rPr>
              <a:t>0</a:t>
            </a:r>
            <a:endParaRPr lang="es-CL" sz="1600" dirty="0">
              <a:solidFill>
                <a:srgbClr val="F9F9F5"/>
              </a:solidFill>
              <a:latin typeface="Monaco" pitchFamily="2" charset="0"/>
            </a:endParaRPr>
          </a:p>
          <a:p>
            <a:r>
              <a:rPr lang="es-CL" sz="1600" dirty="0">
                <a:solidFill>
                  <a:srgbClr val="F9F9F5"/>
                </a:solidFill>
                <a:latin typeface="Monaco" pitchFamily="2" charset="0"/>
              </a:rPr>
              <a:t>cont </a:t>
            </a:r>
            <a:r>
              <a:rPr lang="es-CL" sz="1600" dirty="0">
                <a:solidFill>
                  <a:srgbClr val="FD4485"/>
                </a:solidFill>
                <a:latin typeface="Monaco" pitchFamily="2" charset="0"/>
              </a:rPr>
              <a:t>=</a:t>
            </a:r>
            <a:r>
              <a:rPr lang="es-CL" sz="1600" dirty="0">
                <a:solidFill>
                  <a:srgbClr val="F9F9F5"/>
                </a:solidFill>
                <a:latin typeface="Monaco" pitchFamily="2" charset="0"/>
              </a:rPr>
              <a:t> </a:t>
            </a:r>
            <a:r>
              <a:rPr lang="es-CL" sz="1600" dirty="0">
                <a:solidFill>
                  <a:srgbClr val="BD99FF"/>
                </a:solidFill>
                <a:latin typeface="Monaco" pitchFamily="2" charset="0"/>
              </a:rPr>
              <a:t>0</a:t>
            </a:r>
            <a:endParaRPr lang="es-CL" sz="1600" dirty="0">
              <a:solidFill>
                <a:srgbClr val="F9F9F5"/>
              </a:solidFill>
              <a:latin typeface="Monaco" pitchFamily="2" charset="0"/>
            </a:endParaRPr>
          </a:p>
          <a:p>
            <a:r>
              <a:rPr lang="es-CL" sz="1600" dirty="0">
                <a:solidFill>
                  <a:srgbClr val="75E0F2"/>
                </a:solidFill>
                <a:latin typeface="Monaco" pitchFamily="2" charset="0"/>
              </a:rPr>
              <a:t>while</a:t>
            </a:r>
            <a:r>
              <a:rPr lang="es-CL" sz="1600" dirty="0">
                <a:solidFill>
                  <a:srgbClr val="F9F9F5"/>
                </a:solidFill>
                <a:latin typeface="Monaco" pitchFamily="2" charset="0"/>
              </a:rPr>
              <a:t> flag:</a:t>
            </a:r>
          </a:p>
          <a:p>
            <a:r>
              <a:rPr lang="es-CL" sz="1600" dirty="0">
                <a:solidFill>
                  <a:srgbClr val="F9F9F5"/>
                </a:solidFill>
                <a:latin typeface="Monaco" pitchFamily="2" charset="0"/>
              </a:rPr>
              <a:t>    i </a:t>
            </a:r>
            <a:r>
              <a:rPr lang="es-CL" sz="1600" dirty="0">
                <a:solidFill>
                  <a:srgbClr val="FD4485"/>
                </a:solidFill>
                <a:latin typeface="Monaco" pitchFamily="2" charset="0"/>
              </a:rPr>
              <a:t>=</a:t>
            </a:r>
            <a:r>
              <a:rPr lang="es-CL" sz="1600" dirty="0">
                <a:solidFill>
                  <a:srgbClr val="F9F9F5"/>
                </a:solidFill>
                <a:latin typeface="Monaco" pitchFamily="2" charset="0"/>
              </a:rPr>
              <a:t> input(</a:t>
            </a:r>
            <a:r>
              <a:rPr lang="es-CL" sz="1600" dirty="0">
                <a:solidFill>
                  <a:srgbClr val="EBE087"/>
                </a:solidFill>
                <a:latin typeface="Monaco" pitchFamily="2" charset="0"/>
              </a:rPr>
              <a:t>"Ingrese un numero: "</a:t>
            </a:r>
            <a:r>
              <a:rPr lang="es-CL" sz="1600" dirty="0">
                <a:solidFill>
                  <a:srgbClr val="F9F9F5"/>
                </a:solidFill>
                <a:latin typeface="Monaco" pitchFamily="2" charset="0"/>
              </a:rPr>
              <a:t>)</a:t>
            </a:r>
            <a:endParaRPr lang="es-CL" sz="1600" dirty="0">
              <a:solidFill>
                <a:srgbClr val="EBE087"/>
              </a:solidFill>
              <a:latin typeface="Monaco" pitchFamily="2" charset="0"/>
            </a:endParaRPr>
          </a:p>
          <a:p>
            <a:r>
              <a:rPr lang="es-CL" sz="1600" dirty="0">
                <a:solidFill>
                  <a:srgbClr val="F9F9F5"/>
                </a:solidFill>
                <a:latin typeface="Monaco" pitchFamily="2" charset="0"/>
              </a:rPr>
              <a:t>    </a:t>
            </a:r>
            <a:r>
              <a:rPr lang="es-CL" sz="1600" dirty="0">
                <a:solidFill>
                  <a:srgbClr val="75E0F2"/>
                </a:solidFill>
                <a:latin typeface="Monaco" pitchFamily="2" charset="0"/>
              </a:rPr>
              <a:t>if</a:t>
            </a:r>
            <a:r>
              <a:rPr lang="es-CL" sz="1600" dirty="0">
                <a:solidFill>
                  <a:srgbClr val="F9F9F5"/>
                </a:solidFill>
                <a:latin typeface="Monaco" pitchFamily="2" charset="0"/>
              </a:rPr>
              <a:t> i </a:t>
            </a:r>
            <a:r>
              <a:rPr lang="es-CL" sz="1600" dirty="0">
                <a:solidFill>
                  <a:srgbClr val="FD4485"/>
                </a:solidFill>
                <a:latin typeface="Monaco" pitchFamily="2" charset="0"/>
              </a:rPr>
              <a:t>==</a:t>
            </a:r>
            <a:r>
              <a:rPr lang="es-CL" sz="1600" dirty="0">
                <a:solidFill>
                  <a:srgbClr val="F9F9F5"/>
                </a:solidFill>
                <a:latin typeface="Monaco" pitchFamily="2" charset="0"/>
              </a:rPr>
              <a:t> </a:t>
            </a:r>
            <a:r>
              <a:rPr lang="es-CL" sz="1600" dirty="0">
                <a:solidFill>
                  <a:srgbClr val="EBE087"/>
                </a:solidFill>
                <a:latin typeface="Monaco" pitchFamily="2" charset="0"/>
              </a:rPr>
              <a:t>"x"</a:t>
            </a:r>
            <a:r>
              <a:rPr lang="es-CL" sz="1600" dirty="0">
                <a:solidFill>
                  <a:srgbClr val="F9F9F5"/>
                </a:solidFill>
                <a:latin typeface="Monaco" pitchFamily="2" charset="0"/>
              </a:rPr>
              <a:t>: </a:t>
            </a:r>
            <a:r>
              <a:rPr lang="es-CL" sz="1600" dirty="0">
                <a:solidFill>
                  <a:srgbClr val="888471"/>
                </a:solidFill>
                <a:latin typeface="Monaco" pitchFamily="2" charset="0"/>
              </a:rPr>
              <a:t># alternativamente, if not(i.isnumeric()) (no es solo numeros)</a:t>
            </a:r>
          </a:p>
          <a:p>
            <a:r>
              <a:rPr lang="es-CL" sz="1600" dirty="0">
                <a:solidFill>
                  <a:srgbClr val="F9F9F5"/>
                </a:solidFill>
                <a:latin typeface="Monaco" pitchFamily="2" charset="0"/>
              </a:rPr>
              <a:t>        flag </a:t>
            </a:r>
            <a:r>
              <a:rPr lang="es-CL" sz="1600" dirty="0">
                <a:solidFill>
                  <a:srgbClr val="FD4485"/>
                </a:solidFill>
                <a:latin typeface="Monaco" pitchFamily="2" charset="0"/>
              </a:rPr>
              <a:t>=</a:t>
            </a:r>
            <a:r>
              <a:rPr lang="es-CL" sz="1600" dirty="0">
                <a:solidFill>
                  <a:srgbClr val="F9F9F5"/>
                </a:solidFill>
                <a:latin typeface="Monaco" pitchFamily="2" charset="0"/>
              </a:rPr>
              <a:t> False</a:t>
            </a:r>
          </a:p>
          <a:p>
            <a:r>
              <a:rPr lang="es-CL" sz="1600" dirty="0">
                <a:solidFill>
                  <a:srgbClr val="F9F9F5"/>
                </a:solidFill>
                <a:latin typeface="Monaco" pitchFamily="2" charset="0"/>
              </a:rPr>
              <a:t>    </a:t>
            </a:r>
            <a:r>
              <a:rPr lang="es-CL" sz="1600" dirty="0">
                <a:solidFill>
                  <a:srgbClr val="75E0F2"/>
                </a:solidFill>
                <a:latin typeface="Monaco" pitchFamily="2" charset="0"/>
              </a:rPr>
              <a:t>else</a:t>
            </a:r>
            <a:r>
              <a:rPr lang="es-CL" sz="1600" dirty="0">
                <a:solidFill>
                  <a:srgbClr val="F9F9F5"/>
                </a:solidFill>
                <a:latin typeface="Monaco" pitchFamily="2" charset="0"/>
              </a:rPr>
              <a:t>:         </a:t>
            </a:r>
          </a:p>
          <a:p>
            <a:r>
              <a:rPr lang="es-CL" sz="1600" dirty="0">
                <a:solidFill>
                  <a:srgbClr val="F9F9F5"/>
                </a:solidFill>
                <a:latin typeface="Monaco" pitchFamily="2" charset="0"/>
              </a:rPr>
              <a:t>        suma </a:t>
            </a:r>
            <a:r>
              <a:rPr lang="es-CL" sz="1600" dirty="0">
                <a:solidFill>
                  <a:srgbClr val="FD4485"/>
                </a:solidFill>
                <a:latin typeface="Monaco" pitchFamily="2" charset="0"/>
              </a:rPr>
              <a:t>+=</a:t>
            </a:r>
            <a:r>
              <a:rPr lang="es-CL" sz="1600" dirty="0">
                <a:solidFill>
                  <a:srgbClr val="F9F9F5"/>
                </a:solidFill>
                <a:latin typeface="Monaco" pitchFamily="2" charset="0"/>
              </a:rPr>
              <a:t> int(i)</a:t>
            </a:r>
          </a:p>
          <a:p>
            <a:r>
              <a:rPr lang="es-CL" sz="1600" dirty="0">
                <a:solidFill>
                  <a:srgbClr val="F9F9F5"/>
                </a:solidFill>
                <a:latin typeface="Monaco" pitchFamily="2" charset="0"/>
              </a:rPr>
              <a:t>        cont </a:t>
            </a:r>
            <a:r>
              <a:rPr lang="es-CL" sz="1600" dirty="0">
                <a:solidFill>
                  <a:srgbClr val="FD4485"/>
                </a:solidFill>
                <a:latin typeface="Monaco" pitchFamily="2" charset="0"/>
              </a:rPr>
              <a:t>+=</a:t>
            </a:r>
            <a:r>
              <a:rPr lang="es-CL" sz="1600" dirty="0">
                <a:solidFill>
                  <a:srgbClr val="F9F9F5"/>
                </a:solidFill>
                <a:latin typeface="Monaco" pitchFamily="2" charset="0"/>
              </a:rPr>
              <a:t> </a:t>
            </a:r>
            <a:r>
              <a:rPr lang="es-CL" sz="1600" dirty="0">
                <a:solidFill>
                  <a:srgbClr val="BD99FF"/>
                </a:solidFill>
                <a:latin typeface="Monaco" pitchFamily="2" charset="0"/>
              </a:rPr>
              <a:t>1</a:t>
            </a:r>
            <a:endParaRPr lang="es-CL" sz="1600" dirty="0">
              <a:solidFill>
                <a:srgbClr val="F9F9F5"/>
              </a:solidFill>
              <a:latin typeface="Monaco" pitchFamily="2" charset="0"/>
            </a:endParaRPr>
          </a:p>
          <a:p>
            <a:r>
              <a:rPr lang="es-CL" sz="1600" dirty="0">
                <a:solidFill>
                  <a:srgbClr val="F9F9F5"/>
                </a:solidFill>
                <a:latin typeface="Monaco" pitchFamily="2" charset="0"/>
              </a:rPr>
              <a:t>        promedio </a:t>
            </a:r>
            <a:r>
              <a:rPr lang="es-CL" sz="1600" dirty="0">
                <a:solidFill>
                  <a:srgbClr val="FD4485"/>
                </a:solidFill>
                <a:latin typeface="Monaco" pitchFamily="2" charset="0"/>
              </a:rPr>
              <a:t>=</a:t>
            </a:r>
            <a:r>
              <a:rPr lang="es-CL" sz="1600" dirty="0">
                <a:solidFill>
                  <a:srgbClr val="F9F9F5"/>
                </a:solidFill>
                <a:latin typeface="Monaco" pitchFamily="2" charset="0"/>
              </a:rPr>
              <a:t> suma </a:t>
            </a:r>
            <a:r>
              <a:rPr lang="es-CL" sz="1600" dirty="0">
                <a:solidFill>
                  <a:srgbClr val="FD4485"/>
                </a:solidFill>
                <a:latin typeface="Monaco" pitchFamily="2" charset="0"/>
              </a:rPr>
              <a:t>/</a:t>
            </a:r>
            <a:r>
              <a:rPr lang="es-CL" sz="1600" dirty="0">
                <a:solidFill>
                  <a:srgbClr val="F9F9F5"/>
                </a:solidFill>
                <a:latin typeface="Monaco" pitchFamily="2" charset="0"/>
              </a:rPr>
              <a:t> cont</a:t>
            </a:r>
          </a:p>
          <a:p>
            <a:r>
              <a:rPr lang="es-CL" sz="1600" dirty="0">
                <a:solidFill>
                  <a:srgbClr val="F9F9F5"/>
                </a:solidFill>
                <a:latin typeface="Monaco" pitchFamily="2" charset="0"/>
              </a:rPr>
              <a:t>        </a:t>
            </a:r>
            <a:r>
              <a:rPr lang="es-CL" sz="1600" dirty="0">
                <a:solidFill>
                  <a:srgbClr val="75E0F2"/>
                </a:solidFill>
                <a:latin typeface="Monaco" pitchFamily="2" charset="0"/>
              </a:rPr>
              <a:t>print</a:t>
            </a:r>
            <a:r>
              <a:rPr lang="es-CL" sz="1600" dirty="0">
                <a:solidFill>
                  <a:srgbClr val="F9F9F5"/>
                </a:solidFill>
                <a:latin typeface="Monaco" pitchFamily="2" charset="0"/>
              </a:rPr>
              <a:t>(promedio)</a:t>
            </a:r>
          </a:p>
          <a:p>
            <a:r>
              <a:rPr lang="es-CL" sz="1600" dirty="0">
                <a:solidFill>
                  <a:srgbClr val="75E0F2"/>
                </a:solidFill>
                <a:latin typeface="Monaco" pitchFamily="2" charset="0"/>
              </a:rPr>
              <a:t>print</a:t>
            </a:r>
            <a:r>
              <a:rPr lang="es-CL" sz="1600" dirty="0">
                <a:solidFill>
                  <a:srgbClr val="F9F9F5"/>
                </a:solidFill>
                <a:latin typeface="Monaco" pitchFamily="2" charset="0"/>
              </a:rPr>
              <a:t>(</a:t>
            </a:r>
            <a:r>
              <a:rPr lang="es-CL" sz="1600" dirty="0">
                <a:solidFill>
                  <a:srgbClr val="EBE087"/>
                </a:solidFill>
                <a:latin typeface="Monaco" pitchFamily="2" charset="0"/>
              </a:rPr>
              <a:t>"Promedio muestral:"</a:t>
            </a:r>
            <a:r>
              <a:rPr lang="es-CL" sz="1600" dirty="0">
                <a:solidFill>
                  <a:srgbClr val="F9F9F5"/>
                </a:solidFill>
                <a:latin typeface="Monaco" pitchFamily="2" charset="0"/>
              </a:rPr>
              <a:t>, promedio)</a:t>
            </a:r>
            <a:endParaRPr lang="es-CL" sz="1600" dirty="0">
              <a:solidFill>
                <a:srgbClr val="EBE087"/>
              </a:solidFill>
              <a:effectLst/>
              <a:latin typeface="Monaco" pitchFamily="2" charset="0"/>
            </a:endParaRPr>
          </a:p>
        </p:txBody>
      </p:sp>
      <p:sp>
        <p:nvSpPr>
          <p:cNvPr id="5" name="CuadroTexto 4">
            <a:extLst>
              <a:ext uri="{FF2B5EF4-FFF2-40B4-BE49-F238E27FC236}">
                <a16:creationId xmlns:a16="http://schemas.microsoft.com/office/drawing/2014/main" id="{38F2FEB2-F547-3B4C-A7C2-89D2890906BF}"/>
              </a:ext>
            </a:extLst>
          </p:cNvPr>
          <p:cNvSpPr txBox="1"/>
          <p:nvPr/>
        </p:nvSpPr>
        <p:spPr>
          <a:xfrm>
            <a:off x="8143010" y="5544296"/>
            <a:ext cx="3203863" cy="1200329"/>
          </a:xfrm>
          <a:prstGeom prst="rect">
            <a:avLst/>
          </a:prstGeom>
          <a:noFill/>
        </p:spPr>
        <p:txBody>
          <a:bodyPr wrap="square" rtlCol="0">
            <a:spAutoFit/>
          </a:bodyPr>
          <a:lstStyle/>
          <a:p>
            <a:r>
              <a:rPr lang="es-CL" sz="2400" dirty="0">
                <a:solidFill>
                  <a:schemeClr val="bg1"/>
                </a:solidFill>
              </a:rPr>
              <a:t>¡Ojo con la indentación!</a:t>
            </a:r>
          </a:p>
          <a:p>
            <a:endParaRPr lang="es-CL" sz="2400" dirty="0">
              <a:solidFill>
                <a:schemeClr val="bg1"/>
              </a:solidFill>
            </a:endParaRPr>
          </a:p>
          <a:p>
            <a:endParaRPr lang="es-CL" sz="2400" dirty="0">
              <a:solidFill>
                <a:schemeClr val="bg1"/>
              </a:solidFill>
            </a:endParaRPr>
          </a:p>
        </p:txBody>
      </p:sp>
    </p:spTree>
    <p:extLst>
      <p:ext uri="{BB962C8B-B14F-4D97-AF65-F5344CB8AC3E}">
        <p14:creationId xmlns:p14="http://schemas.microsoft.com/office/powerpoint/2010/main" val="592862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175688F-629B-7B42-B53E-164DAB8FE8C8}"/>
              </a:ext>
            </a:extLst>
          </p:cNvPr>
          <p:cNvSpPr>
            <a:spLocks noGrp="1"/>
          </p:cNvSpPr>
          <p:nvPr>
            <p:ph type="title"/>
          </p:nvPr>
        </p:nvSpPr>
        <p:spPr/>
        <p:txBody>
          <a:bodyPr/>
          <a:lstStyle/>
          <a:p>
            <a:r>
              <a:rPr lang="es-CL" dirty="0">
                <a:solidFill>
                  <a:srgbClr val="66D9EF"/>
                </a:solidFill>
              </a:rPr>
              <a:t>Ejercicio 2: Ruteo</a:t>
            </a:r>
          </a:p>
        </p:txBody>
      </p:sp>
      <p:sp>
        <p:nvSpPr>
          <p:cNvPr id="4" name="Rectángulo 3">
            <a:extLst>
              <a:ext uri="{FF2B5EF4-FFF2-40B4-BE49-F238E27FC236}">
                <a16:creationId xmlns:a16="http://schemas.microsoft.com/office/drawing/2014/main" id="{4FDDD14C-8F3C-7545-9054-5CE7120A53DE}"/>
              </a:ext>
            </a:extLst>
          </p:cNvPr>
          <p:cNvSpPr/>
          <p:nvPr/>
        </p:nvSpPr>
        <p:spPr>
          <a:xfrm>
            <a:off x="1024128" y="1748469"/>
            <a:ext cx="6096000" cy="4524315"/>
          </a:xfrm>
          <a:prstGeom prst="rect">
            <a:avLst/>
          </a:prstGeom>
        </p:spPr>
        <p:txBody>
          <a:bodyPr>
            <a:spAutoFit/>
          </a:bodyPr>
          <a:lstStyle/>
          <a:p>
            <a:r>
              <a:rPr lang="es-CL" dirty="0">
                <a:solidFill>
                  <a:srgbClr val="F9F9F5"/>
                </a:solidFill>
                <a:latin typeface="Monaco" pitchFamily="2" charset="0"/>
              </a:rPr>
              <a:t>a </a:t>
            </a:r>
            <a:r>
              <a:rPr lang="es-CL" dirty="0">
                <a:solidFill>
                  <a:srgbClr val="FD4485"/>
                </a:solidFill>
                <a:latin typeface="Monaco" pitchFamily="2" charset="0"/>
              </a:rPr>
              <a:t>=</a:t>
            </a:r>
            <a:r>
              <a:rPr lang="es-CL" dirty="0">
                <a:solidFill>
                  <a:srgbClr val="F9F9F5"/>
                </a:solidFill>
                <a:latin typeface="Monaco" pitchFamily="2" charset="0"/>
              </a:rPr>
              <a:t> </a:t>
            </a:r>
            <a:r>
              <a:rPr lang="es-CL" dirty="0">
                <a:solidFill>
                  <a:srgbClr val="BD99FF"/>
                </a:solidFill>
                <a:latin typeface="Monaco" pitchFamily="2" charset="0"/>
              </a:rPr>
              <a:t>943</a:t>
            </a:r>
            <a:endParaRPr lang="es-CL" dirty="0">
              <a:solidFill>
                <a:srgbClr val="F9F9F5"/>
              </a:solidFill>
              <a:latin typeface="Monaco" pitchFamily="2" charset="0"/>
            </a:endParaRPr>
          </a:p>
          <a:p>
            <a:r>
              <a:rPr lang="es-CL" dirty="0">
                <a:solidFill>
                  <a:srgbClr val="F9F9F5"/>
                </a:solidFill>
                <a:latin typeface="Monaco" pitchFamily="2" charset="0"/>
              </a:rPr>
              <a:t>flag </a:t>
            </a:r>
            <a:r>
              <a:rPr lang="es-CL" dirty="0">
                <a:solidFill>
                  <a:srgbClr val="FD4485"/>
                </a:solidFill>
                <a:latin typeface="Monaco" pitchFamily="2" charset="0"/>
              </a:rPr>
              <a:t>=</a:t>
            </a:r>
            <a:r>
              <a:rPr lang="es-CL" dirty="0">
                <a:solidFill>
                  <a:srgbClr val="F9F9F5"/>
                </a:solidFill>
                <a:latin typeface="Monaco" pitchFamily="2" charset="0"/>
              </a:rPr>
              <a:t> True</a:t>
            </a:r>
          </a:p>
          <a:p>
            <a:r>
              <a:rPr lang="es-CL" dirty="0">
                <a:solidFill>
                  <a:srgbClr val="F9F9F5"/>
                </a:solidFill>
                <a:latin typeface="Monaco" pitchFamily="2" charset="0"/>
              </a:rPr>
              <a:t>n </a:t>
            </a:r>
            <a:r>
              <a:rPr lang="es-CL" dirty="0">
                <a:solidFill>
                  <a:srgbClr val="FD4485"/>
                </a:solidFill>
                <a:latin typeface="Monaco" pitchFamily="2" charset="0"/>
              </a:rPr>
              <a:t>=</a:t>
            </a:r>
            <a:r>
              <a:rPr lang="es-CL" dirty="0">
                <a:solidFill>
                  <a:srgbClr val="F9F9F5"/>
                </a:solidFill>
                <a:latin typeface="Monaco" pitchFamily="2" charset="0"/>
              </a:rPr>
              <a:t> </a:t>
            </a:r>
            <a:r>
              <a:rPr lang="es-CL" dirty="0">
                <a:solidFill>
                  <a:srgbClr val="BD99FF"/>
                </a:solidFill>
                <a:latin typeface="Monaco" pitchFamily="2" charset="0"/>
              </a:rPr>
              <a:t>0</a:t>
            </a:r>
            <a:endParaRPr lang="es-CL" dirty="0">
              <a:solidFill>
                <a:srgbClr val="F9F9F5"/>
              </a:solidFill>
              <a:latin typeface="Monaco" pitchFamily="2" charset="0"/>
            </a:endParaRPr>
          </a:p>
          <a:p>
            <a:r>
              <a:rPr lang="es-CL" dirty="0">
                <a:solidFill>
                  <a:srgbClr val="F9F9F5"/>
                </a:solidFill>
                <a:latin typeface="Monaco" pitchFamily="2" charset="0"/>
              </a:rPr>
              <a:t>b </a:t>
            </a:r>
            <a:r>
              <a:rPr lang="es-CL" dirty="0">
                <a:solidFill>
                  <a:srgbClr val="FD4485"/>
                </a:solidFill>
                <a:latin typeface="Monaco" pitchFamily="2" charset="0"/>
              </a:rPr>
              <a:t>=</a:t>
            </a:r>
            <a:r>
              <a:rPr lang="es-CL" dirty="0">
                <a:solidFill>
                  <a:srgbClr val="F9F9F5"/>
                </a:solidFill>
                <a:latin typeface="Monaco" pitchFamily="2" charset="0"/>
              </a:rPr>
              <a:t> </a:t>
            </a:r>
            <a:r>
              <a:rPr lang="es-CL" dirty="0">
                <a:solidFill>
                  <a:srgbClr val="BD99FF"/>
                </a:solidFill>
                <a:latin typeface="Monaco" pitchFamily="2" charset="0"/>
              </a:rPr>
              <a:t>0</a:t>
            </a:r>
            <a:endParaRPr lang="es-CL" dirty="0">
              <a:solidFill>
                <a:srgbClr val="F9F9F5"/>
              </a:solidFill>
              <a:latin typeface="Monaco" pitchFamily="2" charset="0"/>
            </a:endParaRPr>
          </a:p>
          <a:p>
            <a:r>
              <a:rPr lang="es-CL" dirty="0">
                <a:solidFill>
                  <a:srgbClr val="F9F9F5"/>
                </a:solidFill>
                <a:latin typeface="Monaco" pitchFamily="2" charset="0"/>
              </a:rPr>
              <a:t>c </a:t>
            </a:r>
            <a:r>
              <a:rPr lang="es-CL" dirty="0">
                <a:solidFill>
                  <a:srgbClr val="FD4485"/>
                </a:solidFill>
                <a:latin typeface="Monaco" pitchFamily="2" charset="0"/>
              </a:rPr>
              <a:t>=</a:t>
            </a:r>
            <a:r>
              <a:rPr lang="es-CL" dirty="0">
                <a:solidFill>
                  <a:srgbClr val="F9F9F5"/>
                </a:solidFill>
                <a:latin typeface="Monaco" pitchFamily="2" charset="0"/>
              </a:rPr>
              <a:t> </a:t>
            </a:r>
            <a:r>
              <a:rPr lang="es-CL" dirty="0">
                <a:solidFill>
                  <a:srgbClr val="BD99FF"/>
                </a:solidFill>
                <a:latin typeface="Monaco" pitchFamily="2" charset="0"/>
              </a:rPr>
              <a:t>0</a:t>
            </a:r>
            <a:endParaRPr lang="es-CL" dirty="0">
              <a:solidFill>
                <a:srgbClr val="F9F9F5"/>
              </a:solidFill>
              <a:latin typeface="Monaco" pitchFamily="2" charset="0"/>
            </a:endParaRPr>
          </a:p>
          <a:p>
            <a:r>
              <a:rPr lang="es-CL" dirty="0">
                <a:solidFill>
                  <a:srgbClr val="75E0F2"/>
                </a:solidFill>
                <a:latin typeface="Monaco" pitchFamily="2" charset="0"/>
              </a:rPr>
              <a:t>while</a:t>
            </a:r>
            <a:r>
              <a:rPr lang="es-CL" dirty="0">
                <a:solidFill>
                  <a:srgbClr val="F9F9F5"/>
                </a:solidFill>
                <a:latin typeface="Monaco" pitchFamily="2" charset="0"/>
              </a:rPr>
              <a:t> flag :</a:t>
            </a:r>
          </a:p>
          <a:p>
            <a:r>
              <a:rPr lang="es-CL" dirty="0">
                <a:solidFill>
                  <a:srgbClr val="F9F9F5"/>
                </a:solidFill>
                <a:latin typeface="Monaco" pitchFamily="2" charset="0"/>
              </a:rPr>
              <a:t>    d </a:t>
            </a:r>
            <a:r>
              <a:rPr lang="es-CL" dirty="0">
                <a:solidFill>
                  <a:srgbClr val="FD4485"/>
                </a:solidFill>
                <a:latin typeface="Monaco" pitchFamily="2" charset="0"/>
              </a:rPr>
              <a:t>=</a:t>
            </a:r>
            <a:r>
              <a:rPr lang="es-CL" dirty="0">
                <a:solidFill>
                  <a:srgbClr val="F9F9F5"/>
                </a:solidFill>
                <a:latin typeface="Monaco" pitchFamily="2" charset="0"/>
              </a:rPr>
              <a:t> a </a:t>
            </a:r>
            <a:r>
              <a:rPr lang="es-CL" dirty="0">
                <a:solidFill>
                  <a:srgbClr val="FD4485"/>
                </a:solidFill>
                <a:latin typeface="Monaco" pitchFamily="2" charset="0"/>
              </a:rPr>
              <a:t>%</a:t>
            </a:r>
            <a:r>
              <a:rPr lang="es-CL" dirty="0">
                <a:solidFill>
                  <a:srgbClr val="F9F9F5"/>
                </a:solidFill>
                <a:latin typeface="Monaco" pitchFamily="2" charset="0"/>
              </a:rPr>
              <a:t> </a:t>
            </a:r>
            <a:r>
              <a:rPr lang="es-CL" dirty="0">
                <a:solidFill>
                  <a:srgbClr val="BD99FF"/>
                </a:solidFill>
                <a:latin typeface="Monaco" pitchFamily="2" charset="0"/>
              </a:rPr>
              <a:t>10</a:t>
            </a:r>
            <a:endParaRPr lang="es-CL" dirty="0">
              <a:solidFill>
                <a:srgbClr val="F9F9F5"/>
              </a:solidFill>
              <a:latin typeface="Monaco" pitchFamily="2" charset="0"/>
            </a:endParaRPr>
          </a:p>
          <a:p>
            <a:r>
              <a:rPr lang="es-CL" dirty="0">
                <a:solidFill>
                  <a:srgbClr val="F9F9F5"/>
                </a:solidFill>
                <a:latin typeface="Monaco" pitchFamily="2" charset="0"/>
              </a:rPr>
              <a:t>    a </a:t>
            </a:r>
            <a:r>
              <a:rPr lang="es-CL" dirty="0">
                <a:solidFill>
                  <a:srgbClr val="FD4485"/>
                </a:solidFill>
                <a:latin typeface="Monaco" pitchFamily="2" charset="0"/>
              </a:rPr>
              <a:t>=</a:t>
            </a:r>
            <a:r>
              <a:rPr lang="es-CL" dirty="0">
                <a:solidFill>
                  <a:srgbClr val="F9F9F5"/>
                </a:solidFill>
                <a:latin typeface="Monaco" pitchFamily="2" charset="0"/>
              </a:rPr>
              <a:t> a </a:t>
            </a:r>
            <a:r>
              <a:rPr lang="es-CL" dirty="0">
                <a:solidFill>
                  <a:srgbClr val="FD4485"/>
                </a:solidFill>
                <a:latin typeface="Monaco" pitchFamily="2" charset="0"/>
              </a:rPr>
              <a:t>//</a:t>
            </a:r>
            <a:r>
              <a:rPr lang="es-CL" dirty="0">
                <a:solidFill>
                  <a:srgbClr val="F9F9F5"/>
                </a:solidFill>
                <a:latin typeface="Monaco" pitchFamily="2" charset="0"/>
              </a:rPr>
              <a:t> </a:t>
            </a:r>
            <a:r>
              <a:rPr lang="es-CL" dirty="0">
                <a:solidFill>
                  <a:srgbClr val="BD99FF"/>
                </a:solidFill>
                <a:latin typeface="Monaco" pitchFamily="2" charset="0"/>
              </a:rPr>
              <a:t>10</a:t>
            </a:r>
            <a:endParaRPr lang="es-CL" dirty="0">
              <a:solidFill>
                <a:srgbClr val="F9F9F5"/>
              </a:solidFill>
              <a:latin typeface="Monaco" pitchFamily="2" charset="0"/>
            </a:endParaRPr>
          </a:p>
          <a:p>
            <a:r>
              <a:rPr lang="es-CL" dirty="0">
                <a:solidFill>
                  <a:srgbClr val="F9F9F5"/>
                </a:solidFill>
                <a:latin typeface="Monaco" pitchFamily="2" charset="0"/>
              </a:rPr>
              <a:t>    n </a:t>
            </a:r>
            <a:r>
              <a:rPr lang="es-CL" dirty="0">
                <a:solidFill>
                  <a:srgbClr val="FD4485"/>
                </a:solidFill>
                <a:latin typeface="Monaco" pitchFamily="2" charset="0"/>
              </a:rPr>
              <a:t>=</a:t>
            </a:r>
            <a:r>
              <a:rPr lang="es-CL" dirty="0">
                <a:solidFill>
                  <a:srgbClr val="F9F9F5"/>
                </a:solidFill>
                <a:latin typeface="Monaco" pitchFamily="2" charset="0"/>
              </a:rPr>
              <a:t> n </a:t>
            </a:r>
            <a:r>
              <a:rPr lang="es-CL" dirty="0">
                <a:solidFill>
                  <a:srgbClr val="FD4485"/>
                </a:solidFill>
                <a:latin typeface="Monaco" pitchFamily="2" charset="0"/>
              </a:rPr>
              <a:t>*</a:t>
            </a:r>
            <a:r>
              <a:rPr lang="es-CL" dirty="0">
                <a:solidFill>
                  <a:srgbClr val="F9F9F5"/>
                </a:solidFill>
                <a:latin typeface="Monaco" pitchFamily="2" charset="0"/>
              </a:rPr>
              <a:t> </a:t>
            </a:r>
            <a:r>
              <a:rPr lang="es-CL" dirty="0">
                <a:solidFill>
                  <a:srgbClr val="BD99FF"/>
                </a:solidFill>
                <a:latin typeface="Monaco" pitchFamily="2" charset="0"/>
              </a:rPr>
              <a:t>10</a:t>
            </a:r>
            <a:r>
              <a:rPr lang="es-CL" dirty="0">
                <a:solidFill>
                  <a:srgbClr val="F9F9F5"/>
                </a:solidFill>
                <a:latin typeface="Monaco" pitchFamily="2" charset="0"/>
              </a:rPr>
              <a:t> </a:t>
            </a:r>
            <a:r>
              <a:rPr lang="es-CL" dirty="0">
                <a:solidFill>
                  <a:srgbClr val="FD4485"/>
                </a:solidFill>
                <a:latin typeface="Monaco" pitchFamily="2" charset="0"/>
              </a:rPr>
              <a:t>+</a:t>
            </a:r>
            <a:r>
              <a:rPr lang="es-CL" dirty="0">
                <a:solidFill>
                  <a:srgbClr val="F9F9F5"/>
                </a:solidFill>
                <a:latin typeface="Monaco" pitchFamily="2" charset="0"/>
              </a:rPr>
              <a:t> d</a:t>
            </a:r>
          </a:p>
          <a:p>
            <a:r>
              <a:rPr lang="es-CL" dirty="0">
                <a:solidFill>
                  <a:srgbClr val="F9F9F5"/>
                </a:solidFill>
                <a:latin typeface="Monaco" pitchFamily="2" charset="0"/>
              </a:rPr>
              <a:t>    </a:t>
            </a:r>
            <a:r>
              <a:rPr lang="es-CL" dirty="0">
                <a:solidFill>
                  <a:srgbClr val="75E0F2"/>
                </a:solidFill>
                <a:latin typeface="Monaco" pitchFamily="2" charset="0"/>
              </a:rPr>
              <a:t>if</a:t>
            </a:r>
            <a:r>
              <a:rPr lang="es-CL" dirty="0">
                <a:solidFill>
                  <a:srgbClr val="F9F9F5"/>
                </a:solidFill>
                <a:latin typeface="Monaco" pitchFamily="2" charset="0"/>
              </a:rPr>
              <a:t> d </a:t>
            </a:r>
            <a:r>
              <a:rPr lang="es-CL" dirty="0">
                <a:solidFill>
                  <a:srgbClr val="FD4485"/>
                </a:solidFill>
                <a:latin typeface="Monaco" pitchFamily="2" charset="0"/>
              </a:rPr>
              <a:t>%</a:t>
            </a:r>
            <a:r>
              <a:rPr lang="es-CL" dirty="0">
                <a:solidFill>
                  <a:srgbClr val="F9F9F5"/>
                </a:solidFill>
                <a:latin typeface="Monaco" pitchFamily="2" charset="0"/>
              </a:rPr>
              <a:t> </a:t>
            </a:r>
            <a:r>
              <a:rPr lang="es-CL" dirty="0">
                <a:solidFill>
                  <a:srgbClr val="BD99FF"/>
                </a:solidFill>
                <a:latin typeface="Monaco" pitchFamily="2" charset="0"/>
              </a:rPr>
              <a:t>2</a:t>
            </a:r>
            <a:r>
              <a:rPr lang="es-CL" dirty="0">
                <a:solidFill>
                  <a:srgbClr val="F9F9F5"/>
                </a:solidFill>
                <a:latin typeface="Monaco" pitchFamily="2" charset="0"/>
              </a:rPr>
              <a:t> </a:t>
            </a:r>
            <a:r>
              <a:rPr lang="es-CL" dirty="0">
                <a:solidFill>
                  <a:srgbClr val="FD4485"/>
                </a:solidFill>
                <a:latin typeface="Monaco" pitchFamily="2" charset="0"/>
              </a:rPr>
              <a:t>==</a:t>
            </a:r>
            <a:r>
              <a:rPr lang="es-CL" dirty="0">
                <a:solidFill>
                  <a:srgbClr val="F9F9F5"/>
                </a:solidFill>
                <a:latin typeface="Monaco" pitchFamily="2" charset="0"/>
              </a:rPr>
              <a:t> </a:t>
            </a:r>
            <a:r>
              <a:rPr lang="es-CL" dirty="0">
                <a:solidFill>
                  <a:srgbClr val="BD99FF"/>
                </a:solidFill>
                <a:latin typeface="Monaco" pitchFamily="2" charset="0"/>
              </a:rPr>
              <a:t>0</a:t>
            </a:r>
            <a:r>
              <a:rPr lang="es-CL" dirty="0">
                <a:solidFill>
                  <a:srgbClr val="F9F9F5"/>
                </a:solidFill>
                <a:latin typeface="Monaco" pitchFamily="2" charset="0"/>
              </a:rPr>
              <a:t>:</a:t>
            </a:r>
          </a:p>
          <a:p>
            <a:r>
              <a:rPr lang="es-CL" dirty="0">
                <a:solidFill>
                  <a:srgbClr val="F9F9F5"/>
                </a:solidFill>
                <a:latin typeface="Monaco" pitchFamily="2" charset="0"/>
              </a:rPr>
              <a:t>    	b </a:t>
            </a:r>
            <a:r>
              <a:rPr lang="es-CL" dirty="0">
                <a:solidFill>
                  <a:srgbClr val="FD4485"/>
                </a:solidFill>
                <a:latin typeface="Monaco" pitchFamily="2" charset="0"/>
              </a:rPr>
              <a:t>=</a:t>
            </a:r>
            <a:r>
              <a:rPr lang="es-CL" dirty="0">
                <a:solidFill>
                  <a:srgbClr val="F9F9F5"/>
                </a:solidFill>
                <a:latin typeface="Monaco" pitchFamily="2" charset="0"/>
              </a:rPr>
              <a:t> b </a:t>
            </a:r>
            <a:r>
              <a:rPr lang="es-CL" dirty="0">
                <a:solidFill>
                  <a:srgbClr val="FD4485"/>
                </a:solidFill>
                <a:latin typeface="Monaco" pitchFamily="2" charset="0"/>
              </a:rPr>
              <a:t>+</a:t>
            </a:r>
            <a:r>
              <a:rPr lang="es-CL" dirty="0">
                <a:solidFill>
                  <a:srgbClr val="F9F9F5"/>
                </a:solidFill>
                <a:latin typeface="Monaco" pitchFamily="2" charset="0"/>
              </a:rPr>
              <a:t> </a:t>
            </a:r>
            <a:r>
              <a:rPr lang="es-CL" dirty="0">
                <a:solidFill>
                  <a:srgbClr val="BD99FF"/>
                </a:solidFill>
                <a:latin typeface="Monaco" pitchFamily="2" charset="0"/>
              </a:rPr>
              <a:t>1</a:t>
            </a:r>
            <a:endParaRPr lang="es-CL" dirty="0">
              <a:solidFill>
                <a:srgbClr val="F9F9F5"/>
              </a:solidFill>
              <a:latin typeface="Monaco" pitchFamily="2" charset="0"/>
            </a:endParaRPr>
          </a:p>
          <a:p>
            <a:r>
              <a:rPr lang="es-CL" dirty="0">
                <a:solidFill>
                  <a:srgbClr val="F9F9F5"/>
                </a:solidFill>
                <a:latin typeface="Monaco" pitchFamily="2" charset="0"/>
              </a:rPr>
              <a:t>    </a:t>
            </a:r>
            <a:r>
              <a:rPr lang="es-CL" dirty="0">
                <a:solidFill>
                  <a:srgbClr val="75E0F2"/>
                </a:solidFill>
                <a:latin typeface="Monaco" pitchFamily="2" charset="0"/>
              </a:rPr>
              <a:t>else</a:t>
            </a:r>
            <a:r>
              <a:rPr lang="es-CL" dirty="0">
                <a:solidFill>
                  <a:srgbClr val="F9F9F5"/>
                </a:solidFill>
                <a:latin typeface="Monaco" pitchFamily="2" charset="0"/>
              </a:rPr>
              <a:t>:</a:t>
            </a:r>
          </a:p>
          <a:p>
            <a:r>
              <a:rPr lang="es-CL" dirty="0">
                <a:solidFill>
                  <a:srgbClr val="F9F9F5"/>
                </a:solidFill>
                <a:latin typeface="Monaco" pitchFamily="2" charset="0"/>
              </a:rPr>
              <a:t>    	c </a:t>
            </a:r>
            <a:r>
              <a:rPr lang="es-CL" dirty="0">
                <a:solidFill>
                  <a:srgbClr val="FD4485"/>
                </a:solidFill>
                <a:latin typeface="Monaco" pitchFamily="2" charset="0"/>
              </a:rPr>
              <a:t>=</a:t>
            </a:r>
            <a:r>
              <a:rPr lang="es-CL" dirty="0">
                <a:solidFill>
                  <a:srgbClr val="F9F9F5"/>
                </a:solidFill>
                <a:latin typeface="Monaco" pitchFamily="2" charset="0"/>
              </a:rPr>
              <a:t> c </a:t>
            </a:r>
            <a:r>
              <a:rPr lang="es-CL" dirty="0">
                <a:solidFill>
                  <a:srgbClr val="FD4485"/>
                </a:solidFill>
                <a:latin typeface="Monaco" pitchFamily="2" charset="0"/>
              </a:rPr>
              <a:t>+</a:t>
            </a:r>
            <a:r>
              <a:rPr lang="es-CL" dirty="0">
                <a:solidFill>
                  <a:srgbClr val="F9F9F5"/>
                </a:solidFill>
                <a:latin typeface="Monaco" pitchFamily="2" charset="0"/>
              </a:rPr>
              <a:t> </a:t>
            </a:r>
            <a:r>
              <a:rPr lang="es-CL" dirty="0">
                <a:solidFill>
                  <a:srgbClr val="BD99FF"/>
                </a:solidFill>
                <a:latin typeface="Monaco" pitchFamily="2" charset="0"/>
              </a:rPr>
              <a:t>1</a:t>
            </a:r>
            <a:endParaRPr lang="es-CL" dirty="0">
              <a:solidFill>
                <a:srgbClr val="F9F9F5"/>
              </a:solidFill>
              <a:latin typeface="Monaco" pitchFamily="2" charset="0"/>
            </a:endParaRPr>
          </a:p>
          <a:p>
            <a:r>
              <a:rPr lang="es-CL" dirty="0">
                <a:solidFill>
                  <a:srgbClr val="F9F9F5"/>
                </a:solidFill>
                <a:latin typeface="Monaco" pitchFamily="2" charset="0"/>
              </a:rPr>
              <a:t>    </a:t>
            </a:r>
            <a:r>
              <a:rPr lang="es-CL" dirty="0">
                <a:solidFill>
                  <a:srgbClr val="75E0F2"/>
                </a:solidFill>
                <a:latin typeface="Monaco" pitchFamily="2" charset="0"/>
              </a:rPr>
              <a:t>if</a:t>
            </a:r>
            <a:r>
              <a:rPr lang="es-CL" dirty="0">
                <a:solidFill>
                  <a:srgbClr val="F9F9F5"/>
                </a:solidFill>
                <a:latin typeface="Monaco" pitchFamily="2" charset="0"/>
              </a:rPr>
              <a:t> a </a:t>
            </a:r>
            <a:r>
              <a:rPr lang="es-CL" dirty="0">
                <a:solidFill>
                  <a:srgbClr val="FD4485"/>
                </a:solidFill>
                <a:latin typeface="Monaco" pitchFamily="2" charset="0"/>
              </a:rPr>
              <a:t>==</a:t>
            </a:r>
            <a:r>
              <a:rPr lang="es-CL" dirty="0">
                <a:solidFill>
                  <a:srgbClr val="F9F9F5"/>
                </a:solidFill>
                <a:latin typeface="Monaco" pitchFamily="2" charset="0"/>
              </a:rPr>
              <a:t> </a:t>
            </a:r>
            <a:r>
              <a:rPr lang="es-CL" dirty="0">
                <a:solidFill>
                  <a:srgbClr val="BD99FF"/>
                </a:solidFill>
                <a:latin typeface="Monaco" pitchFamily="2" charset="0"/>
              </a:rPr>
              <a:t>0</a:t>
            </a:r>
            <a:r>
              <a:rPr lang="es-CL" dirty="0">
                <a:solidFill>
                  <a:srgbClr val="F9F9F5"/>
                </a:solidFill>
                <a:latin typeface="Monaco" pitchFamily="2" charset="0"/>
              </a:rPr>
              <a:t>:</a:t>
            </a:r>
          </a:p>
          <a:p>
            <a:r>
              <a:rPr lang="es-CL" dirty="0">
                <a:solidFill>
                  <a:srgbClr val="F9F9F5"/>
                </a:solidFill>
                <a:latin typeface="Monaco" pitchFamily="2" charset="0"/>
              </a:rPr>
              <a:t>    	flag </a:t>
            </a:r>
            <a:r>
              <a:rPr lang="es-CL" dirty="0">
                <a:solidFill>
                  <a:srgbClr val="FD4485"/>
                </a:solidFill>
                <a:latin typeface="Monaco" pitchFamily="2" charset="0"/>
              </a:rPr>
              <a:t>=</a:t>
            </a:r>
            <a:r>
              <a:rPr lang="es-CL" dirty="0">
                <a:solidFill>
                  <a:srgbClr val="F9F9F5"/>
                </a:solidFill>
                <a:latin typeface="Monaco" pitchFamily="2" charset="0"/>
              </a:rPr>
              <a:t> False</a:t>
            </a:r>
          </a:p>
          <a:p>
            <a:r>
              <a:rPr lang="es-CL" dirty="0">
                <a:solidFill>
                  <a:srgbClr val="75E0F2"/>
                </a:solidFill>
                <a:latin typeface="Monaco" pitchFamily="2" charset="0"/>
              </a:rPr>
              <a:t>print</a:t>
            </a:r>
            <a:r>
              <a:rPr lang="es-CL" dirty="0">
                <a:solidFill>
                  <a:srgbClr val="F9F9F5"/>
                </a:solidFill>
                <a:latin typeface="Monaco" pitchFamily="2" charset="0"/>
              </a:rPr>
              <a:t> (n,b,c)</a:t>
            </a:r>
            <a:endParaRPr lang="es-CL" dirty="0">
              <a:solidFill>
                <a:srgbClr val="F9F9F5"/>
              </a:solidFill>
              <a:effectLst/>
              <a:latin typeface="Monaco" pitchFamily="2" charset="0"/>
            </a:endParaRPr>
          </a:p>
        </p:txBody>
      </p:sp>
      <p:graphicFrame>
        <p:nvGraphicFramePr>
          <p:cNvPr id="6" name="Tabla 5">
            <a:extLst>
              <a:ext uri="{FF2B5EF4-FFF2-40B4-BE49-F238E27FC236}">
                <a16:creationId xmlns:a16="http://schemas.microsoft.com/office/drawing/2014/main" id="{4C307DE7-A3F6-E246-A152-DD859246E9F3}"/>
              </a:ext>
            </a:extLst>
          </p:cNvPr>
          <p:cNvGraphicFramePr>
            <a:graphicFrameLocks noGrp="1"/>
          </p:cNvGraphicFramePr>
          <p:nvPr>
            <p:extLst>
              <p:ext uri="{D42A27DB-BD31-4B8C-83A1-F6EECF244321}">
                <p14:modId xmlns:p14="http://schemas.microsoft.com/office/powerpoint/2010/main" val="963623989"/>
              </p:ext>
            </p:extLst>
          </p:nvPr>
        </p:nvGraphicFramePr>
        <p:xfrm>
          <a:off x="6705045" y="141552"/>
          <a:ext cx="4711654" cy="6574896"/>
        </p:xfrm>
        <a:graphic>
          <a:graphicData uri="http://schemas.openxmlformats.org/drawingml/2006/table">
            <a:tbl>
              <a:tblPr firstRow="1" bandRow="1">
                <a:tableStyleId>{5C22544A-7EE6-4342-B048-85BDC9FD1C3A}</a:tableStyleId>
              </a:tblPr>
              <a:tblGrid>
                <a:gridCol w="632808">
                  <a:extLst>
                    <a:ext uri="{9D8B030D-6E8A-4147-A177-3AD203B41FA5}">
                      <a16:colId xmlns:a16="http://schemas.microsoft.com/office/drawing/2014/main" val="386952412"/>
                    </a:ext>
                  </a:extLst>
                </a:gridCol>
                <a:gridCol w="877546">
                  <a:extLst>
                    <a:ext uri="{9D8B030D-6E8A-4147-A177-3AD203B41FA5}">
                      <a16:colId xmlns:a16="http://schemas.microsoft.com/office/drawing/2014/main" val="1025353410"/>
                    </a:ext>
                  </a:extLst>
                </a:gridCol>
                <a:gridCol w="800325">
                  <a:extLst>
                    <a:ext uri="{9D8B030D-6E8A-4147-A177-3AD203B41FA5}">
                      <a16:colId xmlns:a16="http://schemas.microsoft.com/office/drawing/2014/main" val="3394299203"/>
                    </a:ext>
                  </a:extLst>
                </a:gridCol>
                <a:gridCol w="800325">
                  <a:extLst>
                    <a:ext uri="{9D8B030D-6E8A-4147-A177-3AD203B41FA5}">
                      <a16:colId xmlns:a16="http://schemas.microsoft.com/office/drawing/2014/main" val="955756783"/>
                    </a:ext>
                  </a:extLst>
                </a:gridCol>
                <a:gridCol w="800325">
                  <a:extLst>
                    <a:ext uri="{9D8B030D-6E8A-4147-A177-3AD203B41FA5}">
                      <a16:colId xmlns:a16="http://schemas.microsoft.com/office/drawing/2014/main" val="3730533497"/>
                    </a:ext>
                  </a:extLst>
                </a:gridCol>
                <a:gridCol w="800325">
                  <a:extLst>
                    <a:ext uri="{9D8B030D-6E8A-4147-A177-3AD203B41FA5}">
                      <a16:colId xmlns:a16="http://schemas.microsoft.com/office/drawing/2014/main" val="1874207787"/>
                    </a:ext>
                  </a:extLst>
                </a:gridCol>
              </a:tblGrid>
              <a:tr h="321298">
                <a:tc>
                  <a:txBody>
                    <a:bodyPr/>
                    <a:lstStyle/>
                    <a:p>
                      <a:pPr algn="ctr"/>
                      <a:r>
                        <a:rPr lang="es-CL" sz="1600" dirty="0"/>
                        <a:t>a</a:t>
                      </a:r>
                    </a:p>
                  </a:txBody>
                  <a:tcPr/>
                </a:tc>
                <a:tc>
                  <a:txBody>
                    <a:bodyPr/>
                    <a:lstStyle/>
                    <a:p>
                      <a:pPr algn="ctr"/>
                      <a:r>
                        <a:rPr lang="es-CL" sz="1600" dirty="0"/>
                        <a:t>flag</a:t>
                      </a:r>
                    </a:p>
                  </a:txBody>
                  <a:tcPr/>
                </a:tc>
                <a:tc>
                  <a:txBody>
                    <a:bodyPr/>
                    <a:lstStyle/>
                    <a:p>
                      <a:pPr algn="ctr"/>
                      <a:r>
                        <a:rPr lang="es-CL" sz="1600" dirty="0"/>
                        <a:t>n</a:t>
                      </a:r>
                    </a:p>
                  </a:txBody>
                  <a:tcPr/>
                </a:tc>
                <a:tc>
                  <a:txBody>
                    <a:bodyPr/>
                    <a:lstStyle/>
                    <a:p>
                      <a:pPr algn="ctr"/>
                      <a:r>
                        <a:rPr lang="es-CL" sz="1600" dirty="0"/>
                        <a:t>b</a:t>
                      </a:r>
                    </a:p>
                  </a:txBody>
                  <a:tcPr/>
                </a:tc>
                <a:tc>
                  <a:txBody>
                    <a:bodyPr/>
                    <a:lstStyle/>
                    <a:p>
                      <a:pPr algn="ctr"/>
                      <a:r>
                        <a:rPr lang="es-CL" sz="1600" dirty="0"/>
                        <a:t>c</a:t>
                      </a:r>
                    </a:p>
                  </a:txBody>
                  <a:tcPr/>
                </a:tc>
                <a:tc>
                  <a:txBody>
                    <a:bodyPr/>
                    <a:lstStyle/>
                    <a:p>
                      <a:pPr algn="ctr"/>
                      <a:r>
                        <a:rPr lang="es-CL" sz="1600" dirty="0"/>
                        <a:t>d</a:t>
                      </a:r>
                    </a:p>
                  </a:txBody>
                  <a:tcPr/>
                </a:tc>
                <a:extLst>
                  <a:ext uri="{0D108BD9-81ED-4DB2-BD59-A6C34878D82A}">
                    <a16:rowId xmlns:a16="http://schemas.microsoft.com/office/drawing/2014/main" val="1417958149"/>
                  </a:ext>
                </a:extLst>
              </a:tr>
              <a:tr h="321298">
                <a:tc>
                  <a:txBody>
                    <a:bodyPr/>
                    <a:lstStyle/>
                    <a:p>
                      <a:pPr algn="ctr"/>
                      <a:endParaRPr lang="es-CL" sz="1600" dirty="0"/>
                    </a:p>
                  </a:txBody>
                  <a:tcPr/>
                </a:tc>
                <a:tc>
                  <a:txBody>
                    <a:bodyPr/>
                    <a:lstStyle/>
                    <a:p>
                      <a:pPr algn="ctr"/>
                      <a:endParaRPr lang="es-CL" sz="1600" dirty="0"/>
                    </a:p>
                  </a:txBody>
                  <a:tcPr/>
                </a:tc>
                <a:tc>
                  <a:txBody>
                    <a:bodyPr/>
                    <a:lstStyle/>
                    <a:p>
                      <a:pPr algn="ctr"/>
                      <a:endParaRPr lang="es-CL" sz="1600"/>
                    </a:p>
                  </a:txBody>
                  <a:tcPr/>
                </a:tc>
                <a:tc>
                  <a:txBody>
                    <a:bodyPr/>
                    <a:lstStyle/>
                    <a:p>
                      <a:pPr algn="ctr"/>
                      <a:endParaRPr lang="es-CL" sz="1600" dirty="0"/>
                    </a:p>
                  </a:txBody>
                  <a:tcPr/>
                </a:tc>
                <a:tc>
                  <a:txBody>
                    <a:bodyPr/>
                    <a:lstStyle/>
                    <a:p>
                      <a:pPr algn="ctr"/>
                      <a:endParaRPr lang="es-CL" sz="1600"/>
                    </a:p>
                  </a:txBody>
                  <a:tcPr/>
                </a:tc>
                <a:tc>
                  <a:txBody>
                    <a:bodyPr/>
                    <a:lstStyle/>
                    <a:p>
                      <a:pPr algn="ctr"/>
                      <a:endParaRPr lang="es-CL" sz="1600"/>
                    </a:p>
                  </a:txBody>
                  <a:tcPr/>
                </a:tc>
                <a:extLst>
                  <a:ext uri="{0D108BD9-81ED-4DB2-BD59-A6C34878D82A}">
                    <a16:rowId xmlns:a16="http://schemas.microsoft.com/office/drawing/2014/main" val="1601430820"/>
                  </a:ext>
                </a:extLst>
              </a:tr>
              <a:tr h="321298">
                <a:tc>
                  <a:txBody>
                    <a:bodyPr/>
                    <a:lstStyle/>
                    <a:p>
                      <a:pPr algn="ctr"/>
                      <a:endParaRPr lang="es-CL" sz="1600" dirty="0"/>
                    </a:p>
                  </a:txBody>
                  <a:tcPr/>
                </a:tc>
                <a:tc>
                  <a:txBody>
                    <a:bodyPr/>
                    <a:lstStyle/>
                    <a:p>
                      <a:pPr algn="ctr"/>
                      <a:endParaRPr lang="es-CL" sz="1600" dirty="0"/>
                    </a:p>
                  </a:txBody>
                  <a:tcPr/>
                </a:tc>
                <a:tc>
                  <a:txBody>
                    <a:bodyPr/>
                    <a:lstStyle/>
                    <a:p>
                      <a:pPr algn="ctr"/>
                      <a:endParaRPr lang="es-CL" sz="1600" dirty="0"/>
                    </a:p>
                  </a:txBody>
                  <a:tcPr/>
                </a:tc>
                <a:tc>
                  <a:txBody>
                    <a:bodyPr/>
                    <a:lstStyle/>
                    <a:p>
                      <a:pPr algn="ctr"/>
                      <a:endParaRPr lang="es-CL" sz="1600"/>
                    </a:p>
                  </a:txBody>
                  <a:tcPr/>
                </a:tc>
                <a:tc>
                  <a:txBody>
                    <a:bodyPr/>
                    <a:lstStyle/>
                    <a:p>
                      <a:pPr algn="ctr"/>
                      <a:endParaRPr lang="es-CL" sz="1600"/>
                    </a:p>
                  </a:txBody>
                  <a:tcPr/>
                </a:tc>
                <a:tc>
                  <a:txBody>
                    <a:bodyPr/>
                    <a:lstStyle/>
                    <a:p>
                      <a:pPr algn="ctr"/>
                      <a:endParaRPr lang="es-CL" sz="1600"/>
                    </a:p>
                  </a:txBody>
                  <a:tcPr/>
                </a:tc>
                <a:extLst>
                  <a:ext uri="{0D108BD9-81ED-4DB2-BD59-A6C34878D82A}">
                    <a16:rowId xmlns:a16="http://schemas.microsoft.com/office/drawing/2014/main" val="1680474890"/>
                  </a:ext>
                </a:extLst>
              </a:tr>
              <a:tr h="321298">
                <a:tc>
                  <a:txBody>
                    <a:bodyPr/>
                    <a:lstStyle/>
                    <a:p>
                      <a:pPr algn="ctr"/>
                      <a:endParaRPr lang="es-CL" sz="1600" dirty="0"/>
                    </a:p>
                  </a:txBody>
                  <a:tcPr/>
                </a:tc>
                <a:tc>
                  <a:txBody>
                    <a:bodyPr/>
                    <a:lstStyle/>
                    <a:p>
                      <a:pPr algn="ctr"/>
                      <a:endParaRPr lang="es-CL" sz="1600" dirty="0"/>
                    </a:p>
                  </a:txBody>
                  <a:tcPr/>
                </a:tc>
                <a:tc>
                  <a:txBody>
                    <a:bodyPr/>
                    <a:lstStyle/>
                    <a:p>
                      <a:pPr algn="ctr"/>
                      <a:endParaRPr lang="es-CL" sz="1600" dirty="0"/>
                    </a:p>
                  </a:txBody>
                  <a:tcPr/>
                </a:tc>
                <a:tc>
                  <a:txBody>
                    <a:bodyPr/>
                    <a:lstStyle/>
                    <a:p>
                      <a:pPr algn="ctr"/>
                      <a:endParaRPr lang="es-CL" sz="1600" dirty="0"/>
                    </a:p>
                  </a:txBody>
                  <a:tcPr/>
                </a:tc>
                <a:tc>
                  <a:txBody>
                    <a:bodyPr/>
                    <a:lstStyle/>
                    <a:p>
                      <a:pPr algn="ctr"/>
                      <a:endParaRPr lang="es-CL" sz="1600"/>
                    </a:p>
                  </a:txBody>
                  <a:tcPr/>
                </a:tc>
                <a:tc>
                  <a:txBody>
                    <a:bodyPr/>
                    <a:lstStyle/>
                    <a:p>
                      <a:pPr algn="ctr"/>
                      <a:endParaRPr lang="es-CL" sz="1600"/>
                    </a:p>
                  </a:txBody>
                  <a:tcPr/>
                </a:tc>
                <a:extLst>
                  <a:ext uri="{0D108BD9-81ED-4DB2-BD59-A6C34878D82A}">
                    <a16:rowId xmlns:a16="http://schemas.microsoft.com/office/drawing/2014/main" val="1755278402"/>
                  </a:ext>
                </a:extLst>
              </a:tr>
              <a:tr h="321298">
                <a:tc>
                  <a:txBody>
                    <a:bodyPr/>
                    <a:lstStyle/>
                    <a:p>
                      <a:pPr algn="ctr"/>
                      <a:endParaRPr lang="es-CL" sz="1600"/>
                    </a:p>
                  </a:txBody>
                  <a:tcPr/>
                </a:tc>
                <a:tc>
                  <a:txBody>
                    <a:bodyPr/>
                    <a:lstStyle/>
                    <a:p>
                      <a:pPr algn="ctr"/>
                      <a:endParaRPr lang="es-CL" sz="1600"/>
                    </a:p>
                  </a:txBody>
                  <a:tcPr/>
                </a:tc>
                <a:tc>
                  <a:txBody>
                    <a:bodyPr/>
                    <a:lstStyle/>
                    <a:p>
                      <a:pPr algn="ctr"/>
                      <a:endParaRPr lang="es-CL" sz="1600" dirty="0"/>
                    </a:p>
                  </a:txBody>
                  <a:tcPr/>
                </a:tc>
                <a:tc>
                  <a:txBody>
                    <a:bodyPr/>
                    <a:lstStyle/>
                    <a:p>
                      <a:pPr algn="ctr"/>
                      <a:endParaRPr lang="es-CL" sz="1600" dirty="0"/>
                    </a:p>
                  </a:txBody>
                  <a:tcPr/>
                </a:tc>
                <a:tc>
                  <a:txBody>
                    <a:bodyPr/>
                    <a:lstStyle/>
                    <a:p>
                      <a:pPr algn="ctr"/>
                      <a:endParaRPr lang="es-CL" sz="1600" dirty="0"/>
                    </a:p>
                  </a:txBody>
                  <a:tcPr/>
                </a:tc>
                <a:tc>
                  <a:txBody>
                    <a:bodyPr/>
                    <a:lstStyle/>
                    <a:p>
                      <a:pPr algn="ctr"/>
                      <a:endParaRPr lang="es-CL" sz="1600"/>
                    </a:p>
                  </a:txBody>
                  <a:tcPr/>
                </a:tc>
                <a:extLst>
                  <a:ext uri="{0D108BD9-81ED-4DB2-BD59-A6C34878D82A}">
                    <a16:rowId xmlns:a16="http://schemas.microsoft.com/office/drawing/2014/main" val="1064131853"/>
                  </a:ext>
                </a:extLst>
              </a:tr>
              <a:tr h="321298">
                <a:tc>
                  <a:txBody>
                    <a:bodyPr/>
                    <a:lstStyle/>
                    <a:p>
                      <a:pPr algn="ctr"/>
                      <a:endParaRPr lang="es-CL" sz="1600" dirty="0"/>
                    </a:p>
                  </a:txBody>
                  <a:tcPr/>
                </a:tc>
                <a:tc>
                  <a:txBody>
                    <a:bodyPr/>
                    <a:lstStyle/>
                    <a:p>
                      <a:pPr algn="ctr"/>
                      <a:endParaRPr lang="es-CL" sz="1600" dirty="0"/>
                    </a:p>
                  </a:txBody>
                  <a:tcPr/>
                </a:tc>
                <a:tc>
                  <a:txBody>
                    <a:bodyPr/>
                    <a:lstStyle/>
                    <a:p>
                      <a:pPr algn="ctr"/>
                      <a:endParaRPr lang="es-CL" sz="1600" dirty="0"/>
                    </a:p>
                  </a:txBody>
                  <a:tcPr/>
                </a:tc>
                <a:tc>
                  <a:txBody>
                    <a:bodyPr/>
                    <a:lstStyle/>
                    <a:p>
                      <a:pPr algn="ctr"/>
                      <a:endParaRPr lang="es-CL" sz="1600" dirty="0"/>
                    </a:p>
                  </a:txBody>
                  <a:tcPr/>
                </a:tc>
                <a:tc>
                  <a:txBody>
                    <a:bodyPr/>
                    <a:lstStyle/>
                    <a:p>
                      <a:pPr algn="ctr"/>
                      <a:endParaRPr lang="es-CL" sz="1600" dirty="0"/>
                    </a:p>
                  </a:txBody>
                  <a:tcPr/>
                </a:tc>
                <a:tc>
                  <a:txBody>
                    <a:bodyPr/>
                    <a:lstStyle/>
                    <a:p>
                      <a:pPr algn="ctr"/>
                      <a:endParaRPr lang="es-CL" sz="1600" dirty="0"/>
                    </a:p>
                  </a:txBody>
                  <a:tcPr/>
                </a:tc>
                <a:extLst>
                  <a:ext uri="{0D108BD9-81ED-4DB2-BD59-A6C34878D82A}">
                    <a16:rowId xmlns:a16="http://schemas.microsoft.com/office/drawing/2014/main" val="3542767854"/>
                  </a:ext>
                </a:extLst>
              </a:tr>
              <a:tr h="321298">
                <a:tc>
                  <a:txBody>
                    <a:bodyPr/>
                    <a:lstStyle/>
                    <a:p>
                      <a:pPr algn="ctr"/>
                      <a:endParaRPr lang="es-CL" sz="1600"/>
                    </a:p>
                  </a:txBody>
                  <a:tcPr/>
                </a:tc>
                <a:tc>
                  <a:txBody>
                    <a:bodyPr/>
                    <a:lstStyle/>
                    <a:p>
                      <a:pPr algn="ctr"/>
                      <a:endParaRPr lang="es-CL" sz="1600"/>
                    </a:p>
                  </a:txBody>
                  <a:tcPr/>
                </a:tc>
                <a:tc>
                  <a:txBody>
                    <a:bodyPr/>
                    <a:lstStyle/>
                    <a:p>
                      <a:pPr algn="ctr"/>
                      <a:endParaRPr lang="es-CL" sz="1600" dirty="0"/>
                    </a:p>
                  </a:txBody>
                  <a:tcPr/>
                </a:tc>
                <a:tc>
                  <a:txBody>
                    <a:bodyPr/>
                    <a:lstStyle/>
                    <a:p>
                      <a:pPr algn="ctr"/>
                      <a:endParaRPr lang="es-CL" sz="1600" dirty="0"/>
                    </a:p>
                  </a:txBody>
                  <a:tcPr/>
                </a:tc>
                <a:tc>
                  <a:txBody>
                    <a:bodyPr/>
                    <a:lstStyle/>
                    <a:p>
                      <a:pPr algn="ctr"/>
                      <a:endParaRPr lang="es-CL" sz="1600" dirty="0"/>
                    </a:p>
                  </a:txBody>
                  <a:tcPr/>
                </a:tc>
                <a:tc>
                  <a:txBody>
                    <a:bodyPr/>
                    <a:lstStyle/>
                    <a:p>
                      <a:pPr algn="ctr"/>
                      <a:endParaRPr lang="es-CL" sz="1600" dirty="0"/>
                    </a:p>
                  </a:txBody>
                  <a:tcPr/>
                </a:tc>
                <a:extLst>
                  <a:ext uri="{0D108BD9-81ED-4DB2-BD59-A6C34878D82A}">
                    <a16:rowId xmlns:a16="http://schemas.microsoft.com/office/drawing/2014/main" val="3691818108"/>
                  </a:ext>
                </a:extLst>
              </a:tr>
              <a:tr h="321298">
                <a:tc>
                  <a:txBody>
                    <a:bodyPr/>
                    <a:lstStyle/>
                    <a:p>
                      <a:pPr algn="ctr"/>
                      <a:endParaRPr lang="es-CL" sz="1600" dirty="0"/>
                    </a:p>
                  </a:txBody>
                  <a:tcPr/>
                </a:tc>
                <a:tc>
                  <a:txBody>
                    <a:bodyPr/>
                    <a:lstStyle/>
                    <a:p>
                      <a:pPr algn="ctr"/>
                      <a:endParaRPr lang="es-CL" sz="1600" dirty="0"/>
                    </a:p>
                  </a:txBody>
                  <a:tcPr/>
                </a:tc>
                <a:tc>
                  <a:txBody>
                    <a:bodyPr/>
                    <a:lstStyle/>
                    <a:p>
                      <a:pPr algn="ctr"/>
                      <a:endParaRPr lang="es-CL" sz="1600" dirty="0"/>
                    </a:p>
                  </a:txBody>
                  <a:tcPr/>
                </a:tc>
                <a:tc>
                  <a:txBody>
                    <a:bodyPr/>
                    <a:lstStyle/>
                    <a:p>
                      <a:pPr algn="ctr"/>
                      <a:endParaRPr lang="es-CL" sz="1600" dirty="0"/>
                    </a:p>
                  </a:txBody>
                  <a:tcPr/>
                </a:tc>
                <a:tc>
                  <a:txBody>
                    <a:bodyPr/>
                    <a:lstStyle/>
                    <a:p>
                      <a:pPr algn="ctr"/>
                      <a:endParaRPr lang="es-CL" sz="1600" dirty="0"/>
                    </a:p>
                  </a:txBody>
                  <a:tcPr/>
                </a:tc>
                <a:tc>
                  <a:txBody>
                    <a:bodyPr/>
                    <a:lstStyle/>
                    <a:p>
                      <a:pPr algn="ctr"/>
                      <a:endParaRPr lang="es-CL" sz="1600" dirty="0"/>
                    </a:p>
                  </a:txBody>
                  <a:tcPr/>
                </a:tc>
                <a:extLst>
                  <a:ext uri="{0D108BD9-81ED-4DB2-BD59-A6C34878D82A}">
                    <a16:rowId xmlns:a16="http://schemas.microsoft.com/office/drawing/2014/main" val="46828829"/>
                  </a:ext>
                </a:extLst>
              </a:tr>
              <a:tr h="321298">
                <a:tc>
                  <a:txBody>
                    <a:bodyPr/>
                    <a:lstStyle/>
                    <a:p>
                      <a:pPr algn="ctr"/>
                      <a:endParaRPr lang="es-CL" sz="1600" dirty="0"/>
                    </a:p>
                  </a:txBody>
                  <a:tcPr/>
                </a:tc>
                <a:tc>
                  <a:txBody>
                    <a:bodyPr/>
                    <a:lstStyle/>
                    <a:p>
                      <a:pPr algn="ctr"/>
                      <a:endParaRPr lang="es-CL" sz="1600" dirty="0"/>
                    </a:p>
                  </a:txBody>
                  <a:tcPr/>
                </a:tc>
                <a:tc>
                  <a:txBody>
                    <a:bodyPr/>
                    <a:lstStyle/>
                    <a:p>
                      <a:pPr algn="ctr"/>
                      <a:endParaRPr lang="es-CL" sz="1600" dirty="0"/>
                    </a:p>
                  </a:txBody>
                  <a:tcPr/>
                </a:tc>
                <a:tc>
                  <a:txBody>
                    <a:bodyPr/>
                    <a:lstStyle/>
                    <a:p>
                      <a:pPr algn="ctr"/>
                      <a:endParaRPr lang="es-CL" sz="1600" dirty="0"/>
                    </a:p>
                  </a:txBody>
                  <a:tcPr/>
                </a:tc>
                <a:tc>
                  <a:txBody>
                    <a:bodyPr/>
                    <a:lstStyle/>
                    <a:p>
                      <a:pPr algn="ctr"/>
                      <a:endParaRPr lang="es-CL" sz="1600"/>
                    </a:p>
                  </a:txBody>
                  <a:tcPr/>
                </a:tc>
                <a:tc>
                  <a:txBody>
                    <a:bodyPr/>
                    <a:lstStyle/>
                    <a:p>
                      <a:pPr algn="ctr"/>
                      <a:endParaRPr lang="es-CL" sz="1600" dirty="0"/>
                    </a:p>
                  </a:txBody>
                  <a:tcPr/>
                </a:tc>
                <a:extLst>
                  <a:ext uri="{0D108BD9-81ED-4DB2-BD59-A6C34878D82A}">
                    <a16:rowId xmlns:a16="http://schemas.microsoft.com/office/drawing/2014/main" val="1056347469"/>
                  </a:ext>
                </a:extLst>
              </a:tr>
              <a:tr h="321298">
                <a:tc>
                  <a:txBody>
                    <a:bodyPr/>
                    <a:lstStyle/>
                    <a:p>
                      <a:pPr algn="ctr"/>
                      <a:endParaRPr lang="es-CL" sz="1600" dirty="0"/>
                    </a:p>
                  </a:txBody>
                  <a:tcPr/>
                </a:tc>
                <a:tc>
                  <a:txBody>
                    <a:bodyPr/>
                    <a:lstStyle/>
                    <a:p>
                      <a:pPr algn="ctr"/>
                      <a:endParaRPr lang="es-CL" sz="1600" dirty="0"/>
                    </a:p>
                  </a:txBody>
                  <a:tcPr/>
                </a:tc>
                <a:tc>
                  <a:txBody>
                    <a:bodyPr/>
                    <a:lstStyle/>
                    <a:p>
                      <a:pPr algn="ctr"/>
                      <a:endParaRPr lang="es-CL" sz="1600" dirty="0"/>
                    </a:p>
                  </a:txBody>
                  <a:tcPr/>
                </a:tc>
                <a:tc>
                  <a:txBody>
                    <a:bodyPr/>
                    <a:lstStyle/>
                    <a:p>
                      <a:pPr algn="ctr"/>
                      <a:endParaRPr lang="es-CL" sz="1600" dirty="0"/>
                    </a:p>
                  </a:txBody>
                  <a:tcPr/>
                </a:tc>
                <a:tc>
                  <a:txBody>
                    <a:bodyPr/>
                    <a:lstStyle/>
                    <a:p>
                      <a:pPr algn="ctr"/>
                      <a:endParaRPr lang="es-CL" sz="1600" dirty="0"/>
                    </a:p>
                  </a:txBody>
                  <a:tcPr/>
                </a:tc>
                <a:tc>
                  <a:txBody>
                    <a:bodyPr/>
                    <a:lstStyle/>
                    <a:p>
                      <a:pPr algn="ctr"/>
                      <a:endParaRPr lang="es-CL" sz="1600"/>
                    </a:p>
                  </a:txBody>
                  <a:tcPr/>
                </a:tc>
                <a:extLst>
                  <a:ext uri="{0D108BD9-81ED-4DB2-BD59-A6C34878D82A}">
                    <a16:rowId xmlns:a16="http://schemas.microsoft.com/office/drawing/2014/main" val="780977040"/>
                  </a:ext>
                </a:extLst>
              </a:tr>
              <a:tr h="321298">
                <a:tc>
                  <a:txBody>
                    <a:bodyPr/>
                    <a:lstStyle/>
                    <a:p>
                      <a:pPr algn="ctr"/>
                      <a:endParaRPr lang="es-CL" sz="1600"/>
                    </a:p>
                  </a:txBody>
                  <a:tcPr/>
                </a:tc>
                <a:tc>
                  <a:txBody>
                    <a:bodyPr/>
                    <a:lstStyle/>
                    <a:p>
                      <a:pPr algn="ctr"/>
                      <a:endParaRPr lang="es-CL" sz="1600" dirty="0"/>
                    </a:p>
                  </a:txBody>
                  <a:tcPr/>
                </a:tc>
                <a:tc>
                  <a:txBody>
                    <a:bodyPr/>
                    <a:lstStyle/>
                    <a:p>
                      <a:pPr algn="ctr"/>
                      <a:endParaRPr lang="es-CL" sz="1600" dirty="0"/>
                    </a:p>
                  </a:txBody>
                  <a:tcPr/>
                </a:tc>
                <a:tc>
                  <a:txBody>
                    <a:bodyPr/>
                    <a:lstStyle/>
                    <a:p>
                      <a:pPr algn="ctr"/>
                      <a:endParaRPr lang="es-CL" sz="1600"/>
                    </a:p>
                  </a:txBody>
                  <a:tcPr/>
                </a:tc>
                <a:tc>
                  <a:txBody>
                    <a:bodyPr/>
                    <a:lstStyle/>
                    <a:p>
                      <a:pPr algn="ctr"/>
                      <a:endParaRPr lang="es-CL" sz="1600" dirty="0"/>
                    </a:p>
                  </a:txBody>
                  <a:tcPr/>
                </a:tc>
                <a:tc>
                  <a:txBody>
                    <a:bodyPr/>
                    <a:lstStyle/>
                    <a:p>
                      <a:pPr algn="ctr"/>
                      <a:endParaRPr lang="es-CL" sz="1600" dirty="0"/>
                    </a:p>
                  </a:txBody>
                  <a:tcPr/>
                </a:tc>
                <a:extLst>
                  <a:ext uri="{0D108BD9-81ED-4DB2-BD59-A6C34878D82A}">
                    <a16:rowId xmlns:a16="http://schemas.microsoft.com/office/drawing/2014/main" val="1819929697"/>
                  </a:ext>
                </a:extLst>
              </a:tr>
              <a:tr h="321298">
                <a:tc>
                  <a:txBody>
                    <a:bodyPr/>
                    <a:lstStyle/>
                    <a:p>
                      <a:pPr algn="ctr"/>
                      <a:endParaRPr lang="es-CL" sz="1600" dirty="0"/>
                    </a:p>
                  </a:txBody>
                  <a:tcPr/>
                </a:tc>
                <a:tc>
                  <a:txBody>
                    <a:bodyPr/>
                    <a:lstStyle/>
                    <a:p>
                      <a:pPr algn="ctr"/>
                      <a:endParaRPr lang="es-CL" sz="1600" dirty="0"/>
                    </a:p>
                  </a:txBody>
                  <a:tcPr/>
                </a:tc>
                <a:tc>
                  <a:txBody>
                    <a:bodyPr/>
                    <a:lstStyle/>
                    <a:p>
                      <a:pPr algn="ctr"/>
                      <a:endParaRPr lang="es-CL" sz="1600" dirty="0"/>
                    </a:p>
                  </a:txBody>
                  <a:tcPr/>
                </a:tc>
                <a:tc>
                  <a:txBody>
                    <a:bodyPr/>
                    <a:lstStyle/>
                    <a:p>
                      <a:pPr algn="ctr"/>
                      <a:endParaRPr lang="es-CL" sz="1600" dirty="0"/>
                    </a:p>
                  </a:txBody>
                  <a:tcPr/>
                </a:tc>
                <a:tc>
                  <a:txBody>
                    <a:bodyPr/>
                    <a:lstStyle/>
                    <a:p>
                      <a:pPr algn="ctr"/>
                      <a:endParaRPr lang="es-CL" sz="1600" dirty="0"/>
                    </a:p>
                  </a:txBody>
                  <a:tcPr/>
                </a:tc>
                <a:tc>
                  <a:txBody>
                    <a:bodyPr/>
                    <a:lstStyle/>
                    <a:p>
                      <a:pPr algn="ctr"/>
                      <a:endParaRPr lang="es-CL" sz="1600"/>
                    </a:p>
                  </a:txBody>
                  <a:tcPr/>
                </a:tc>
                <a:extLst>
                  <a:ext uri="{0D108BD9-81ED-4DB2-BD59-A6C34878D82A}">
                    <a16:rowId xmlns:a16="http://schemas.microsoft.com/office/drawing/2014/main" val="942773358"/>
                  </a:ext>
                </a:extLst>
              </a:tr>
              <a:tr h="321298">
                <a:tc>
                  <a:txBody>
                    <a:bodyPr/>
                    <a:lstStyle/>
                    <a:p>
                      <a:pPr algn="ctr"/>
                      <a:endParaRPr lang="es-CL" sz="1600"/>
                    </a:p>
                  </a:txBody>
                  <a:tcPr/>
                </a:tc>
                <a:tc>
                  <a:txBody>
                    <a:bodyPr/>
                    <a:lstStyle/>
                    <a:p>
                      <a:pPr algn="ctr"/>
                      <a:endParaRPr lang="es-CL" sz="1600"/>
                    </a:p>
                  </a:txBody>
                  <a:tcPr/>
                </a:tc>
                <a:tc>
                  <a:txBody>
                    <a:bodyPr/>
                    <a:lstStyle/>
                    <a:p>
                      <a:pPr algn="ctr"/>
                      <a:endParaRPr lang="es-CL" sz="1600" dirty="0"/>
                    </a:p>
                  </a:txBody>
                  <a:tcPr/>
                </a:tc>
                <a:tc>
                  <a:txBody>
                    <a:bodyPr/>
                    <a:lstStyle/>
                    <a:p>
                      <a:pPr algn="ctr"/>
                      <a:endParaRPr lang="es-CL" sz="1600" dirty="0"/>
                    </a:p>
                  </a:txBody>
                  <a:tcPr/>
                </a:tc>
                <a:tc>
                  <a:txBody>
                    <a:bodyPr/>
                    <a:lstStyle/>
                    <a:p>
                      <a:pPr algn="ctr"/>
                      <a:endParaRPr lang="es-CL" sz="1600" dirty="0"/>
                    </a:p>
                  </a:txBody>
                  <a:tcPr/>
                </a:tc>
                <a:tc>
                  <a:txBody>
                    <a:bodyPr/>
                    <a:lstStyle/>
                    <a:p>
                      <a:pPr algn="ctr"/>
                      <a:endParaRPr lang="es-CL" sz="1600"/>
                    </a:p>
                  </a:txBody>
                  <a:tcPr/>
                </a:tc>
                <a:extLst>
                  <a:ext uri="{0D108BD9-81ED-4DB2-BD59-A6C34878D82A}">
                    <a16:rowId xmlns:a16="http://schemas.microsoft.com/office/drawing/2014/main" val="478517929"/>
                  </a:ext>
                </a:extLst>
              </a:tr>
              <a:tr h="321298">
                <a:tc>
                  <a:txBody>
                    <a:bodyPr/>
                    <a:lstStyle/>
                    <a:p>
                      <a:pPr algn="ctr"/>
                      <a:endParaRPr lang="es-CL" sz="1600"/>
                    </a:p>
                  </a:txBody>
                  <a:tcPr/>
                </a:tc>
                <a:tc>
                  <a:txBody>
                    <a:bodyPr/>
                    <a:lstStyle/>
                    <a:p>
                      <a:pPr algn="ctr"/>
                      <a:endParaRPr lang="es-CL" sz="1600" dirty="0"/>
                    </a:p>
                  </a:txBody>
                  <a:tcPr/>
                </a:tc>
                <a:tc>
                  <a:txBody>
                    <a:bodyPr/>
                    <a:lstStyle/>
                    <a:p>
                      <a:pPr algn="ctr"/>
                      <a:endParaRPr lang="es-CL" sz="1600"/>
                    </a:p>
                  </a:txBody>
                  <a:tcPr/>
                </a:tc>
                <a:tc>
                  <a:txBody>
                    <a:bodyPr/>
                    <a:lstStyle/>
                    <a:p>
                      <a:pPr algn="ctr"/>
                      <a:endParaRPr lang="es-CL" sz="1600" dirty="0"/>
                    </a:p>
                  </a:txBody>
                  <a:tcPr/>
                </a:tc>
                <a:tc>
                  <a:txBody>
                    <a:bodyPr/>
                    <a:lstStyle/>
                    <a:p>
                      <a:pPr algn="ctr"/>
                      <a:endParaRPr lang="es-CL" sz="1600" dirty="0"/>
                    </a:p>
                  </a:txBody>
                  <a:tcPr/>
                </a:tc>
                <a:tc>
                  <a:txBody>
                    <a:bodyPr/>
                    <a:lstStyle/>
                    <a:p>
                      <a:pPr algn="ctr"/>
                      <a:endParaRPr lang="es-CL" sz="1600" dirty="0"/>
                    </a:p>
                  </a:txBody>
                  <a:tcPr/>
                </a:tc>
                <a:extLst>
                  <a:ext uri="{0D108BD9-81ED-4DB2-BD59-A6C34878D82A}">
                    <a16:rowId xmlns:a16="http://schemas.microsoft.com/office/drawing/2014/main" val="3884442695"/>
                  </a:ext>
                </a:extLst>
              </a:tr>
              <a:tr h="321298">
                <a:tc>
                  <a:txBody>
                    <a:bodyPr/>
                    <a:lstStyle/>
                    <a:p>
                      <a:pPr algn="ctr"/>
                      <a:endParaRPr lang="es-CL" sz="1600"/>
                    </a:p>
                  </a:txBody>
                  <a:tcPr/>
                </a:tc>
                <a:tc>
                  <a:txBody>
                    <a:bodyPr/>
                    <a:lstStyle/>
                    <a:p>
                      <a:pPr algn="ctr"/>
                      <a:endParaRPr lang="es-CL" sz="1600"/>
                    </a:p>
                  </a:txBody>
                  <a:tcPr/>
                </a:tc>
                <a:tc>
                  <a:txBody>
                    <a:bodyPr/>
                    <a:lstStyle/>
                    <a:p>
                      <a:pPr algn="ctr"/>
                      <a:endParaRPr lang="es-CL" sz="1600"/>
                    </a:p>
                  </a:txBody>
                  <a:tcPr/>
                </a:tc>
                <a:tc>
                  <a:txBody>
                    <a:bodyPr/>
                    <a:lstStyle/>
                    <a:p>
                      <a:pPr algn="ctr"/>
                      <a:endParaRPr lang="es-CL" sz="1600" dirty="0"/>
                    </a:p>
                  </a:txBody>
                  <a:tcPr/>
                </a:tc>
                <a:tc>
                  <a:txBody>
                    <a:bodyPr/>
                    <a:lstStyle/>
                    <a:p>
                      <a:pPr algn="ctr"/>
                      <a:endParaRPr lang="es-CL" sz="1600" dirty="0"/>
                    </a:p>
                  </a:txBody>
                  <a:tcPr/>
                </a:tc>
                <a:tc>
                  <a:txBody>
                    <a:bodyPr/>
                    <a:lstStyle/>
                    <a:p>
                      <a:pPr algn="ctr"/>
                      <a:endParaRPr lang="es-CL" sz="1600" dirty="0"/>
                    </a:p>
                  </a:txBody>
                  <a:tcPr/>
                </a:tc>
                <a:extLst>
                  <a:ext uri="{0D108BD9-81ED-4DB2-BD59-A6C34878D82A}">
                    <a16:rowId xmlns:a16="http://schemas.microsoft.com/office/drawing/2014/main" val="183617260"/>
                  </a:ext>
                </a:extLst>
              </a:tr>
              <a:tr h="321298">
                <a:tc>
                  <a:txBody>
                    <a:bodyPr/>
                    <a:lstStyle/>
                    <a:p>
                      <a:pPr algn="ctr"/>
                      <a:endParaRPr lang="es-CL" sz="1600" dirty="0"/>
                    </a:p>
                  </a:txBody>
                  <a:tcPr/>
                </a:tc>
                <a:tc>
                  <a:txBody>
                    <a:bodyPr/>
                    <a:lstStyle/>
                    <a:p>
                      <a:pPr algn="ctr"/>
                      <a:endParaRPr lang="es-CL" sz="1600" dirty="0"/>
                    </a:p>
                  </a:txBody>
                  <a:tcPr/>
                </a:tc>
                <a:tc>
                  <a:txBody>
                    <a:bodyPr/>
                    <a:lstStyle/>
                    <a:p>
                      <a:pPr algn="ctr"/>
                      <a:endParaRPr lang="es-CL" sz="1600" dirty="0"/>
                    </a:p>
                  </a:txBody>
                  <a:tcPr/>
                </a:tc>
                <a:tc>
                  <a:txBody>
                    <a:bodyPr/>
                    <a:lstStyle/>
                    <a:p>
                      <a:pPr algn="ctr"/>
                      <a:endParaRPr lang="es-CL" sz="1600" dirty="0"/>
                    </a:p>
                  </a:txBody>
                  <a:tcPr/>
                </a:tc>
                <a:tc>
                  <a:txBody>
                    <a:bodyPr/>
                    <a:lstStyle/>
                    <a:p>
                      <a:pPr algn="ctr"/>
                      <a:endParaRPr lang="es-CL" sz="1600" dirty="0"/>
                    </a:p>
                  </a:txBody>
                  <a:tcPr/>
                </a:tc>
                <a:tc>
                  <a:txBody>
                    <a:bodyPr/>
                    <a:lstStyle/>
                    <a:p>
                      <a:pPr algn="ctr"/>
                      <a:endParaRPr lang="es-CL" sz="1600" dirty="0"/>
                    </a:p>
                  </a:txBody>
                  <a:tcPr/>
                </a:tc>
                <a:extLst>
                  <a:ext uri="{0D108BD9-81ED-4DB2-BD59-A6C34878D82A}">
                    <a16:rowId xmlns:a16="http://schemas.microsoft.com/office/drawing/2014/main" val="117863514"/>
                  </a:ext>
                </a:extLst>
              </a:tr>
              <a:tr h="321298">
                <a:tc>
                  <a:txBody>
                    <a:bodyPr/>
                    <a:lstStyle/>
                    <a:p>
                      <a:pPr algn="ctr"/>
                      <a:endParaRPr lang="es-CL" sz="1600" dirty="0"/>
                    </a:p>
                  </a:txBody>
                  <a:tcPr/>
                </a:tc>
                <a:tc>
                  <a:txBody>
                    <a:bodyPr/>
                    <a:lstStyle/>
                    <a:p>
                      <a:pPr algn="ctr"/>
                      <a:endParaRPr lang="es-CL" sz="1600" dirty="0"/>
                    </a:p>
                  </a:txBody>
                  <a:tcPr/>
                </a:tc>
                <a:tc>
                  <a:txBody>
                    <a:bodyPr/>
                    <a:lstStyle/>
                    <a:p>
                      <a:pPr algn="ctr"/>
                      <a:endParaRPr lang="es-CL" sz="1600" dirty="0"/>
                    </a:p>
                  </a:txBody>
                  <a:tcPr/>
                </a:tc>
                <a:tc>
                  <a:txBody>
                    <a:bodyPr/>
                    <a:lstStyle/>
                    <a:p>
                      <a:pPr algn="ctr"/>
                      <a:endParaRPr lang="es-CL" sz="1600" dirty="0"/>
                    </a:p>
                  </a:txBody>
                  <a:tcPr/>
                </a:tc>
                <a:tc>
                  <a:txBody>
                    <a:bodyPr/>
                    <a:lstStyle/>
                    <a:p>
                      <a:pPr algn="ctr"/>
                      <a:endParaRPr lang="es-CL" sz="1600" dirty="0"/>
                    </a:p>
                  </a:txBody>
                  <a:tcPr/>
                </a:tc>
                <a:tc>
                  <a:txBody>
                    <a:bodyPr/>
                    <a:lstStyle/>
                    <a:p>
                      <a:pPr algn="ctr"/>
                      <a:endParaRPr lang="es-CL" sz="1600" dirty="0"/>
                    </a:p>
                  </a:txBody>
                  <a:tcPr/>
                </a:tc>
                <a:extLst>
                  <a:ext uri="{0D108BD9-81ED-4DB2-BD59-A6C34878D82A}">
                    <a16:rowId xmlns:a16="http://schemas.microsoft.com/office/drawing/2014/main" val="2941926864"/>
                  </a:ext>
                </a:extLst>
              </a:tr>
              <a:tr h="321298">
                <a:tc>
                  <a:txBody>
                    <a:bodyPr/>
                    <a:lstStyle/>
                    <a:p>
                      <a:pPr algn="ctr"/>
                      <a:endParaRPr lang="es-CL" sz="1600" dirty="0"/>
                    </a:p>
                  </a:txBody>
                  <a:tcPr/>
                </a:tc>
                <a:tc>
                  <a:txBody>
                    <a:bodyPr/>
                    <a:lstStyle/>
                    <a:p>
                      <a:pPr algn="ctr"/>
                      <a:endParaRPr lang="es-CL" sz="1600" dirty="0"/>
                    </a:p>
                  </a:txBody>
                  <a:tcPr/>
                </a:tc>
                <a:tc>
                  <a:txBody>
                    <a:bodyPr/>
                    <a:lstStyle/>
                    <a:p>
                      <a:pPr algn="ctr"/>
                      <a:endParaRPr lang="es-CL" sz="1600" dirty="0"/>
                    </a:p>
                  </a:txBody>
                  <a:tcPr/>
                </a:tc>
                <a:tc>
                  <a:txBody>
                    <a:bodyPr/>
                    <a:lstStyle/>
                    <a:p>
                      <a:pPr algn="ctr"/>
                      <a:endParaRPr lang="es-CL" sz="1600" dirty="0"/>
                    </a:p>
                  </a:txBody>
                  <a:tcPr/>
                </a:tc>
                <a:tc>
                  <a:txBody>
                    <a:bodyPr/>
                    <a:lstStyle/>
                    <a:p>
                      <a:pPr algn="ctr"/>
                      <a:endParaRPr lang="es-CL" sz="1600" dirty="0"/>
                    </a:p>
                  </a:txBody>
                  <a:tcPr/>
                </a:tc>
                <a:tc>
                  <a:txBody>
                    <a:bodyPr/>
                    <a:lstStyle/>
                    <a:p>
                      <a:pPr algn="ctr"/>
                      <a:endParaRPr lang="es-CL" sz="1600" dirty="0"/>
                    </a:p>
                  </a:txBody>
                  <a:tcPr/>
                </a:tc>
                <a:extLst>
                  <a:ext uri="{0D108BD9-81ED-4DB2-BD59-A6C34878D82A}">
                    <a16:rowId xmlns:a16="http://schemas.microsoft.com/office/drawing/2014/main" val="670233749"/>
                  </a:ext>
                </a:extLst>
              </a:tr>
              <a:tr h="539856">
                <a:tc>
                  <a:txBody>
                    <a:bodyPr/>
                    <a:lstStyle/>
                    <a:p>
                      <a:pPr algn="ctr"/>
                      <a:endParaRPr lang="es-CL" sz="1600" dirty="0"/>
                    </a:p>
                  </a:txBody>
                  <a:tcPr/>
                </a:tc>
                <a:tc>
                  <a:txBody>
                    <a:bodyPr/>
                    <a:lstStyle/>
                    <a:p>
                      <a:pPr algn="ctr"/>
                      <a:endParaRPr lang="es-CL" sz="1600" dirty="0"/>
                    </a:p>
                  </a:txBody>
                  <a:tcPr/>
                </a:tc>
                <a:tc>
                  <a:txBody>
                    <a:bodyPr/>
                    <a:lstStyle/>
                    <a:p>
                      <a:pPr algn="ctr"/>
                      <a:endParaRPr lang="es-CL" sz="1600" dirty="0"/>
                    </a:p>
                  </a:txBody>
                  <a:tcPr/>
                </a:tc>
                <a:tc>
                  <a:txBody>
                    <a:bodyPr/>
                    <a:lstStyle/>
                    <a:p>
                      <a:pPr algn="ctr"/>
                      <a:endParaRPr lang="es-CL" sz="1600" dirty="0"/>
                    </a:p>
                  </a:txBody>
                  <a:tcPr/>
                </a:tc>
                <a:tc>
                  <a:txBody>
                    <a:bodyPr/>
                    <a:lstStyle/>
                    <a:p>
                      <a:pPr algn="ctr"/>
                      <a:endParaRPr lang="es-CL" sz="1600" dirty="0"/>
                    </a:p>
                  </a:txBody>
                  <a:tcPr/>
                </a:tc>
                <a:tc>
                  <a:txBody>
                    <a:bodyPr/>
                    <a:lstStyle/>
                    <a:p>
                      <a:pPr algn="ctr"/>
                      <a:endParaRPr lang="es-CL" sz="1600" dirty="0"/>
                    </a:p>
                  </a:txBody>
                  <a:tcPr/>
                </a:tc>
                <a:extLst>
                  <a:ext uri="{0D108BD9-81ED-4DB2-BD59-A6C34878D82A}">
                    <a16:rowId xmlns:a16="http://schemas.microsoft.com/office/drawing/2014/main" val="3463432996"/>
                  </a:ext>
                </a:extLst>
              </a:tr>
            </a:tbl>
          </a:graphicData>
        </a:graphic>
      </p:graphicFrame>
      <p:sp>
        <p:nvSpPr>
          <p:cNvPr id="5" name="CuadroTexto 4">
            <a:extLst>
              <a:ext uri="{FF2B5EF4-FFF2-40B4-BE49-F238E27FC236}">
                <a16:creationId xmlns:a16="http://schemas.microsoft.com/office/drawing/2014/main" id="{F7394AA2-4751-2B45-A1FC-A6E7856803C8}"/>
              </a:ext>
            </a:extLst>
          </p:cNvPr>
          <p:cNvSpPr txBox="1"/>
          <p:nvPr/>
        </p:nvSpPr>
        <p:spPr>
          <a:xfrm>
            <a:off x="3131127" y="1517636"/>
            <a:ext cx="5929745" cy="461665"/>
          </a:xfrm>
          <a:prstGeom prst="rect">
            <a:avLst/>
          </a:prstGeom>
          <a:noFill/>
        </p:spPr>
        <p:txBody>
          <a:bodyPr wrap="square" rtlCol="0">
            <a:spAutoFit/>
          </a:bodyPr>
          <a:lstStyle/>
          <a:p>
            <a:r>
              <a:rPr lang="es-CL" sz="2400" dirty="0">
                <a:solidFill>
                  <a:schemeClr val="bg1"/>
                </a:solidFill>
              </a:rPr>
              <a:t>C1 2019-1, pregunta 1</a:t>
            </a:r>
          </a:p>
        </p:txBody>
      </p:sp>
    </p:spTree>
    <p:extLst>
      <p:ext uri="{BB962C8B-B14F-4D97-AF65-F5344CB8AC3E}">
        <p14:creationId xmlns:p14="http://schemas.microsoft.com/office/powerpoint/2010/main" val="23196796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175688F-629B-7B42-B53E-164DAB8FE8C8}"/>
              </a:ext>
            </a:extLst>
          </p:cNvPr>
          <p:cNvSpPr>
            <a:spLocks noGrp="1"/>
          </p:cNvSpPr>
          <p:nvPr>
            <p:ph type="title"/>
          </p:nvPr>
        </p:nvSpPr>
        <p:spPr/>
        <p:txBody>
          <a:bodyPr/>
          <a:lstStyle/>
          <a:p>
            <a:r>
              <a:rPr lang="es-CL" dirty="0">
                <a:solidFill>
                  <a:srgbClr val="66D9EF"/>
                </a:solidFill>
              </a:rPr>
              <a:t>Ejercicio 2: Solución</a:t>
            </a:r>
          </a:p>
        </p:txBody>
      </p:sp>
      <p:sp>
        <p:nvSpPr>
          <p:cNvPr id="4" name="Rectángulo 3">
            <a:extLst>
              <a:ext uri="{FF2B5EF4-FFF2-40B4-BE49-F238E27FC236}">
                <a16:creationId xmlns:a16="http://schemas.microsoft.com/office/drawing/2014/main" id="{4FDDD14C-8F3C-7545-9054-5CE7120A53DE}"/>
              </a:ext>
            </a:extLst>
          </p:cNvPr>
          <p:cNvSpPr/>
          <p:nvPr/>
        </p:nvSpPr>
        <p:spPr>
          <a:xfrm>
            <a:off x="1024128" y="1748469"/>
            <a:ext cx="6096000" cy="4524315"/>
          </a:xfrm>
          <a:prstGeom prst="rect">
            <a:avLst/>
          </a:prstGeom>
        </p:spPr>
        <p:txBody>
          <a:bodyPr>
            <a:spAutoFit/>
          </a:bodyPr>
          <a:lstStyle/>
          <a:p>
            <a:r>
              <a:rPr lang="es-CL" dirty="0">
                <a:solidFill>
                  <a:srgbClr val="F9F9F5"/>
                </a:solidFill>
                <a:latin typeface="Monaco" pitchFamily="2" charset="0"/>
              </a:rPr>
              <a:t>a </a:t>
            </a:r>
            <a:r>
              <a:rPr lang="es-CL" dirty="0">
                <a:solidFill>
                  <a:srgbClr val="FD4485"/>
                </a:solidFill>
                <a:latin typeface="Monaco" pitchFamily="2" charset="0"/>
              </a:rPr>
              <a:t>=</a:t>
            </a:r>
            <a:r>
              <a:rPr lang="es-CL" dirty="0">
                <a:solidFill>
                  <a:srgbClr val="F9F9F5"/>
                </a:solidFill>
                <a:latin typeface="Monaco" pitchFamily="2" charset="0"/>
              </a:rPr>
              <a:t> </a:t>
            </a:r>
            <a:r>
              <a:rPr lang="es-CL" dirty="0">
                <a:solidFill>
                  <a:srgbClr val="BD99FF"/>
                </a:solidFill>
                <a:latin typeface="Monaco" pitchFamily="2" charset="0"/>
              </a:rPr>
              <a:t>943</a:t>
            </a:r>
            <a:endParaRPr lang="es-CL" dirty="0">
              <a:solidFill>
                <a:srgbClr val="F9F9F5"/>
              </a:solidFill>
              <a:latin typeface="Monaco" pitchFamily="2" charset="0"/>
            </a:endParaRPr>
          </a:p>
          <a:p>
            <a:r>
              <a:rPr lang="es-CL" dirty="0">
                <a:solidFill>
                  <a:srgbClr val="F9F9F5"/>
                </a:solidFill>
                <a:latin typeface="Monaco" pitchFamily="2" charset="0"/>
              </a:rPr>
              <a:t>flag </a:t>
            </a:r>
            <a:r>
              <a:rPr lang="es-CL" dirty="0">
                <a:solidFill>
                  <a:srgbClr val="FD4485"/>
                </a:solidFill>
                <a:latin typeface="Monaco" pitchFamily="2" charset="0"/>
              </a:rPr>
              <a:t>=</a:t>
            </a:r>
            <a:r>
              <a:rPr lang="es-CL" dirty="0">
                <a:solidFill>
                  <a:srgbClr val="F9F9F5"/>
                </a:solidFill>
                <a:latin typeface="Monaco" pitchFamily="2" charset="0"/>
              </a:rPr>
              <a:t> True</a:t>
            </a:r>
          </a:p>
          <a:p>
            <a:r>
              <a:rPr lang="es-CL" dirty="0">
                <a:solidFill>
                  <a:srgbClr val="F9F9F5"/>
                </a:solidFill>
                <a:latin typeface="Monaco" pitchFamily="2" charset="0"/>
              </a:rPr>
              <a:t>n </a:t>
            </a:r>
            <a:r>
              <a:rPr lang="es-CL" dirty="0">
                <a:solidFill>
                  <a:srgbClr val="FD4485"/>
                </a:solidFill>
                <a:latin typeface="Monaco" pitchFamily="2" charset="0"/>
              </a:rPr>
              <a:t>=</a:t>
            </a:r>
            <a:r>
              <a:rPr lang="es-CL" dirty="0">
                <a:solidFill>
                  <a:srgbClr val="F9F9F5"/>
                </a:solidFill>
                <a:latin typeface="Monaco" pitchFamily="2" charset="0"/>
              </a:rPr>
              <a:t> </a:t>
            </a:r>
            <a:r>
              <a:rPr lang="es-CL" dirty="0">
                <a:solidFill>
                  <a:srgbClr val="BD99FF"/>
                </a:solidFill>
                <a:latin typeface="Monaco" pitchFamily="2" charset="0"/>
              </a:rPr>
              <a:t>0</a:t>
            </a:r>
            <a:endParaRPr lang="es-CL" dirty="0">
              <a:solidFill>
                <a:srgbClr val="F9F9F5"/>
              </a:solidFill>
              <a:latin typeface="Monaco" pitchFamily="2" charset="0"/>
            </a:endParaRPr>
          </a:p>
          <a:p>
            <a:r>
              <a:rPr lang="es-CL" dirty="0">
                <a:solidFill>
                  <a:srgbClr val="F9F9F5"/>
                </a:solidFill>
                <a:latin typeface="Monaco" pitchFamily="2" charset="0"/>
              </a:rPr>
              <a:t>b </a:t>
            </a:r>
            <a:r>
              <a:rPr lang="es-CL" dirty="0">
                <a:solidFill>
                  <a:srgbClr val="FD4485"/>
                </a:solidFill>
                <a:latin typeface="Monaco" pitchFamily="2" charset="0"/>
              </a:rPr>
              <a:t>=</a:t>
            </a:r>
            <a:r>
              <a:rPr lang="es-CL" dirty="0">
                <a:solidFill>
                  <a:srgbClr val="F9F9F5"/>
                </a:solidFill>
                <a:latin typeface="Monaco" pitchFamily="2" charset="0"/>
              </a:rPr>
              <a:t> </a:t>
            </a:r>
            <a:r>
              <a:rPr lang="es-CL" dirty="0">
                <a:solidFill>
                  <a:srgbClr val="BD99FF"/>
                </a:solidFill>
                <a:latin typeface="Monaco" pitchFamily="2" charset="0"/>
              </a:rPr>
              <a:t>0</a:t>
            </a:r>
            <a:endParaRPr lang="es-CL" dirty="0">
              <a:solidFill>
                <a:srgbClr val="F9F9F5"/>
              </a:solidFill>
              <a:latin typeface="Monaco" pitchFamily="2" charset="0"/>
            </a:endParaRPr>
          </a:p>
          <a:p>
            <a:r>
              <a:rPr lang="es-CL" dirty="0">
                <a:solidFill>
                  <a:srgbClr val="F9F9F5"/>
                </a:solidFill>
                <a:latin typeface="Monaco" pitchFamily="2" charset="0"/>
              </a:rPr>
              <a:t>c </a:t>
            </a:r>
            <a:r>
              <a:rPr lang="es-CL" dirty="0">
                <a:solidFill>
                  <a:srgbClr val="FD4485"/>
                </a:solidFill>
                <a:latin typeface="Monaco" pitchFamily="2" charset="0"/>
              </a:rPr>
              <a:t>=</a:t>
            </a:r>
            <a:r>
              <a:rPr lang="es-CL" dirty="0">
                <a:solidFill>
                  <a:srgbClr val="F9F9F5"/>
                </a:solidFill>
                <a:latin typeface="Monaco" pitchFamily="2" charset="0"/>
              </a:rPr>
              <a:t> </a:t>
            </a:r>
            <a:r>
              <a:rPr lang="es-CL" dirty="0">
                <a:solidFill>
                  <a:srgbClr val="BD99FF"/>
                </a:solidFill>
                <a:latin typeface="Monaco" pitchFamily="2" charset="0"/>
              </a:rPr>
              <a:t>0</a:t>
            </a:r>
            <a:endParaRPr lang="es-CL" dirty="0">
              <a:solidFill>
                <a:srgbClr val="F9F9F5"/>
              </a:solidFill>
              <a:latin typeface="Monaco" pitchFamily="2" charset="0"/>
            </a:endParaRPr>
          </a:p>
          <a:p>
            <a:r>
              <a:rPr lang="es-CL" dirty="0">
                <a:solidFill>
                  <a:srgbClr val="75E0F2"/>
                </a:solidFill>
                <a:latin typeface="Monaco" pitchFamily="2" charset="0"/>
              </a:rPr>
              <a:t>while</a:t>
            </a:r>
            <a:r>
              <a:rPr lang="es-CL" dirty="0">
                <a:solidFill>
                  <a:srgbClr val="F9F9F5"/>
                </a:solidFill>
                <a:latin typeface="Monaco" pitchFamily="2" charset="0"/>
              </a:rPr>
              <a:t> flag :</a:t>
            </a:r>
          </a:p>
          <a:p>
            <a:r>
              <a:rPr lang="es-CL" dirty="0">
                <a:solidFill>
                  <a:srgbClr val="F9F9F5"/>
                </a:solidFill>
                <a:latin typeface="Monaco" pitchFamily="2" charset="0"/>
              </a:rPr>
              <a:t>    d </a:t>
            </a:r>
            <a:r>
              <a:rPr lang="es-CL" dirty="0">
                <a:solidFill>
                  <a:srgbClr val="FD4485"/>
                </a:solidFill>
                <a:latin typeface="Monaco" pitchFamily="2" charset="0"/>
              </a:rPr>
              <a:t>=</a:t>
            </a:r>
            <a:r>
              <a:rPr lang="es-CL" dirty="0">
                <a:solidFill>
                  <a:srgbClr val="F9F9F5"/>
                </a:solidFill>
                <a:latin typeface="Monaco" pitchFamily="2" charset="0"/>
              </a:rPr>
              <a:t> a </a:t>
            </a:r>
            <a:r>
              <a:rPr lang="es-CL" dirty="0">
                <a:solidFill>
                  <a:srgbClr val="FD4485"/>
                </a:solidFill>
                <a:latin typeface="Monaco" pitchFamily="2" charset="0"/>
              </a:rPr>
              <a:t>%</a:t>
            </a:r>
            <a:r>
              <a:rPr lang="es-CL" dirty="0">
                <a:solidFill>
                  <a:srgbClr val="F9F9F5"/>
                </a:solidFill>
                <a:latin typeface="Monaco" pitchFamily="2" charset="0"/>
              </a:rPr>
              <a:t> </a:t>
            </a:r>
            <a:r>
              <a:rPr lang="es-CL" dirty="0">
                <a:solidFill>
                  <a:srgbClr val="BD99FF"/>
                </a:solidFill>
                <a:latin typeface="Monaco" pitchFamily="2" charset="0"/>
              </a:rPr>
              <a:t>10</a:t>
            </a:r>
            <a:endParaRPr lang="es-CL" dirty="0">
              <a:solidFill>
                <a:srgbClr val="F9F9F5"/>
              </a:solidFill>
              <a:latin typeface="Monaco" pitchFamily="2" charset="0"/>
            </a:endParaRPr>
          </a:p>
          <a:p>
            <a:r>
              <a:rPr lang="es-CL" dirty="0">
                <a:solidFill>
                  <a:srgbClr val="F9F9F5"/>
                </a:solidFill>
                <a:latin typeface="Monaco" pitchFamily="2" charset="0"/>
              </a:rPr>
              <a:t>    a </a:t>
            </a:r>
            <a:r>
              <a:rPr lang="es-CL" dirty="0">
                <a:solidFill>
                  <a:srgbClr val="FD4485"/>
                </a:solidFill>
                <a:latin typeface="Monaco" pitchFamily="2" charset="0"/>
              </a:rPr>
              <a:t>=</a:t>
            </a:r>
            <a:r>
              <a:rPr lang="es-CL" dirty="0">
                <a:solidFill>
                  <a:srgbClr val="F9F9F5"/>
                </a:solidFill>
                <a:latin typeface="Monaco" pitchFamily="2" charset="0"/>
              </a:rPr>
              <a:t> a </a:t>
            </a:r>
            <a:r>
              <a:rPr lang="es-CL" dirty="0">
                <a:solidFill>
                  <a:srgbClr val="FD4485"/>
                </a:solidFill>
                <a:latin typeface="Monaco" pitchFamily="2" charset="0"/>
              </a:rPr>
              <a:t>//</a:t>
            </a:r>
            <a:r>
              <a:rPr lang="es-CL" dirty="0">
                <a:solidFill>
                  <a:srgbClr val="F9F9F5"/>
                </a:solidFill>
                <a:latin typeface="Monaco" pitchFamily="2" charset="0"/>
              </a:rPr>
              <a:t> </a:t>
            </a:r>
            <a:r>
              <a:rPr lang="es-CL" dirty="0">
                <a:solidFill>
                  <a:srgbClr val="BD99FF"/>
                </a:solidFill>
                <a:latin typeface="Monaco" pitchFamily="2" charset="0"/>
              </a:rPr>
              <a:t>10</a:t>
            </a:r>
            <a:endParaRPr lang="es-CL" dirty="0">
              <a:solidFill>
                <a:srgbClr val="F9F9F5"/>
              </a:solidFill>
              <a:latin typeface="Monaco" pitchFamily="2" charset="0"/>
            </a:endParaRPr>
          </a:p>
          <a:p>
            <a:r>
              <a:rPr lang="es-CL" dirty="0">
                <a:solidFill>
                  <a:srgbClr val="F9F9F5"/>
                </a:solidFill>
                <a:latin typeface="Monaco" pitchFamily="2" charset="0"/>
              </a:rPr>
              <a:t>    n </a:t>
            </a:r>
            <a:r>
              <a:rPr lang="es-CL" dirty="0">
                <a:solidFill>
                  <a:srgbClr val="FD4485"/>
                </a:solidFill>
                <a:latin typeface="Monaco" pitchFamily="2" charset="0"/>
              </a:rPr>
              <a:t>=</a:t>
            </a:r>
            <a:r>
              <a:rPr lang="es-CL" dirty="0">
                <a:solidFill>
                  <a:srgbClr val="F9F9F5"/>
                </a:solidFill>
                <a:latin typeface="Monaco" pitchFamily="2" charset="0"/>
              </a:rPr>
              <a:t> n </a:t>
            </a:r>
            <a:r>
              <a:rPr lang="es-CL" dirty="0">
                <a:solidFill>
                  <a:srgbClr val="FD4485"/>
                </a:solidFill>
                <a:latin typeface="Monaco" pitchFamily="2" charset="0"/>
              </a:rPr>
              <a:t>*</a:t>
            </a:r>
            <a:r>
              <a:rPr lang="es-CL" dirty="0">
                <a:solidFill>
                  <a:srgbClr val="F9F9F5"/>
                </a:solidFill>
                <a:latin typeface="Monaco" pitchFamily="2" charset="0"/>
              </a:rPr>
              <a:t> </a:t>
            </a:r>
            <a:r>
              <a:rPr lang="es-CL" dirty="0">
                <a:solidFill>
                  <a:srgbClr val="BD99FF"/>
                </a:solidFill>
                <a:latin typeface="Monaco" pitchFamily="2" charset="0"/>
              </a:rPr>
              <a:t>10</a:t>
            </a:r>
            <a:r>
              <a:rPr lang="es-CL" dirty="0">
                <a:solidFill>
                  <a:srgbClr val="F9F9F5"/>
                </a:solidFill>
                <a:latin typeface="Monaco" pitchFamily="2" charset="0"/>
              </a:rPr>
              <a:t> </a:t>
            </a:r>
            <a:r>
              <a:rPr lang="es-CL" dirty="0">
                <a:solidFill>
                  <a:srgbClr val="FD4485"/>
                </a:solidFill>
                <a:latin typeface="Monaco" pitchFamily="2" charset="0"/>
              </a:rPr>
              <a:t>+</a:t>
            </a:r>
            <a:r>
              <a:rPr lang="es-CL" dirty="0">
                <a:solidFill>
                  <a:srgbClr val="F9F9F5"/>
                </a:solidFill>
                <a:latin typeface="Monaco" pitchFamily="2" charset="0"/>
              </a:rPr>
              <a:t> d</a:t>
            </a:r>
          </a:p>
          <a:p>
            <a:r>
              <a:rPr lang="es-CL" dirty="0">
                <a:solidFill>
                  <a:srgbClr val="F9F9F5"/>
                </a:solidFill>
                <a:latin typeface="Monaco" pitchFamily="2" charset="0"/>
              </a:rPr>
              <a:t>    </a:t>
            </a:r>
            <a:r>
              <a:rPr lang="es-CL" dirty="0">
                <a:solidFill>
                  <a:srgbClr val="75E0F2"/>
                </a:solidFill>
                <a:latin typeface="Monaco" pitchFamily="2" charset="0"/>
              </a:rPr>
              <a:t>if</a:t>
            </a:r>
            <a:r>
              <a:rPr lang="es-CL" dirty="0">
                <a:solidFill>
                  <a:srgbClr val="F9F9F5"/>
                </a:solidFill>
                <a:latin typeface="Monaco" pitchFamily="2" charset="0"/>
              </a:rPr>
              <a:t> d </a:t>
            </a:r>
            <a:r>
              <a:rPr lang="es-CL" dirty="0">
                <a:solidFill>
                  <a:srgbClr val="FD4485"/>
                </a:solidFill>
                <a:latin typeface="Monaco" pitchFamily="2" charset="0"/>
              </a:rPr>
              <a:t>%</a:t>
            </a:r>
            <a:r>
              <a:rPr lang="es-CL" dirty="0">
                <a:solidFill>
                  <a:srgbClr val="F9F9F5"/>
                </a:solidFill>
                <a:latin typeface="Monaco" pitchFamily="2" charset="0"/>
              </a:rPr>
              <a:t> </a:t>
            </a:r>
            <a:r>
              <a:rPr lang="es-CL" dirty="0">
                <a:solidFill>
                  <a:srgbClr val="BD99FF"/>
                </a:solidFill>
                <a:latin typeface="Monaco" pitchFamily="2" charset="0"/>
              </a:rPr>
              <a:t>2</a:t>
            </a:r>
            <a:r>
              <a:rPr lang="es-CL" dirty="0">
                <a:solidFill>
                  <a:srgbClr val="F9F9F5"/>
                </a:solidFill>
                <a:latin typeface="Monaco" pitchFamily="2" charset="0"/>
              </a:rPr>
              <a:t> </a:t>
            </a:r>
            <a:r>
              <a:rPr lang="es-CL" dirty="0">
                <a:solidFill>
                  <a:srgbClr val="FD4485"/>
                </a:solidFill>
                <a:latin typeface="Monaco" pitchFamily="2" charset="0"/>
              </a:rPr>
              <a:t>==</a:t>
            </a:r>
            <a:r>
              <a:rPr lang="es-CL" dirty="0">
                <a:solidFill>
                  <a:srgbClr val="F9F9F5"/>
                </a:solidFill>
                <a:latin typeface="Monaco" pitchFamily="2" charset="0"/>
              </a:rPr>
              <a:t> </a:t>
            </a:r>
            <a:r>
              <a:rPr lang="es-CL" dirty="0">
                <a:solidFill>
                  <a:srgbClr val="BD99FF"/>
                </a:solidFill>
                <a:latin typeface="Monaco" pitchFamily="2" charset="0"/>
              </a:rPr>
              <a:t>0</a:t>
            </a:r>
            <a:r>
              <a:rPr lang="es-CL" dirty="0">
                <a:solidFill>
                  <a:srgbClr val="F9F9F5"/>
                </a:solidFill>
                <a:latin typeface="Monaco" pitchFamily="2" charset="0"/>
              </a:rPr>
              <a:t>:</a:t>
            </a:r>
          </a:p>
          <a:p>
            <a:r>
              <a:rPr lang="es-CL" dirty="0">
                <a:solidFill>
                  <a:srgbClr val="F9F9F5"/>
                </a:solidFill>
                <a:latin typeface="Monaco" pitchFamily="2" charset="0"/>
              </a:rPr>
              <a:t>    	b </a:t>
            </a:r>
            <a:r>
              <a:rPr lang="es-CL" dirty="0">
                <a:solidFill>
                  <a:srgbClr val="FD4485"/>
                </a:solidFill>
                <a:latin typeface="Monaco" pitchFamily="2" charset="0"/>
              </a:rPr>
              <a:t>=</a:t>
            </a:r>
            <a:r>
              <a:rPr lang="es-CL" dirty="0">
                <a:solidFill>
                  <a:srgbClr val="F9F9F5"/>
                </a:solidFill>
                <a:latin typeface="Monaco" pitchFamily="2" charset="0"/>
              </a:rPr>
              <a:t> b </a:t>
            </a:r>
            <a:r>
              <a:rPr lang="es-CL" dirty="0">
                <a:solidFill>
                  <a:srgbClr val="FD4485"/>
                </a:solidFill>
                <a:latin typeface="Monaco" pitchFamily="2" charset="0"/>
              </a:rPr>
              <a:t>+</a:t>
            </a:r>
            <a:r>
              <a:rPr lang="es-CL" dirty="0">
                <a:solidFill>
                  <a:srgbClr val="F9F9F5"/>
                </a:solidFill>
                <a:latin typeface="Monaco" pitchFamily="2" charset="0"/>
              </a:rPr>
              <a:t> </a:t>
            </a:r>
            <a:r>
              <a:rPr lang="es-CL" dirty="0">
                <a:solidFill>
                  <a:srgbClr val="BD99FF"/>
                </a:solidFill>
                <a:latin typeface="Monaco" pitchFamily="2" charset="0"/>
              </a:rPr>
              <a:t>1</a:t>
            </a:r>
            <a:endParaRPr lang="es-CL" dirty="0">
              <a:solidFill>
                <a:srgbClr val="F9F9F5"/>
              </a:solidFill>
              <a:latin typeface="Monaco" pitchFamily="2" charset="0"/>
            </a:endParaRPr>
          </a:p>
          <a:p>
            <a:r>
              <a:rPr lang="es-CL" dirty="0">
                <a:solidFill>
                  <a:srgbClr val="F9F9F5"/>
                </a:solidFill>
                <a:latin typeface="Monaco" pitchFamily="2" charset="0"/>
              </a:rPr>
              <a:t>    </a:t>
            </a:r>
            <a:r>
              <a:rPr lang="es-CL" dirty="0">
                <a:solidFill>
                  <a:srgbClr val="75E0F2"/>
                </a:solidFill>
                <a:latin typeface="Monaco" pitchFamily="2" charset="0"/>
              </a:rPr>
              <a:t>else</a:t>
            </a:r>
            <a:r>
              <a:rPr lang="es-CL" dirty="0">
                <a:solidFill>
                  <a:srgbClr val="F9F9F5"/>
                </a:solidFill>
                <a:latin typeface="Monaco" pitchFamily="2" charset="0"/>
              </a:rPr>
              <a:t>:</a:t>
            </a:r>
          </a:p>
          <a:p>
            <a:r>
              <a:rPr lang="es-CL" dirty="0">
                <a:solidFill>
                  <a:srgbClr val="F9F9F5"/>
                </a:solidFill>
                <a:latin typeface="Monaco" pitchFamily="2" charset="0"/>
              </a:rPr>
              <a:t>    	c </a:t>
            </a:r>
            <a:r>
              <a:rPr lang="es-CL" dirty="0">
                <a:solidFill>
                  <a:srgbClr val="FD4485"/>
                </a:solidFill>
                <a:latin typeface="Monaco" pitchFamily="2" charset="0"/>
              </a:rPr>
              <a:t>=</a:t>
            </a:r>
            <a:r>
              <a:rPr lang="es-CL" dirty="0">
                <a:solidFill>
                  <a:srgbClr val="F9F9F5"/>
                </a:solidFill>
                <a:latin typeface="Monaco" pitchFamily="2" charset="0"/>
              </a:rPr>
              <a:t> c </a:t>
            </a:r>
            <a:r>
              <a:rPr lang="es-CL" dirty="0">
                <a:solidFill>
                  <a:srgbClr val="FD4485"/>
                </a:solidFill>
                <a:latin typeface="Monaco" pitchFamily="2" charset="0"/>
              </a:rPr>
              <a:t>+</a:t>
            </a:r>
            <a:r>
              <a:rPr lang="es-CL" dirty="0">
                <a:solidFill>
                  <a:srgbClr val="F9F9F5"/>
                </a:solidFill>
                <a:latin typeface="Monaco" pitchFamily="2" charset="0"/>
              </a:rPr>
              <a:t> </a:t>
            </a:r>
            <a:r>
              <a:rPr lang="es-CL" dirty="0">
                <a:solidFill>
                  <a:srgbClr val="BD99FF"/>
                </a:solidFill>
                <a:latin typeface="Monaco" pitchFamily="2" charset="0"/>
              </a:rPr>
              <a:t>1</a:t>
            </a:r>
            <a:endParaRPr lang="es-CL" dirty="0">
              <a:solidFill>
                <a:srgbClr val="F9F9F5"/>
              </a:solidFill>
              <a:latin typeface="Monaco" pitchFamily="2" charset="0"/>
            </a:endParaRPr>
          </a:p>
          <a:p>
            <a:r>
              <a:rPr lang="es-CL" dirty="0">
                <a:solidFill>
                  <a:srgbClr val="F9F9F5"/>
                </a:solidFill>
                <a:latin typeface="Monaco" pitchFamily="2" charset="0"/>
              </a:rPr>
              <a:t>    </a:t>
            </a:r>
            <a:r>
              <a:rPr lang="es-CL" dirty="0">
                <a:solidFill>
                  <a:srgbClr val="75E0F2"/>
                </a:solidFill>
                <a:latin typeface="Monaco" pitchFamily="2" charset="0"/>
              </a:rPr>
              <a:t>if</a:t>
            </a:r>
            <a:r>
              <a:rPr lang="es-CL" dirty="0">
                <a:solidFill>
                  <a:srgbClr val="F9F9F5"/>
                </a:solidFill>
                <a:latin typeface="Monaco" pitchFamily="2" charset="0"/>
              </a:rPr>
              <a:t> a </a:t>
            </a:r>
            <a:r>
              <a:rPr lang="es-CL" dirty="0">
                <a:solidFill>
                  <a:srgbClr val="FD4485"/>
                </a:solidFill>
                <a:latin typeface="Monaco" pitchFamily="2" charset="0"/>
              </a:rPr>
              <a:t>==</a:t>
            </a:r>
            <a:r>
              <a:rPr lang="es-CL" dirty="0">
                <a:solidFill>
                  <a:srgbClr val="F9F9F5"/>
                </a:solidFill>
                <a:latin typeface="Monaco" pitchFamily="2" charset="0"/>
              </a:rPr>
              <a:t> </a:t>
            </a:r>
            <a:r>
              <a:rPr lang="es-CL" dirty="0">
                <a:solidFill>
                  <a:srgbClr val="BD99FF"/>
                </a:solidFill>
                <a:latin typeface="Monaco" pitchFamily="2" charset="0"/>
              </a:rPr>
              <a:t>0</a:t>
            </a:r>
            <a:r>
              <a:rPr lang="es-CL" dirty="0">
                <a:solidFill>
                  <a:srgbClr val="F9F9F5"/>
                </a:solidFill>
                <a:latin typeface="Monaco" pitchFamily="2" charset="0"/>
              </a:rPr>
              <a:t>:</a:t>
            </a:r>
          </a:p>
          <a:p>
            <a:r>
              <a:rPr lang="es-CL" dirty="0">
                <a:solidFill>
                  <a:srgbClr val="F9F9F5"/>
                </a:solidFill>
                <a:latin typeface="Monaco" pitchFamily="2" charset="0"/>
              </a:rPr>
              <a:t>    	flag </a:t>
            </a:r>
            <a:r>
              <a:rPr lang="es-CL" dirty="0">
                <a:solidFill>
                  <a:srgbClr val="FD4485"/>
                </a:solidFill>
                <a:latin typeface="Monaco" pitchFamily="2" charset="0"/>
              </a:rPr>
              <a:t>=</a:t>
            </a:r>
            <a:r>
              <a:rPr lang="es-CL" dirty="0">
                <a:solidFill>
                  <a:srgbClr val="F9F9F5"/>
                </a:solidFill>
                <a:latin typeface="Monaco" pitchFamily="2" charset="0"/>
              </a:rPr>
              <a:t> False</a:t>
            </a:r>
          </a:p>
          <a:p>
            <a:r>
              <a:rPr lang="es-CL" dirty="0">
                <a:solidFill>
                  <a:srgbClr val="75E0F2"/>
                </a:solidFill>
                <a:latin typeface="Monaco" pitchFamily="2" charset="0"/>
              </a:rPr>
              <a:t>print</a:t>
            </a:r>
            <a:r>
              <a:rPr lang="es-CL" dirty="0">
                <a:solidFill>
                  <a:srgbClr val="F9F9F5"/>
                </a:solidFill>
                <a:latin typeface="Monaco" pitchFamily="2" charset="0"/>
              </a:rPr>
              <a:t> (n,b,c)</a:t>
            </a:r>
            <a:endParaRPr lang="es-CL" dirty="0">
              <a:solidFill>
                <a:srgbClr val="F9F9F5"/>
              </a:solidFill>
              <a:effectLst/>
              <a:latin typeface="Monaco" pitchFamily="2" charset="0"/>
            </a:endParaRPr>
          </a:p>
        </p:txBody>
      </p:sp>
      <p:graphicFrame>
        <p:nvGraphicFramePr>
          <p:cNvPr id="13" name="Tabla 12">
            <a:extLst>
              <a:ext uri="{FF2B5EF4-FFF2-40B4-BE49-F238E27FC236}">
                <a16:creationId xmlns:a16="http://schemas.microsoft.com/office/drawing/2014/main" id="{547A7785-B15F-6D41-9E49-7383DC9B8F1B}"/>
              </a:ext>
            </a:extLst>
          </p:cNvPr>
          <p:cNvGraphicFramePr>
            <a:graphicFrameLocks noGrp="1"/>
          </p:cNvGraphicFramePr>
          <p:nvPr>
            <p:extLst>
              <p:ext uri="{D42A27DB-BD31-4B8C-83A1-F6EECF244321}">
                <p14:modId xmlns:p14="http://schemas.microsoft.com/office/powerpoint/2010/main" val="1562131233"/>
              </p:ext>
            </p:extLst>
          </p:nvPr>
        </p:nvGraphicFramePr>
        <p:xfrm>
          <a:off x="6596217" y="243840"/>
          <a:ext cx="4671894" cy="6370320"/>
        </p:xfrm>
        <a:graphic>
          <a:graphicData uri="http://schemas.openxmlformats.org/drawingml/2006/table">
            <a:tbl>
              <a:tblPr firstRow="1" bandRow="1">
                <a:tableStyleId>{5C22544A-7EE6-4342-B048-85BDC9FD1C3A}</a:tableStyleId>
              </a:tblPr>
              <a:tblGrid>
                <a:gridCol w="589118">
                  <a:extLst>
                    <a:ext uri="{9D8B030D-6E8A-4147-A177-3AD203B41FA5}">
                      <a16:colId xmlns:a16="http://schemas.microsoft.com/office/drawing/2014/main" val="386952412"/>
                    </a:ext>
                  </a:extLst>
                </a:gridCol>
                <a:gridCol w="878392">
                  <a:extLst>
                    <a:ext uri="{9D8B030D-6E8A-4147-A177-3AD203B41FA5}">
                      <a16:colId xmlns:a16="http://schemas.microsoft.com/office/drawing/2014/main" val="1025353410"/>
                    </a:ext>
                  </a:extLst>
                </a:gridCol>
                <a:gridCol w="801096">
                  <a:extLst>
                    <a:ext uri="{9D8B030D-6E8A-4147-A177-3AD203B41FA5}">
                      <a16:colId xmlns:a16="http://schemas.microsoft.com/office/drawing/2014/main" val="3394299203"/>
                    </a:ext>
                  </a:extLst>
                </a:gridCol>
                <a:gridCol w="801096">
                  <a:extLst>
                    <a:ext uri="{9D8B030D-6E8A-4147-A177-3AD203B41FA5}">
                      <a16:colId xmlns:a16="http://schemas.microsoft.com/office/drawing/2014/main" val="955756783"/>
                    </a:ext>
                  </a:extLst>
                </a:gridCol>
                <a:gridCol w="801096">
                  <a:extLst>
                    <a:ext uri="{9D8B030D-6E8A-4147-A177-3AD203B41FA5}">
                      <a16:colId xmlns:a16="http://schemas.microsoft.com/office/drawing/2014/main" val="3730533497"/>
                    </a:ext>
                  </a:extLst>
                </a:gridCol>
                <a:gridCol w="801096">
                  <a:extLst>
                    <a:ext uri="{9D8B030D-6E8A-4147-A177-3AD203B41FA5}">
                      <a16:colId xmlns:a16="http://schemas.microsoft.com/office/drawing/2014/main" val="1874207787"/>
                    </a:ext>
                  </a:extLst>
                </a:gridCol>
              </a:tblGrid>
              <a:tr h="333211">
                <a:tc>
                  <a:txBody>
                    <a:bodyPr/>
                    <a:lstStyle/>
                    <a:p>
                      <a:pPr algn="ctr"/>
                      <a:r>
                        <a:rPr lang="es-CL" sz="1600" dirty="0"/>
                        <a:t>a</a:t>
                      </a:r>
                    </a:p>
                  </a:txBody>
                  <a:tcPr/>
                </a:tc>
                <a:tc>
                  <a:txBody>
                    <a:bodyPr/>
                    <a:lstStyle/>
                    <a:p>
                      <a:pPr algn="ctr"/>
                      <a:r>
                        <a:rPr lang="es-CL" sz="1600" dirty="0"/>
                        <a:t>flag</a:t>
                      </a:r>
                    </a:p>
                  </a:txBody>
                  <a:tcPr/>
                </a:tc>
                <a:tc>
                  <a:txBody>
                    <a:bodyPr/>
                    <a:lstStyle/>
                    <a:p>
                      <a:pPr algn="ctr"/>
                      <a:r>
                        <a:rPr lang="es-CL" sz="1600" dirty="0"/>
                        <a:t>n</a:t>
                      </a:r>
                    </a:p>
                  </a:txBody>
                  <a:tcPr/>
                </a:tc>
                <a:tc>
                  <a:txBody>
                    <a:bodyPr/>
                    <a:lstStyle/>
                    <a:p>
                      <a:pPr algn="ctr"/>
                      <a:r>
                        <a:rPr lang="es-CL" sz="1600" dirty="0"/>
                        <a:t>b</a:t>
                      </a:r>
                    </a:p>
                  </a:txBody>
                  <a:tcPr/>
                </a:tc>
                <a:tc>
                  <a:txBody>
                    <a:bodyPr/>
                    <a:lstStyle/>
                    <a:p>
                      <a:pPr algn="ctr"/>
                      <a:r>
                        <a:rPr lang="es-CL" sz="1600" dirty="0"/>
                        <a:t>c</a:t>
                      </a:r>
                    </a:p>
                  </a:txBody>
                  <a:tcPr/>
                </a:tc>
                <a:tc>
                  <a:txBody>
                    <a:bodyPr/>
                    <a:lstStyle/>
                    <a:p>
                      <a:pPr algn="ctr"/>
                      <a:r>
                        <a:rPr lang="es-CL" sz="1600" dirty="0"/>
                        <a:t>d</a:t>
                      </a:r>
                    </a:p>
                  </a:txBody>
                  <a:tcPr/>
                </a:tc>
                <a:extLst>
                  <a:ext uri="{0D108BD9-81ED-4DB2-BD59-A6C34878D82A}">
                    <a16:rowId xmlns:a16="http://schemas.microsoft.com/office/drawing/2014/main" val="1417958149"/>
                  </a:ext>
                </a:extLst>
              </a:tr>
              <a:tr h="243840">
                <a:tc>
                  <a:txBody>
                    <a:bodyPr/>
                    <a:lstStyle/>
                    <a:p>
                      <a:pPr algn="ctr"/>
                      <a:r>
                        <a:rPr lang="es-CL" sz="1600" dirty="0"/>
                        <a:t>943</a:t>
                      </a:r>
                    </a:p>
                  </a:txBody>
                  <a:tcPr/>
                </a:tc>
                <a:tc>
                  <a:txBody>
                    <a:bodyPr/>
                    <a:lstStyle/>
                    <a:p>
                      <a:pPr algn="ctr"/>
                      <a:endParaRPr lang="es-CL" sz="1600" dirty="0"/>
                    </a:p>
                  </a:txBody>
                  <a:tcPr/>
                </a:tc>
                <a:tc>
                  <a:txBody>
                    <a:bodyPr/>
                    <a:lstStyle/>
                    <a:p>
                      <a:pPr algn="ctr"/>
                      <a:endParaRPr lang="es-CL" sz="1600"/>
                    </a:p>
                  </a:txBody>
                  <a:tcPr/>
                </a:tc>
                <a:tc>
                  <a:txBody>
                    <a:bodyPr/>
                    <a:lstStyle/>
                    <a:p>
                      <a:pPr algn="ctr"/>
                      <a:endParaRPr lang="es-CL" sz="1600" dirty="0"/>
                    </a:p>
                  </a:txBody>
                  <a:tcPr/>
                </a:tc>
                <a:tc>
                  <a:txBody>
                    <a:bodyPr/>
                    <a:lstStyle/>
                    <a:p>
                      <a:pPr algn="ctr"/>
                      <a:endParaRPr lang="es-CL" sz="1600"/>
                    </a:p>
                  </a:txBody>
                  <a:tcPr/>
                </a:tc>
                <a:tc>
                  <a:txBody>
                    <a:bodyPr/>
                    <a:lstStyle/>
                    <a:p>
                      <a:pPr algn="ctr"/>
                      <a:endParaRPr lang="es-CL" sz="1600"/>
                    </a:p>
                  </a:txBody>
                  <a:tcPr/>
                </a:tc>
                <a:extLst>
                  <a:ext uri="{0D108BD9-81ED-4DB2-BD59-A6C34878D82A}">
                    <a16:rowId xmlns:a16="http://schemas.microsoft.com/office/drawing/2014/main" val="1601430820"/>
                  </a:ext>
                </a:extLst>
              </a:tr>
              <a:tr h="333211">
                <a:tc>
                  <a:txBody>
                    <a:bodyPr/>
                    <a:lstStyle/>
                    <a:p>
                      <a:pPr algn="ctr"/>
                      <a:endParaRPr lang="es-CL" sz="1600" dirty="0"/>
                    </a:p>
                  </a:txBody>
                  <a:tcPr/>
                </a:tc>
                <a:tc>
                  <a:txBody>
                    <a:bodyPr/>
                    <a:lstStyle/>
                    <a:p>
                      <a:pPr algn="ctr"/>
                      <a:r>
                        <a:rPr lang="es-CL" sz="1600" dirty="0"/>
                        <a:t>True</a:t>
                      </a:r>
                    </a:p>
                  </a:txBody>
                  <a:tcPr/>
                </a:tc>
                <a:tc>
                  <a:txBody>
                    <a:bodyPr/>
                    <a:lstStyle/>
                    <a:p>
                      <a:pPr algn="ctr"/>
                      <a:endParaRPr lang="es-CL" sz="1600" dirty="0"/>
                    </a:p>
                  </a:txBody>
                  <a:tcPr/>
                </a:tc>
                <a:tc>
                  <a:txBody>
                    <a:bodyPr/>
                    <a:lstStyle/>
                    <a:p>
                      <a:pPr algn="ctr"/>
                      <a:endParaRPr lang="es-CL" sz="1600"/>
                    </a:p>
                  </a:txBody>
                  <a:tcPr/>
                </a:tc>
                <a:tc>
                  <a:txBody>
                    <a:bodyPr/>
                    <a:lstStyle/>
                    <a:p>
                      <a:pPr algn="ctr"/>
                      <a:endParaRPr lang="es-CL" sz="1600"/>
                    </a:p>
                  </a:txBody>
                  <a:tcPr/>
                </a:tc>
                <a:tc>
                  <a:txBody>
                    <a:bodyPr/>
                    <a:lstStyle/>
                    <a:p>
                      <a:pPr algn="ctr"/>
                      <a:endParaRPr lang="es-CL" sz="1600"/>
                    </a:p>
                  </a:txBody>
                  <a:tcPr/>
                </a:tc>
                <a:extLst>
                  <a:ext uri="{0D108BD9-81ED-4DB2-BD59-A6C34878D82A}">
                    <a16:rowId xmlns:a16="http://schemas.microsoft.com/office/drawing/2014/main" val="1680474890"/>
                  </a:ext>
                </a:extLst>
              </a:tr>
              <a:tr h="333211">
                <a:tc>
                  <a:txBody>
                    <a:bodyPr/>
                    <a:lstStyle/>
                    <a:p>
                      <a:pPr algn="ctr"/>
                      <a:endParaRPr lang="es-CL" sz="1600"/>
                    </a:p>
                  </a:txBody>
                  <a:tcPr/>
                </a:tc>
                <a:tc>
                  <a:txBody>
                    <a:bodyPr/>
                    <a:lstStyle/>
                    <a:p>
                      <a:pPr algn="ctr"/>
                      <a:endParaRPr lang="es-CL" sz="1600" dirty="0"/>
                    </a:p>
                  </a:txBody>
                  <a:tcPr/>
                </a:tc>
                <a:tc>
                  <a:txBody>
                    <a:bodyPr/>
                    <a:lstStyle/>
                    <a:p>
                      <a:pPr algn="ctr"/>
                      <a:r>
                        <a:rPr lang="es-CL" sz="1600" dirty="0"/>
                        <a:t>0</a:t>
                      </a:r>
                    </a:p>
                  </a:txBody>
                  <a:tcPr/>
                </a:tc>
                <a:tc>
                  <a:txBody>
                    <a:bodyPr/>
                    <a:lstStyle/>
                    <a:p>
                      <a:pPr algn="ctr"/>
                      <a:endParaRPr lang="es-CL" sz="1600" dirty="0"/>
                    </a:p>
                  </a:txBody>
                  <a:tcPr/>
                </a:tc>
                <a:tc>
                  <a:txBody>
                    <a:bodyPr/>
                    <a:lstStyle/>
                    <a:p>
                      <a:pPr algn="ctr"/>
                      <a:endParaRPr lang="es-CL" sz="1600"/>
                    </a:p>
                  </a:txBody>
                  <a:tcPr/>
                </a:tc>
                <a:tc>
                  <a:txBody>
                    <a:bodyPr/>
                    <a:lstStyle/>
                    <a:p>
                      <a:pPr algn="ctr"/>
                      <a:endParaRPr lang="es-CL" sz="1600"/>
                    </a:p>
                  </a:txBody>
                  <a:tcPr/>
                </a:tc>
                <a:extLst>
                  <a:ext uri="{0D108BD9-81ED-4DB2-BD59-A6C34878D82A}">
                    <a16:rowId xmlns:a16="http://schemas.microsoft.com/office/drawing/2014/main" val="1755278402"/>
                  </a:ext>
                </a:extLst>
              </a:tr>
              <a:tr h="333211">
                <a:tc>
                  <a:txBody>
                    <a:bodyPr/>
                    <a:lstStyle/>
                    <a:p>
                      <a:pPr algn="ctr"/>
                      <a:endParaRPr lang="es-CL" sz="1600"/>
                    </a:p>
                  </a:txBody>
                  <a:tcPr/>
                </a:tc>
                <a:tc>
                  <a:txBody>
                    <a:bodyPr/>
                    <a:lstStyle/>
                    <a:p>
                      <a:pPr algn="ctr"/>
                      <a:endParaRPr lang="es-CL" sz="1600"/>
                    </a:p>
                  </a:txBody>
                  <a:tcPr/>
                </a:tc>
                <a:tc>
                  <a:txBody>
                    <a:bodyPr/>
                    <a:lstStyle/>
                    <a:p>
                      <a:pPr algn="ctr"/>
                      <a:endParaRPr lang="es-CL" sz="1600" dirty="0"/>
                    </a:p>
                  </a:txBody>
                  <a:tcPr/>
                </a:tc>
                <a:tc>
                  <a:txBody>
                    <a:bodyPr/>
                    <a:lstStyle/>
                    <a:p>
                      <a:pPr algn="ctr"/>
                      <a:r>
                        <a:rPr lang="es-CL" sz="1600" dirty="0"/>
                        <a:t>0</a:t>
                      </a:r>
                    </a:p>
                  </a:txBody>
                  <a:tcPr/>
                </a:tc>
                <a:tc>
                  <a:txBody>
                    <a:bodyPr/>
                    <a:lstStyle/>
                    <a:p>
                      <a:pPr algn="ctr"/>
                      <a:endParaRPr lang="es-CL" sz="1600" dirty="0"/>
                    </a:p>
                  </a:txBody>
                  <a:tcPr/>
                </a:tc>
                <a:tc>
                  <a:txBody>
                    <a:bodyPr/>
                    <a:lstStyle/>
                    <a:p>
                      <a:pPr algn="ctr"/>
                      <a:endParaRPr lang="es-CL" sz="1600"/>
                    </a:p>
                  </a:txBody>
                  <a:tcPr/>
                </a:tc>
                <a:extLst>
                  <a:ext uri="{0D108BD9-81ED-4DB2-BD59-A6C34878D82A}">
                    <a16:rowId xmlns:a16="http://schemas.microsoft.com/office/drawing/2014/main" val="1064131853"/>
                  </a:ext>
                </a:extLst>
              </a:tr>
              <a:tr h="333211">
                <a:tc>
                  <a:txBody>
                    <a:bodyPr/>
                    <a:lstStyle/>
                    <a:p>
                      <a:pPr algn="ctr"/>
                      <a:endParaRPr lang="es-CL" sz="1600" dirty="0"/>
                    </a:p>
                  </a:txBody>
                  <a:tcPr/>
                </a:tc>
                <a:tc>
                  <a:txBody>
                    <a:bodyPr/>
                    <a:lstStyle/>
                    <a:p>
                      <a:pPr algn="ctr"/>
                      <a:endParaRPr lang="es-CL" sz="1600" dirty="0"/>
                    </a:p>
                  </a:txBody>
                  <a:tcPr/>
                </a:tc>
                <a:tc>
                  <a:txBody>
                    <a:bodyPr/>
                    <a:lstStyle/>
                    <a:p>
                      <a:pPr algn="ctr"/>
                      <a:endParaRPr lang="es-CL" sz="1600" dirty="0"/>
                    </a:p>
                  </a:txBody>
                  <a:tcPr/>
                </a:tc>
                <a:tc>
                  <a:txBody>
                    <a:bodyPr/>
                    <a:lstStyle/>
                    <a:p>
                      <a:pPr algn="ctr"/>
                      <a:endParaRPr lang="es-CL" sz="1600"/>
                    </a:p>
                  </a:txBody>
                  <a:tcPr/>
                </a:tc>
                <a:tc>
                  <a:txBody>
                    <a:bodyPr/>
                    <a:lstStyle/>
                    <a:p>
                      <a:pPr algn="ctr"/>
                      <a:r>
                        <a:rPr lang="es-CL" sz="1600" dirty="0"/>
                        <a:t>0</a:t>
                      </a:r>
                    </a:p>
                  </a:txBody>
                  <a:tcPr/>
                </a:tc>
                <a:tc>
                  <a:txBody>
                    <a:bodyPr/>
                    <a:lstStyle/>
                    <a:p>
                      <a:pPr algn="ctr"/>
                      <a:endParaRPr lang="es-CL" sz="1600" dirty="0"/>
                    </a:p>
                  </a:txBody>
                  <a:tcPr/>
                </a:tc>
                <a:extLst>
                  <a:ext uri="{0D108BD9-81ED-4DB2-BD59-A6C34878D82A}">
                    <a16:rowId xmlns:a16="http://schemas.microsoft.com/office/drawing/2014/main" val="3542767854"/>
                  </a:ext>
                </a:extLst>
              </a:tr>
              <a:tr h="333211">
                <a:tc>
                  <a:txBody>
                    <a:bodyPr/>
                    <a:lstStyle/>
                    <a:p>
                      <a:pPr algn="ctr"/>
                      <a:endParaRPr lang="es-CL" sz="1600"/>
                    </a:p>
                  </a:txBody>
                  <a:tcPr/>
                </a:tc>
                <a:tc>
                  <a:txBody>
                    <a:bodyPr/>
                    <a:lstStyle/>
                    <a:p>
                      <a:pPr algn="ctr"/>
                      <a:endParaRPr lang="es-CL" sz="1600"/>
                    </a:p>
                  </a:txBody>
                  <a:tcPr/>
                </a:tc>
                <a:tc>
                  <a:txBody>
                    <a:bodyPr/>
                    <a:lstStyle/>
                    <a:p>
                      <a:pPr algn="ctr"/>
                      <a:endParaRPr lang="es-CL" sz="1600" dirty="0"/>
                    </a:p>
                  </a:txBody>
                  <a:tcPr/>
                </a:tc>
                <a:tc>
                  <a:txBody>
                    <a:bodyPr/>
                    <a:lstStyle/>
                    <a:p>
                      <a:pPr algn="ctr"/>
                      <a:endParaRPr lang="es-CL" sz="1600" dirty="0"/>
                    </a:p>
                  </a:txBody>
                  <a:tcPr/>
                </a:tc>
                <a:tc>
                  <a:txBody>
                    <a:bodyPr/>
                    <a:lstStyle/>
                    <a:p>
                      <a:pPr algn="ctr"/>
                      <a:endParaRPr lang="es-CL" sz="1600" dirty="0"/>
                    </a:p>
                  </a:txBody>
                  <a:tcPr/>
                </a:tc>
                <a:tc>
                  <a:txBody>
                    <a:bodyPr/>
                    <a:lstStyle/>
                    <a:p>
                      <a:pPr algn="ctr"/>
                      <a:r>
                        <a:rPr lang="es-CL" sz="1600" dirty="0"/>
                        <a:t>3</a:t>
                      </a:r>
                    </a:p>
                  </a:txBody>
                  <a:tcPr/>
                </a:tc>
                <a:extLst>
                  <a:ext uri="{0D108BD9-81ED-4DB2-BD59-A6C34878D82A}">
                    <a16:rowId xmlns:a16="http://schemas.microsoft.com/office/drawing/2014/main" val="3691818108"/>
                  </a:ext>
                </a:extLst>
              </a:tr>
              <a:tr h="333211">
                <a:tc>
                  <a:txBody>
                    <a:bodyPr/>
                    <a:lstStyle/>
                    <a:p>
                      <a:pPr algn="ctr"/>
                      <a:r>
                        <a:rPr lang="es-CL" sz="1600" dirty="0"/>
                        <a:t>94</a:t>
                      </a:r>
                    </a:p>
                  </a:txBody>
                  <a:tcPr/>
                </a:tc>
                <a:tc>
                  <a:txBody>
                    <a:bodyPr/>
                    <a:lstStyle/>
                    <a:p>
                      <a:pPr algn="ctr"/>
                      <a:endParaRPr lang="es-CL" sz="1600" dirty="0"/>
                    </a:p>
                  </a:txBody>
                  <a:tcPr/>
                </a:tc>
                <a:tc>
                  <a:txBody>
                    <a:bodyPr/>
                    <a:lstStyle/>
                    <a:p>
                      <a:pPr algn="ctr"/>
                      <a:endParaRPr lang="es-CL" sz="1600" dirty="0"/>
                    </a:p>
                  </a:txBody>
                  <a:tcPr/>
                </a:tc>
                <a:tc>
                  <a:txBody>
                    <a:bodyPr/>
                    <a:lstStyle/>
                    <a:p>
                      <a:pPr algn="ctr"/>
                      <a:endParaRPr lang="es-CL" sz="1600" dirty="0"/>
                    </a:p>
                  </a:txBody>
                  <a:tcPr/>
                </a:tc>
                <a:tc>
                  <a:txBody>
                    <a:bodyPr/>
                    <a:lstStyle/>
                    <a:p>
                      <a:pPr algn="ctr"/>
                      <a:endParaRPr lang="es-CL" sz="1600"/>
                    </a:p>
                  </a:txBody>
                  <a:tcPr/>
                </a:tc>
                <a:tc>
                  <a:txBody>
                    <a:bodyPr/>
                    <a:lstStyle/>
                    <a:p>
                      <a:pPr algn="ctr"/>
                      <a:endParaRPr lang="es-CL" sz="1600" dirty="0"/>
                    </a:p>
                  </a:txBody>
                  <a:tcPr/>
                </a:tc>
                <a:extLst>
                  <a:ext uri="{0D108BD9-81ED-4DB2-BD59-A6C34878D82A}">
                    <a16:rowId xmlns:a16="http://schemas.microsoft.com/office/drawing/2014/main" val="46828829"/>
                  </a:ext>
                </a:extLst>
              </a:tr>
              <a:tr h="333211">
                <a:tc>
                  <a:txBody>
                    <a:bodyPr/>
                    <a:lstStyle/>
                    <a:p>
                      <a:pPr algn="ctr"/>
                      <a:endParaRPr lang="es-CL" sz="1600" dirty="0"/>
                    </a:p>
                  </a:txBody>
                  <a:tcPr/>
                </a:tc>
                <a:tc>
                  <a:txBody>
                    <a:bodyPr/>
                    <a:lstStyle/>
                    <a:p>
                      <a:pPr algn="ctr"/>
                      <a:endParaRPr lang="es-CL" sz="1600" dirty="0"/>
                    </a:p>
                  </a:txBody>
                  <a:tcPr/>
                </a:tc>
                <a:tc>
                  <a:txBody>
                    <a:bodyPr/>
                    <a:lstStyle/>
                    <a:p>
                      <a:pPr algn="ctr"/>
                      <a:r>
                        <a:rPr lang="es-CL" sz="1600" dirty="0"/>
                        <a:t>3</a:t>
                      </a:r>
                    </a:p>
                  </a:txBody>
                  <a:tcPr/>
                </a:tc>
                <a:tc>
                  <a:txBody>
                    <a:bodyPr/>
                    <a:lstStyle/>
                    <a:p>
                      <a:pPr algn="ctr"/>
                      <a:endParaRPr lang="es-CL" sz="1600" dirty="0"/>
                    </a:p>
                  </a:txBody>
                  <a:tcPr/>
                </a:tc>
                <a:tc>
                  <a:txBody>
                    <a:bodyPr/>
                    <a:lstStyle/>
                    <a:p>
                      <a:pPr algn="ctr"/>
                      <a:endParaRPr lang="es-CL" sz="1600"/>
                    </a:p>
                  </a:txBody>
                  <a:tcPr/>
                </a:tc>
                <a:tc>
                  <a:txBody>
                    <a:bodyPr/>
                    <a:lstStyle/>
                    <a:p>
                      <a:pPr algn="ctr"/>
                      <a:endParaRPr lang="es-CL" sz="1600" dirty="0"/>
                    </a:p>
                  </a:txBody>
                  <a:tcPr/>
                </a:tc>
                <a:extLst>
                  <a:ext uri="{0D108BD9-81ED-4DB2-BD59-A6C34878D82A}">
                    <a16:rowId xmlns:a16="http://schemas.microsoft.com/office/drawing/2014/main" val="1056347469"/>
                  </a:ext>
                </a:extLst>
              </a:tr>
              <a:tr h="333211">
                <a:tc>
                  <a:txBody>
                    <a:bodyPr/>
                    <a:lstStyle/>
                    <a:p>
                      <a:pPr algn="ctr"/>
                      <a:endParaRPr lang="es-CL" sz="1600" dirty="0"/>
                    </a:p>
                  </a:txBody>
                  <a:tcPr/>
                </a:tc>
                <a:tc>
                  <a:txBody>
                    <a:bodyPr/>
                    <a:lstStyle/>
                    <a:p>
                      <a:pPr algn="ctr"/>
                      <a:endParaRPr lang="es-CL" sz="1600" dirty="0"/>
                    </a:p>
                  </a:txBody>
                  <a:tcPr/>
                </a:tc>
                <a:tc>
                  <a:txBody>
                    <a:bodyPr/>
                    <a:lstStyle/>
                    <a:p>
                      <a:pPr algn="ctr"/>
                      <a:endParaRPr lang="es-CL" sz="1600" dirty="0"/>
                    </a:p>
                  </a:txBody>
                  <a:tcPr/>
                </a:tc>
                <a:tc>
                  <a:txBody>
                    <a:bodyPr/>
                    <a:lstStyle/>
                    <a:p>
                      <a:pPr algn="ctr"/>
                      <a:endParaRPr lang="es-CL" sz="1600" dirty="0"/>
                    </a:p>
                  </a:txBody>
                  <a:tcPr/>
                </a:tc>
                <a:tc>
                  <a:txBody>
                    <a:bodyPr/>
                    <a:lstStyle/>
                    <a:p>
                      <a:pPr algn="ctr"/>
                      <a:r>
                        <a:rPr lang="es-CL" sz="1600" dirty="0"/>
                        <a:t>1</a:t>
                      </a:r>
                    </a:p>
                  </a:txBody>
                  <a:tcPr/>
                </a:tc>
                <a:tc>
                  <a:txBody>
                    <a:bodyPr/>
                    <a:lstStyle/>
                    <a:p>
                      <a:pPr algn="ctr"/>
                      <a:endParaRPr lang="es-CL" sz="1600"/>
                    </a:p>
                  </a:txBody>
                  <a:tcPr/>
                </a:tc>
                <a:extLst>
                  <a:ext uri="{0D108BD9-81ED-4DB2-BD59-A6C34878D82A}">
                    <a16:rowId xmlns:a16="http://schemas.microsoft.com/office/drawing/2014/main" val="780977040"/>
                  </a:ext>
                </a:extLst>
              </a:tr>
              <a:tr h="333211">
                <a:tc>
                  <a:txBody>
                    <a:bodyPr/>
                    <a:lstStyle/>
                    <a:p>
                      <a:pPr algn="ctr"/>
                      <a:endParaRPr lang="es-CL" sz="1600"/>
                    </a:p>
                  </a:txBody>
                  <a:tcPr/>
                </a:tc>
                <a:tc>
                  <a:txBody>
                    <a:bodyPr/>
                    <a:lstStyle/>
                    <a:p>
                      <a:pPr algn="ctr"/>
                      <a:endParaRPr lang="es-CL" sz="1600" dirty="0"/>
                    </a:p>
                  </a:txBody>
                  <a:tcPr/>
                </a:tc>
                <a:tc>
                  <a:txBody>
                    <a:bodyPr/>
                    <a:lstStyle/>
                    <a:p>
                      <a:pPr algn="ctr"/>
                      <a:endParaRPr lang="es-CL" sz="1600" dirty="0"/>
                    </a:p>
                  </a:txBody>
                  <a:tcPr/>
                </a:tc>
                <a:tc>
                  <a:txBody>
                    <a:bodyPr/>
                    <a:lstStyle/>
                    <a:p>
                      <a:pPr algn="ctr"/>
                      <a:endParaRPr lang="es-CL" sz="1600"/>
                    </a:p>
                  </a:txBody>
                  <a:tcPr/>
                </a:tc>
                <a:tc>
                  <a:txBody>
                    <a:bodyPr/>
                    <a:lstStyle/>
                    <a:p>
                      <a:pPr algn="ctr"/>
                      <a:endParaRPr lang="es-CL" sz="1600"/>
                    </a:p>
                  </a:txBody>
                  <a:tcPr/>
                </a:tc>
                <a:tc>
                  <a:txBody>
                    <a:bodyPr/>
                    <a:lstStyle/>
                    <a:p>
                      <a:pPr algn="ctr"/>
                      <a:r>
                        <a:rPr lang="es-CL" sz="1600" dirty="0"/>
                        <a:t>4</a:t>
                      </a:r>
                    </a:p>
                  </a:txBody>
                  <a:tcPr/>
                </a:tc>
                <a:extLst>
                  <a:ext uri="{0D108BD9-81ED-4DB2-BD59-A6C34878D82A}">
                    <a16:rowId xmlns:a16="http://schemas.microsoft.com/office/drawing/2014/main" val="1819929697"/>
                  </a:ext>
                </a:extLst>
              </a:tr>
              <a:tr h="333211">
                <a:tc>
                  <a:txBody>
                    <a:bodyPr/>
                    <a:lstStyle/>
                    <a:p>
                      <a:pPr algn="ctr"/>
                      <a:r>
                        <a:rPr lang="es-CL" sz="1600" dirty="0"/>
                        <a:t>9</a:t>
                      </a:r>
                    </a:p>
                  </a:txBody>
                  <a:tcPr/>
                </a:tc>
                <a:tc>
                  <a:txBody>
                    <a:bodyPr/>
                    <a:lstStyle/>
                    <a:p>
                      <a:pPr algn="ctr"/>
                      <a:endParaRPr lang="es-CL" sz="1600" dirty="0"/>
                    </a:p>
                  </a:txBody>
                  <a:tcPr/>
                </a:tc>
                <a:tc>
                  <a:txBody>
                    <a:bodyPr/>
                    <a:lstStyle/>
                    <a:p>
                      <a:pPr algn="ctr"/>
                      <a:endParaRPr lang="es-CL" sz="1600" dirty="0"/>
                    </a:p>
                  </a:txBody>
                  <a:tcPr/>
                </a:tc>
                <a:tc>
                  <a:txBody>
                    <a:bodyPr/>
                    <a:lstStyle/>
                    <a:p>
                      <a:pPr algn="ctr"/>
                      <a:endParaRPr lang="es-CL" sz="1600" dirty="0"/>
                    </a:p>
                  </a:txBody>
                  <a:tcPr/>
                </a:tc>
                <a:tc>
                  <a:txBody>
                    <a:bodyPr/>
                    <a:lstStyle/>
                    <a:p>
                      <a:pPr algn="ctr"/>
                      <a:endParaRPr lang="es-CL" sz="1600"/>
                    </a:p>
                  </a:txBody>
                  <a:tcPr/>
                </a:tc>
                <a:tc>
                  <a:txBody>
                    <a:bodyPr/>
                    <a:lstStyle/>
                    <a:p>
                      <a:pPr algn="ctr"/>
                      <a:endParaRPr lang="es-CL" sz="1600"/>
                    </a:p>
                  </a:txBody>
                  <a:tcPr/>
                </a:tc>
                <a:extLst>
                  <a:ext uri="{0D108BD9-81ED-4DB2-BD59-A6C34878D82A}">
                    <a16:rowId xmlns:a16="http://schemas.microsoft.com/office/drawing/2014/main" val="942773358"/>
                  </a:ext>
                </a:extLst>
              </a:tr>
              <a:tr h="333211">
                <a:tc>
                  <a:txBody>
                    <a:bodyPr/>
                    <a:lstStyle/>
                    <a:p>
                      <a:pPr algn="ctr"/>
                      <a:endParaRPr lang="es-CL" sz="1600"/>
                    </a:p>
                  </a:txBody>
                  <a:tcPr/>
                </a:tc>
                <a:tc>
                  <a:txBody>
                    <a:bodyPr/>
                    <a:lstStyle/>
                    <a:p>
                      <a:pPr algn="ctr"/>
                      <a:endParaRPr lang="es-CL" sz="1600"/>
                    </a:p>
                  </a:txBody>
                  <a:tcPr/>
                </a:tc>
                <a:tc>
                  <a:txBody>
                    <a:bodyPr/>
                    <a:lstStyle/>
                    <a:p>
                      <a:pPr algn="ctr"/>
                      <a:r>
                        <a:rPr lang="es-CL" sz="1600" dirty="0"/>
                        <a:t>34</a:t>
                      </a:r>
                    </a:p>
                  </a:txBody>
                  <a:tcPr/>
                </a:tc>
                <a:tc>
                  <a:txBody>
                    <a:bodyPr/>
                    <a:lstStyle/>
                    <a:p>
                      <a:pPr algn="ctr"/>
                      <a:endParaRPr lang="es-CL" sz="1600" dirty="0"/>
                    </a:p>
                  </a:txBody>
                  <a:tcPr/>
                </a:tc>
                <a:tc>
                  <a:txBody>
                    <a:bodyPr/>
                    <a:lstStyle/>
                    <a:p>
                      <a:pPr algn="ctr"/>
                      <a:endParaRPr lang="es-CL" sz="1600" dirty="0"/>
                    </a:p>
                  </a:txBody>
                  <a:tcPr/>
                </a:tc>
                <a:tc>
                  <a:txBody>
                    <a:bodyPr/>
                    <a:lstStyle/>
                    <a:p>
                      <a:pPr algn="ctr"/>
                      <a:endParaRPr lang="es-CL" sz="1600"/>
                    </a:p>
                  </a:txBody>
                  <a:tcPr/>
                </a:tc>
                <a:extLst>
                  <a:ext uri="{0D108BD9-81ED-4DB2-BD59-A6C34878D82A}">
                    <a16:rowId xmlns:a16="http://schemas.microsoft.com/office/drawing/2014/main" val="478517929"/>
                  </a:ext>
                </a:extLst>
              </a:tr>
              <a:tr h="333211">
                <a:tc>
                  <a:txBody>
                    <a:bodyPr/>
                    <a:lstStyle/>
                    <a:p>
                      <a:pPr algn="ctr"/>
                      <a:endParaRPr lang="es-CL" sz="1600"/>
                    </a:p>
                  </a:txBody>
                  <a:tcPr/>
                </a:tc>
                <a:tc>
                  <a:txBody>
                    <a:bodyPr/>
                    <a:lstStyle/>
                    <a:p>
                      <a:pPr algn="ctr"/>
                      <a:endParaRPr lang="es-CL" sz="1600" dirty="0"/>
                    </a:p>
                  </a:txBody>
                  <a:tcPr/>
                </a:tc>
                <a:tc>
                  <a:txBody>
                    <a:bodyPr/>
                    <a:lstStyle/>
                    <a:p>
                      <a:pPr algn="ctr"/>
                      <a:endParaRPr lang="es-CL" sz="1600"/>
                    </a:p>
                  </a:txBody>
                  <a:tcPr/>
                </a:tc>
                <a:tc>
                  <a:txBody>
                    <a:bodyPr/>
                    <a:lstStyle/>
                    <a:p>
                      <a:pPr algn="ctr"/>
                      <a:r>
                        <a:rPr lang="es-CL" sz="1600" dirty="0"/>
                        <a:t>1</a:t>
                      </a:r>
                    </a:p>
                  </a:txBody>
                  <a:tcPr/>
                </a:tc>
                <a:tc>
                  <a:txBody>
                    <a:bodyPr/>
                    <a:lstStyle/>
                    <a:p>
                      <a:pPr algn="ctr"/>
                      <a:endParaRPr lang="es-CL" sz="1600" dirty="0"/>
                    </a:p>
                  </a:txBody>
                  <a:tcPr/>
                </a:tc>
                <a:tc>
                  <a:txBody>
                    <a:bodyPr/>
                    <a:lstStyle/>
                    <a:p>
                      <a:pPr algn="ctr"/>
                      <a:endParaRPr lang="es-CL" sz="1600" dirty="0"/>
                    </a:p>
                  </a:txBody>
                  <a:tcPr/>
                </a:tc>
                <a:extLst>
                  <a:ext uri="{0D108BD9-81ED-4DB2-BD59-A6C34878D82A}">
                    <a16:rowId xmlns:a16="http://schemas.microsoft.com/office/drawing/2014/main" val="3884442695"/>
                  </a:ext>
                </a:extLst>
              </a:tr>
              <a:tr h="333211">
                <a:tc>
                  <a:txBody>
                    <a:bodyPr/>
                    <a:lstStyle/>
                    <a:p>
                      <a:pPr algn="ctr"/>
                      <a:endParaRPr lang="es-CL" sz="1600"/>
                    </a:p>
                  </a:txBody>
                  <a:tcPr/>
                </a:tc>
                <a:tc>
                  <a:txBody>
                    <a:bodyPr/>
                    <a:lstStyle/>
                    <a:p>
                      <a:pPr algn="ctr"/>
                      <a:endParaRPr lang="es-CL" sz="1600"/>
                    </a:p>
                  </a:txBody>
                  <a:tcPr/>
                </a:tc>
                <a:tc>
                  <a:txBody>
                    <a:bodyPr/>
                    <a:lstStyle/>
                    <a:p>
                      <a:pPr algn="ctr"/>
                      <a:endParaRPr lang="es-CL" sz="1600"/>
                    </a:p>
                  </a:txBody>
                  <a:tcPr/>
                </a:tc>
                <a:tc>
                  <a:txBody>
                    <a:bodyPr/>
                    <a:lstStyle/>
                    <a:p>
                      <a:pPr algn="ctr"/>
                      <a:endParaRPr lang="es-CL" sz="1600" dirty="0"/>
                    </a:p>
                  </a:txBody>
                  <a:tcPr/>
                </a:tc>
                <a:tc>
                  <a:txBody>
                    <a:bodyPr/>
                    <a:lstStyle/>
                    <a:p>
                      <a:pPr algn="ctr"/>
                      <a:endParaRPr lang="es-CL" sz="1600" dirty="0"/>
                    </a:p>
                  </a:txBody>
                  <a:tcPr/>
                </a:tc>
                <a:tc>
                  <a:txBody>
                    <a:bodyPr/>
                    <a:lstStyle/>
                    <a:p>
                      <a:pPr algn="ctr"/>
                      <a:r>
                        <a:rPr lang="es-CL" sz="1600" dirty="0"/>
                        <a:t>9</a:t>
                      </a:r>
                    </a:p>
                  </a:txBody>
                  <a:tcPr/>
                </a:tc>
                <a:extLst>
                  <a:ext uri="{0D108BD9-81ED-4DB2-BD59-A6C34878D82A}">
                    <a16:rowId xmlns:a16="http://schemas.microsoft.com/office/drawing/2014/main" val="183617260"/>
                  </a:ext>
                </a:extLst>
              </a:tr>
              <a:tr h="333211">
                <a:tc>
                  <a:txBody>
                    <a:bodyPr/>
                    <a:lstStyle/>
                    <a:p>
                      <a:pPr algn="ctr"/>
                      <a:r>
                        <a:rPr lang="es-CL" sz="1600" dirty="0"/>
                        <a:t>0</a:t>
                      </a:r>
                    </a:p>
                  </a:txBody>
                  <a:tcPr/>
                </a:tc>
                <a:tc>
                  <a:txBody>
                    <a:bodyPr/>
                    <a:lstStyle/>
                    <a:p>
                      <a:pPr algn="ctr"/>
                      <a:endParaRPr lang="es-CL" sz="1600" dirty="0"/>
                    </a:p>
                  </a:txBody>
                  <a:tcPr/>
                </a:tc>
                <a:tc>
                  <a:txBody>
                    <a:bodyPr/>
                    <a:lstStyle/>
                    <a:p>
                      <a:pPr algn="ctr"/>
                      <a:endParaRPr lang="es-CL" sz="1600" dirty="0"/>
                    </a:p>
                  </a:txBody>
                  <a:tcPr/>
                </a:tc>
                <a:tc>
                  <a:txBody>
                    <a:bodyPr/>
                    <a:lstStyle/>
                    <a:p>
                      <a:pPr algn="ctr"/>
                      <a:endParaRPr lang="es-CL" sz="1600" dirty="0"/>
                    </a:p>
                  </a:txBody>
                  <a:tcPr/>
                </a:tc>
                <a:tc>
                  <a:txBody>
                    <a:bodyPr/>
                    <a:lstStyle/>
                    <a:p>
                      <a:pPr algn="ctr"/>
                      <a:endParaRPr lang="es-CL" sz="1600" dirty="0"/>
                    </a:p>
                  </a:txBody>
                  <a:tcPr/>
                </a:tc>
                <a:tc>
                  <a:txBody>
                    <a:bodyPr/>
                    <a:lstStyle/>
                    <a:p>
                      <a:pPr algn="ctr"/>
                      <a:endParaRPr lang="es-CL" sz="1600" dirty="0"/>
                    </a:p>
                  </a:txBody>
                  <a:tcPr/>
                </a:tc>
                <a:extLst>
                  <a:ext uri="{0D108BD9-81ED-4DB2-BD59-A6C34878D82A}">
                    <a16:rowId xmlns:a16="http://schemas.microsoft.com/office/drawing/2014/main" val="117863514"/>
                  </a:ext>
                </a:extLst>
              </a:tr>
              <a:tr h="333211">
                <a:tc>
                  <a:txBody>
                    <a:bodyPr/>
                    <a:lstStyle/>
                    <a:p>
                      <a:pPr algn="ctr"/>
                      <a:endParaRPr lang="es-CL" sz="1600" dirty="0"/>
                    </a:p>
                  </a:txBody>
                  <a:tcPr/>
                </a:tc>
                <a:tc>
                  <a:txBody>
                    <a:bodyPr/>
                    <a:lstStyle/>
                    <a:p>
                      <a:pPr algn="ctr"/>
                      <a:endParaRPr lang="es-CL" sz="1600" dirty="0"/>
                    </a:p>
                  </a:txBody>
                  <a:tcPr/>
                </a:tc>
                <a:tc>
                  <a:txBody>
                    <a:bodyPr/>
                    <a:lstStyle/>
                    <a:p>
                      <a:pPr algn="ctr"/>
                      <a:r>
                        <a:rPr lang="es-CL" sz="1600" dirty="0"/>
                        <a:t>349</a:t>
                      </a:r>
                    </a:p>
                  </a:txBody>
                  <a:tcPr/>
                </a:tc>
                <a:tc>
                  <a:txBody>
                    <a:bodyPr/>
                    <a:lstStyle/>
                    <a:p>
                      <a:pPr algn="ctr"/>
                      <a:endParaRPr lang="es-CL" sz="1600" dirty="0"/>
                    </a:p>
                  </a:txBody>
                  <a:tcPr/>
                </a:tc>
                <a:tc>
                  <a:txBody>
                    <a:bodyPr/>
                    <a:lstStyle/>
                    <a:p>
                      <a:pPr algn="ctr"/>
                      <a:endParaRPr lang="es-CL" sz="1600"/>
                    </a:p>
                  </a:txBody>
                  <a:tcPr/>
                </a:tc>
                <a:tc>
                  <a:txBody>
                    <a:bodyPr/>
                    <a:lstStyle/>
                    <a:p>
                      <a:pPr algn="ctr"/>
                      <a:endParaRPr lang="es-CL" sz="1600" dirty="0"/>
                    </a:p>
                  </a:txBody>
                  <a:tcPr/>
                </a:tc>
                <a:extLst>
                  <a:ext uri="{0D108BD9-81ED-4DB2-BD59-A6C34878D82A}">
                    <a16:rowId xmlns:a16="http://schemas.microsoft.com/office/drawing/2014/main" val="2941926864"/>
                  </a:ext>
                </a:extLst>
              </a:tr>
              <a:tr h="333211">
                <a:tc>
                  <a:txBody>
                    <a:bodyPr/>
                    <a:lstStyle/>
                    <a:p>
                      <a:pPr algn="ctr"/>
                      <a:endParaRPr lang="es-CL" sz="1600" dirty="0"/>
                    </a:p>
                  </a:txBody>
                  <a:tcPr/>
                </a:tc>
                <a:tc>
                  <a:txBody>
                    <a:bodyPr/>
                    <a:lstStyle/>
                    <a:p>
                      <a:pPr algn="ctr"/>
                      <a:endParaRPr lang="es-CL" sz="1600" dirty="0"/>
                    </a:p>
                  </a:txBody>
                  <a:tcPr/>
                </a:tc>
                <a:tc>
                  <a:txBody>
                    <a:bodyPr/>
                    <a:lstStyle/>
                    <a:p>
                      <a:pPr algn="ctr"/>
                      <a:endParaRPr lang="es-CL" sz="1600" dirty="0"/>
                    </a:p>
                  </a:txBody>
                  <a:tcPr/>
                </a:tc>
                <a:tc>
                  <a:txBody>
                    <a:bodyPr/>
                    <a:lstStyle/>
                    <a:p>
                      <a:pPr algn="ctr"/>
                      <a:endParaRPr lang="es-CL" sz="1600" dirty="0"/>
                    </a:p>
                  </a:txBody>
                  <a:tcPr/>
                </a:tc>
                <a:tc>
                  <a:txBody>
                    <a:bodyPr/>
                    <a:lstStyle/>
                    <a:p>
                      <a:pPr algn="ctr"/>
                      <a:r>
                        <a:rPr lang="es-CL" sz="1600" dirty="0"/>
                        <a:t>2</a:t>
                      </a:r>
                    </a:p>
                  </a:txBody>
                  <a:tcPr/>
                </a:tc>
                <a:tc>
                  <a:txBody>
                    <a:bodyPr/>
                    <a:lstStyle/>
                    <a:p>
                      <a:pPr algn="ctr"/>
                      <a:endParaRPr lang="es-CL" sz="1600" dirty="0"/>
                    </a:p>
                  </a:txBody>
                  <a:tcPr/>
                </a:tc>
                <a:extLst>
                  <a:ext uri="{0D108BD9-81ED-4DB2-BD59-A6C34878D82A}">
                    <a16:rowId xmlns:a16="http://schemas.microsoft.com/office/drawing/2014/main" val="670233749"/>
                  </a:ext>
                </a:extLst>
              </a:tr>
              <a:tr h="333211">
                <a:tc>
                  <a:txBody>
                    <a:bodyPr/>
                    <a:lstStyle/>
                    <a:p>
                      <a:pPr algn="ctr"/>
                      <a:endParaRPr lang="es-CL" sz="1600" dirty="0"/>
                    </a:p>
                  </a:txBody>
                  <a:tcPr/>
                </a:tc>
                <a:tc>
                  <a:txBody>
                    <a:bodyPr/>
                    <a:lstStyle/>
                    <a:p>
                      <a:pPr algn="ctr"/>
                      <a:r>
                        <a:rPr lang="es-CL" sz="1600" dirty="0"/>
                        <a:t>False</a:t>
                      </a:r>
                    </a:p>
                  </a:txBody>
                  <a:tcPr/>
                </a:tc>
                <a:tc>
                  <a:txBody>
                    <a:bodyPr/>
                    <a:lstStyle/>
                    <a:p>
                      <a:pPr algn="ctr"/>
                      <a:endParaRPr lang="es-CL" sz="1600" dirty="0"/>
                    </a:p>
                  </a:txBody>
                  <a:tcPr/>
                </a:tc>
                <a:tc>
                  <a:txBody>
                    <a:bodyPr/>
                    <a:lstStyle/>
                    <a:p>
                      <a:pPr algn="ctr"/>
                      <a:endParaRPr lang="es-CL" sz="1600" dirty="0"/>
                    </a:p>
                  </a:txBody>
                  <a:tcPr/>
                </a:tc>
                <a:tc>
                  <a:txBody>
                    <a:bodyPr/>
                    <a:lstStyle/>
                    <a:p>
                      <a:pPr algn="ctr"/>
                      <a:endParaRPr lang="es-CL" sz="1600" dirty="0"/>
                    </a:p>
                  </a:txBody>
                  <a:tcPr/>
                </a:tc>
                <a:tc>
                  <a:txBody>
                    <a:bodyPr/>
                    <a:lstStyle/>
                    <a:p>
                      <a:pPr algn="ctr"/>
                      <a:endParaRPr lang="es-CL" sz="1600" dirty="0"/>
                    </a:p>
                  </a:txBody>
                  <a:tcPr/>
                </a:tc>
                <a:extLst>
                  <a:ext uri="{0D108BD9-81ED-4DB2-BD59-A6C34878D82A}">
                    <a16:rowId xmlns:a16="http://schemas.microsoft.com/office/drawing/2014/main" val="3463432996"/>
                  </a:ext>
                </a:extLst>
              </a:tr>
            </a:tbl>
          </a:graphicData>
        </a:graphic>
      </p:graphicFrame>
      <p:sp>
        <p:nvSpPr>
          <p:cNvPr id="14" name="CuadroTexto 13">
            <a:extLst>
              <a:ext uri="{FF2B5EF4-FFF2-40B4-BE49-F238E27FC236}">
                <a16:creationId xmlns:a16="http://schemas.microsoft.com/office/drawing/2014/main" id="{653360EB-BF9F-064D-9943-BAC0D0A1BD0B}"/>
              </a:ext>
            </a:extLst>
          </p:cNvPr>
          <p:cNvSpPr txBox="1"/>
          <p:nvPr/>
        </p:nvSpPr>
        <p:spPr>
          <a:xfrm>
            <a:off x="4447309" y="2084832"/>
            <a:ext cx="2014384" cy="3693319"/>
          </a:xfrm>
          <a:prstGeom prst="rect">
            <a:avLst/>
          </a:prstGeom>
        </p:spPr>
        <p:style>
          <a:lnRef idx="3">
            <a:schemeClr val="lt1"/>
          </a:lnRef>
          <a:fillRef idx="1">
            <a:schemeClr val="accent3"/>
          </a:fillRef>
          <a:effectRef idx="1">
            <a:schemeClr val="accent3"/>
          </a:effectRef>
          <a:fontRef idx="minor">
            <a:schemeClr val="lt1"/>
          </a:fontRef>
        </p:style>
        <p:txBody>
          <a:bodyPr wrap="square" rtlCol="0">
            <a:spAutoFit/>
          </a:bodyPr>
          <a:lstStyle/>
          <a:p>
            <a:pPr algn="ctr"/>
            <a:r>
              <a:rPr lang="es-CL" dirty="0">
                <a:solidFill>
                  <a:schemeClr val="bg1"/>
                </a:solidFill>
              </a:rPr>
              <a:t>Pantalla:</a:t>
            </a:r>
          </a:p>
          <a:p>
            <a:pPr algn="ctr"/>
            <a:r>
              <a:rPr lang="es-CL" dirty="0">
                <a:solidFill>
                  <a:schemeClr val="bg1"/>
                </a:solidFill>
              </a:rPr>
              <a:t>349 1 2</a:t>
            </a:r>
          </a:p>
          <a:p>
            <a:pPr algn="ctr"/>
            <a:endParaRPr lang="es-CL" dirty="0">
              <a:solidFill>
                <a:schemeClr val="bg1"/>
              </a:solidFill>
            </a:endParaRPr>
          </a:p>
          <a:p>
            <a:pPr algn="ctr"/>
            <a:r>
              <a:rPr lang="es-CL" dirty="0">
                <a:solidFill>
                  <a:schemeClr val="bg1"/>
                </a:solidFill>
              </a:rPr>
              <a:t>Explicación</a:t>
            </a:r>
          </a:p>
          <a:p>
            <a:pPr algn="ctr"/>
            <a:r>
              <a:rPr lang="es-CL" dirty="0">
                <a:solidFill>
                  <a:schemeClr val="bg1"/>
                </a:solidFill>
              </a:rPr>
              <a:t>Cambia de lugar los dígitos exteriores (de a dos, hacia centro)</a:t>
            </a:r>
          </a:p>
          <a:p>
            <a:pPr algn="ctr"/>
            <a:r>
              <a:rPr lang="es-CL" dirty="0">
                <a:solidFill>
                  <a:schemeClr val="bg1"/>
                </a:solidFill>
              </a:rPr>
              <a:t> </a:t>
            </a:r>
          </a:p>
          <a:p>
            <a:pPr algn="ctr"/>
            <a:r>
              <a:rPr lang="es-CL" dirty="0">
                <a:solidFill>
                  <a:schemeClr val="bg1"/>
                </a:solidFill>
              </a:rPr>
              <a:t>Imprime cantidad de dígitos pares y cantidad de dígitos impares.</a:t>
            </a:r>
          </a:p>
        </p:txBody>
      </p:sp>
    </p:spTree>
    <p:extLst>
      <p:ext uri="{BB962C8B-B14F-4D97-AF65-F5344CB8AC3E}">
        <p14:creationId xmlns:p14="http://schemas.microsoft.com/office/powerpoint/2010/main" val="22418650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01AA024-9AEB-7A46-AB60-37DC6052CBD7}"/>
              </a:ext>
            </a:extLst>
          </p:cNvPr>
          <p:cNvSpPr>
            <a:spLocks noGrp="1"/>
          </p:cNvSpPr>
          <p:nvPr>
            <p:ph type="title"/>
          </p:nvPr>
        </p:nvSpPr>
        <p:spPr>
          <a:xfrm>
            <a:off x="1024128" y="585216"/>
            <a:ext cx="9720072" cy="1499616"/>
          </a:xfrm>
        </p:spPr>
        <p:txBody>
          <a:bodyPr/>
          <a:lstStyle/>
          <a:p>
            <a:r>
              <a:rPr lang="es-CL" dirty="0">
                <a:solidFill>
                  <a:srgbClr val="66D9EF"/>
                </a:solidFill>
              </a:rPr>
              <a:t>Ejercicio 3: Gotta go fast</a:t>
            </a:r>
            <a:endParaRPr lang="es-CL" dirty="0"/>
          </a:p>
        </p:txBody>
      </p:sp>
      <p:sp>
        <p:nvSpPr>
          <p:cNvPr id="3" name="Marcador de contenido 2">
            <a:extLst>
              <a:ext uri="{FF2B5EF4-FFF2-40B4-BE49-F238E27FC236}">
                <a16:creationId xmlns:a16="http://schemas.microsoft.com/office/drawing/2014/main" id="{0B8899BD-6F23-AC4D-BADB-F8332DB513D6}"/>
              </a:ext>
            </a:extLst>
          </p:cNvPr>
          <p:cNvSpPr>
            <a:spLocks noGrp="1"/>
          </p:cNvSpPr>
          <p:nvPr>
            <p:ph idx="1"/>
          </p:nvPr>
        </p:nvSpPr>
        <p:spPr>
          <a:xfrm>
            <a:off x="228600" y="1828799"/>
            <a:ext cx="8042564" cy="4940880"/>
          </a:xfrm>
        </p:spPr>
        <p:txBody>
          <a:bodyPr>
            <a:normAutofit/>
          </a:bodyPr>
          <a:lstStyle/>
          <a:p>
            <a:r>
              <a:rPr lang="es-CL" sz="2800" dirty="0">
                <a:solidFill>
                  <a:schemeClr val="bg1"/>
                </a:solidFill>
              </a:rPr>
              <a:t>Cuando l@s sansan@s tenían que dar sus cursos de deporte offline, el ejercicio clásico consistía en correr alrededor de la U. </a:t>
            </a:r>
          </a:p>
          <a:p>
            <a:r>
              <a:rPr lang="es-CL" sz="2800" dirty="0">
                <a:solidFill>
                  <a:schemeClr val="bg1"/>
                </a:solidFill>
              </a:rPr>
              <a:t>Escribir un programa que reciba el nivel de dificultad de ejercicio que el/la sansan@ tiene que hacer. Si la dificultad es “facil” – son 3 circulos, si es “media” – 5 y “extrema” – 7 circulos. Por cada repetición se les pida recibir la velocidad del estudiante y el tiempo (en segundos) empleado. Imprimir el tiempo total que gasto el estudiante y, además,  su velocidad mínima y máxima en todo el trayecto.</a:t>
            </a:r>
          </a:p>
        </p:txBody>
      </p:sp>
      <p:pic>
        <p:nvPicPr>
          <p:cNvPr id="5" name="Imagen 4">
            <a:extLst>
              <a:ext uri="{FF2B5EF4-FFF2-40B4-BE49-F238E27FC236}">
                <a16:creationId xmlns:a16="http://schemas.microsoft.com/office/drawing/2014/main" id="{E572F30E-BEBF-EF44-8E29-DF5827611CA5}"/>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278" r="97778">
                        <a14:foregroundMark x1="21389" y1="48222" x2="5278" y2="58444"/>
                        <a14:foregroundMark x1="10556" y1="50667" x2="2778" y2="58000"/>
                        <a14:foregroundMark x1="45833" y1="29778" x2="66944" y2="24444"/>
                        <a14:foregroundMark x1="60833" y1="30889" x2="49444" y2="21111"/>
                        <a14:foregroundMark x1="57778" y1="25111" x2="50556" y2="24444"/>
                        <a14:foregroundMark x1="53611" y1="28444" x2="53056" y2="26000"/>
                        <a14:foregroundMark x1="56111" y1="26000" x2="52500" y2="21111"/>
                        <a14:foregroundMark x1="49444" y1="27556" x2="51944" y2="25556"/>
                        <a14:foregroundMark x1="14722" y1="86222" x2="13611" y2="85111"/>
                        <a14:foregroundMark x1="77222" y1="84667" x2="86944" y2="85111"/>
                        <a14:foregroundMark x1="94167" y1="45778" x2="92500" y2="42444"/>
                        <a14:foregroundMark x1="97222" y1="50667" x2="97222" y2="50667"/>
                        <a14:foregroundMark x1="93056" y1="50667" x2="97778" y2="49778"/>
                        <a14:foregroundMark x1="13056" y1="53111" x2="3333" y2="55111"/>
                        <a14:foregroundMark x1="5278" y1="53556" x2="278" y2="54667"/>
                        <a14:foregroundMark x1="6944" y1="60444" x2="10556" y2="54222"/>
                      </a14:backgroundRemoval>
                    </a14:imgEffect>
                  </a14:imgLayer>
                </a14:imgProps>
              </a:ext>
            </a:extLst>
          </a:blip>
          <a:stretch>
            <a:fillRect/>
          </a:stretch>
        </p:blipFill>
        <p:spPr>
          <a:xfrm>
            <a:off x="7086601" y="88321"/>
            <a:ext cx="1392382" cy="1740478"/>
          </a:xfrm>
          <a:prstGeom prst="rect">
            <a:avLst/>
          </a:prstGeom>
        </p:spPr>
      </p:pic>
      <p:sp>
        <p:nvSpPr>
          <p:cNvPr id="6" name="CuadroTexto 5">
            <a:extLst>
              <a:ext uri="{FF2B5EF4-FFF2-40B4-BE49-F238E27FC236}">
                <a16:creationId xmlns:a16="http://schemas.microsoft.com/office/drawing/2014/main" id="{D494D715-BE12-9647-A11B-1BA07BCE1696}"/>
              </a:ext>
            </a:extLst>
          </p:cNvPr>
          <p:cNvSpPr txBox="1"/>
          <p:nvPr/>
        </p:nvSpPr>
        <p:spPr>
          <a:xfrm>
            <a:off x="8461663" y="1828798"/>
            <a:ext cx="1149928" cy="3773296"/>
          </a:xfrm>
          <a:prstGeom prst="rect">
            <a:avLst/>
          </a:prstGeom>
          <a:noFill/>
        </p:spPr>
        <p:txBody>
          <a:bodyPr wrap="square" rtlCol="0">
            <a:spAutoFit/>
          </a:bodyPr>
          <a:lstStyle/>
          <a:p>
            <a:r>
              <a:rPr lang="es-CL" sz="2400" dirty="0">
                <a:solidFill>
                  <a:schemeClr val="bg1"/>
                </a:solidFill>
              </a:rPr>
              <a:t>Input:</a:t>
            </a:r>
          </a:p>
          <a:p>
            <a:r>
              <a:rPr lang="es-CL" sz="2400" dirty="0">
                <a:solidFill>
                  <a:schemeClr val="bg1"/>
                </a:solidFill>
              </a:rPr>
              <a:t>facil</a:t>
            </a:r>
          </a:p>
          <a:p>
            <a:r>
              <a:rPr lang="es-CL" sz="2400" dirty="0">
                <a:solidFill>
                  <a:schemeClr val="bg1"/>
                </a:solidFill>
              </a:rPr>
              <a:t>385</a:t>
            </a:r>
          </a:p>
          <a:p>
            <a:r>
              <a:rPr lang="es-CL" sz="2400" dirty="0">
                <a:solidFill>
                  <a:schemeClr val="bg1"/>
                </a:solidFill>
              </a:rPr>
              <a:t>3.4</a:t>
            </a:r>
          </a:p>
          <a:p>
            <a:r>
              <a:rPr lang="es-CL" sz="2400" dirty="0">
                <a:solidFill>
                  <a:schemeClr val="bg1"/>
                </a:solidFill>
              </a:rPr>
              <a:t>560</a:t>
            </a:r>
          </a:p>
          <a:p>
            <a:r>
              <a:rPr lang="es-CL" sz="2400" dirty="0">
                <a:solidFill>
                  <a:schemeClr val="bg1"/>
                </a:solidFill>
              </a:rPr>
              <a:t>2.8</a:t>
            </a:r>
          </a:p>
          <a:p>
            <a:r>
              <a:rPr lang="es-CL" sz="2400" dirty="0">
                <a:solidFill>
                  <a:schemeClr val="bg1"/>
                </a:solidFill>
              </a:rPr>
              <a:t>475</a:t>
            </a:r>
          </a:p>
          <a:p>
            <a:r>
              <a:rPr lang="es-CL" sz="2400" dirty="0">
                <a:solidFill>
                  <a:schemeClr val="bg1"/>
                </a:solidFill>
              </a:rPr>
              <a:t>3.1</a:t>
            </a:r>
          </a:p>
          <a:p>
            <a:endParaRPr lang="es-CL" sz="2400" dirty="0">
              <a:solidFill>
                <a:schemeClr val="bg1"/>
              </a:solidFill>
            </a:endParaRPr>
          </a:p>
          <a:p>
            <a:endParaRPr lang="es-CL" sz="2400" dirty="0">
              <a:solidFill>
                <a:schemeClr val="bg1"/>
              </a:solidFill>
            </a:endParaRPr>
          </a:p>
        </p:txBody>
      </p:sp>
      <p:sp>
        <p:nvSpPr>
          <p:cNvPr id="7" name="CuadroTexto 6">
            <a:extLst>
              <a:ext uri="{FF2B5EF4-FFF2-40B4-BE49-F238E27FC236}">
                <a16:creationId xmlns:a16="http://schemas.microsoft.com/office/drawing/2014/main" id="{A853BED7-A165-BB42-99F6-8A490014DC73}"/>
              </a:ext>
            </a:extLst>
          </p:cNvPr>
          <p:cNvSpPr txBox="1"/>
          <p:nvPr/>
        </p:nvSpPr>
        <p:spPr>
          <a:xfrm>
            <a:off x="9566565" y="1990915"/>
            <a:ext cx="2396835" cy="2308324"/>
          </a:xfrm>
          <a:prstGeom prst="rect">
            <a:avLst/>
          </a:prstGeom>
          <a:noFill/>
        </p:spPr>
        <p:txBody>
          <a:bodyPr wrap="square" rtlCol="0">
            <a:spAutoFit/>
          </a:bodyPr>
          <a:lstStyle/>
          <a:p>
            <a:r>
              <a:rPr lang="es-CL" sz="2400" dirty="0">
                <a:solidFill>
                  <a:schemeClr val="bg1"/>
                </a:solidFill>
              </a:rPr>
              <a:t>Output:</a:t>
            </a:r>
          </a:p>
          <a:p>
            <a:r>
              <a:rPr lang="es-CL" sz="2400" dirty="0">
                <a:solidFill>
                  <a:schemeClr val="bg1"/>
                </a:solidFill>
              </a:rPr>
              <a:t>Tiempo: 1420 [s]</a:t>
            </a:r>
          </a:p>
          <a:p>
            <a:r>
              <a:rPr lang="es-CL" sz="2400" dirty="0">
                <a:solidFill>
                  <a:schemeClr val="bg1"/>
                </a:solidFill>
              </a:rPr>
              <a:t>V max: 3.4 [m/s]</a:t>
            </a:r>
          </a:p>
          <a:p>
            <a:r>
              <a:rPr lang="es-CL" sz="2400" dirty="0">
                <a:solidFill>
                  <a:schemeClr val="bg1"/>
                </a:solidFill>
              </a:rPr>
              <a:t>V min: 2.8 [m/s]</a:t>
            </a:r>
          </a:p>
          <a:p>
            <a:endParaRPr lang="es-CL" sz="2400" dirty="0">
              <a:solidFill>
                <a:schemeClr val="bg1"/>
              </a:solidFill>
            </a:endParaRPr>
          </a:p>
          <a:p>
            <a:endParaRPr lang="es-CL" sz="2400" dirty="0">
              <a:solidFill>
                <a:schemeClr val="bg1"/>
              </a:solidFill>
            </a:endParaRPr>
          </a:p>
        </p:txBody>
      </p:sp>
    </p:spTree>
    <p:extLst>
      <p:ext uri="{BB962C8B-B14F-4D97-AF65-F5344CB8AC3E}">
        <p14:creationId xmlns:p14="http://schemas.microsoft.com/office/powerpoint/2010/main" val="39131458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CC444E-3D70-2C4A-B2AB-6EE86AC25C2A}"/>
              </a:ext>
            </a:extLst>
          </p:cNvPr>
          <p:cNvSpPr>
            <a:spLocks noGrp="1"/>
          </p:cNvSpPr>
          <p:nvPr>
            <p:ph type="title"/>
          </p:nvPr>
        </p:nvSpPr>
        <p:spPr/>
        <p:txBody>
          <a:bodyPr/>
          <a:lstStyle/>
          <a:p>
            <a:r>
              <a:rPr lang="es-CL" dirty="0">
                <a:solidFill>
                  <a:srgbClr val="66D9EF"/>
                </a:solidFill>
              </a:rPr>
              <a:t>Ejercicio 3: Solución</a:t>
            </a:r>
            <a:endParaRPr lang="es-CL" dirty="0"/>
          </a:p>
        </p:txBody>
      </p:sp>
      <p:sp>
        <p:nvSpPr>
          <p:cNvPr id="7" name="Rectángulo 6">
            <a:extLst>
              <a:ext uri="{FF2B5EF4-FFF2-40B4-BE49-F238E27FC236}">
                <a16:creationId xmlns:a16="http://schemas.microsoft.com/office/drawing/2014/main" id="{5B0E87BC-CF6C-B441-9B04-C0659409A079}"/>
              </a:ext>
            </a:extLst>
          </p:cNvPr>
          <p:cNvSpPr/>
          <p:nvPr/>
        </p:nvSpPr>
        <p:spPr>
          <a:xfrm>
            <a:off x="579327" y="1987850"/>
            <a:ext cx="5516673" cy="4247317"/>
          </a:xfrm>
          <a:prstGeom prst="rect">
            <a:avLst/>
          </a:prstGeom>
        </p:spPr>
        <p:txBody>
          <a:bodyPr wrap="square">
            <a:spAutoFit/>
          </a:bodyPr>
          <a:lstStyle/>
          <a:p>
            <a:r>
              <a:rPr lang="es-CL" dirty="0">
                <a:solidFill>
                  <a:srgbClr val="F9F9F5"/>
                </a:solidFill>
                <a:latin typeface="Monaco" pitchFamily="2" charset="0"/>
              </a:rPr>
              <a:t>dif </a:t>
            </a:r>
            <a:r>
              <a:rPr lang="es-CL" dirty="0">
                <a:solidFill>
                  <a:srgbClr val="FD4485"/>
                </a:solidFill>
                <a:latin typeface="Monaco" pitchFamily="2" charset="0"/>
              </a:rPr>
              <a:t>=</a:t>
            </a:r>
            <a:r>
              <a:rPr lang="es-CL" dirty="0">
                <a:solidFill>
                  <a:srgbClr val="F9F9F5"/>
                </a:solidFill>
                <a:latin typeface="Monaco" pitchFamily="2" charset="0"/>
              </a:rPr>
              <a:t> input(</a:t>
            </a:r>
            <a:r>
              <a:rPr lang="es-CL" dirty="0">
                <a:solidFill>
                  <a:srgbClr val="EBE087"/>
                </a:solidFill>
                <a:latin typeface="Monaco" pitchFamily="2" charset="0"/>
              </a:rPr>
              <a:t>"Ingrese la dificultad: "</a:t>
            </a:r>
            <a:r>
              <a:rPr lang="es-CL" dirty="0">
                <a:solidFill>
                  <a:srgbClr val="F9F9F5"/>
                </a:solidFill>
                <a:latin typeface="Monaco" pitchFamily="2" charset="0"/>
              </a:rPr>
              <a:t>)</a:t>
            </a:r>
            <a:endParaRPr lang="es-CL" dirty="0">
              <a:solidFill>
                <a:srgbClr val="EBE087"/>
              </a:solidFill>
              <a:latin typeface="Monaco" pitchFamily="2" charset="0"/>
            </a:endParaRPr>
          </a:p>
          <a:p>
            <a:endParaRPr lang="es-CL" dirty="0">
              <a:solidFill>
                <a:srgbClr val="F9F9F5"/>
              </a:solidFill>
              <a:latin typeface="Monaco" pitchFamily="2" charset="0"/>
            </a:endParaRPr>
          </a:p>
          <a:p>
            <a:r>
              <a:rPr lang="es-CL" dirty="0">
                <a:solidFill>
                  <a:srgbClr val="75E0F2"/>
                </a:solidFill>
                <a:latin typeface="Monaco" pitchFamily="2" charset="0"/>
              </a:rPr>
              <a:t>if</a:t>
            </a:r>
            <a:r>
              <a:rPr lang="es-CL" dirty="0">
                <a:solidFill>
                  <a:srgbClr val="F9F9F5"/>
                </a:solidFill>
                <a:latin typeface="Monaco" pitchFamily="2" charset="0"/>
              </a:rPr>
              <a:t> dif </a:t>
            </a:r>
            <a:r>
              <a:rPr lang="es-CL" dirty="0">
                <a:solidFill>
                  <a:srgbClr val="FD4485"/>
                </a:solidFill>
                <a:latin typeface="Monaco" pitchFamily="2" charset="0"/>
              </a:rPr>
              <a:t>==</a:t>
            </a:r>
            <a:r>
              <a:rPr lang="es-CL" dirty="0">
                <a:solidFill>
                  <a:srgbClr val="F9F9F5"/>
                </a:solidFill>
                <a:latin typeface="Monaco" pitchFamily="2" charset="0"/>
              </a:rPr>
              <a:t> </a:t>
            </a:r>
            <a:r>
              <a:rPr lang="es-CL" dirty="0">
                <a:solidFill>
                  <a:srgbClr val="EBE087"/>
                </a:solidFill>
                <a:latin typeface="Monaco" pitchFamily="2" charset="0"/>
              </a:rPr>
              <a:t>"facil"</a:t>
            </a:r>
            <a:r>
              <a:rPr lang="es-CL" dirty="0">
                <a:solidFill>
                  <a:srgbClr val="F9F9F5"/>
                </a:solidFill>
                <a:latin typeface="Monaco" pitchFamily="2" charset="0"/>
              </a:rPr>
              <a:t>:</a:t>
            </a:r>
          </a:p>
          <a:p>
            <a:r>
              <a:rPr lang="es-CL" dirty="0">
                <a:solidFill>
                  <a:srgbClr val="F9F9F5"/>
                </a:solidFill>
                <a:latin typeface="Monaco" pitchFamily="2" charset="0"/>
              </a:rPr>
              <a:t>    n </a:t>
            </a:r>
            <a:r>
              <a:rPr lang="es-CL" dirty="0">
                <a:solidFill>
                  <a:srgbClr val="FD4485"/>
                </a:solidFill>
                <a:latin typeface="Monaco" pitchFamily="2" charset="0"/>
              </a:rPr>
              <a:t>=</a:t>
            </a:r>
            <a:r>
              <a:rPr lang="es-CL" dirty="0">
                <a:solidFill>
                  <a:srgbClr val="F9F9F5"/>
                </a:solidFill>
                <a:latin typeface="Monaco" pitchFamily="2" charset="0"/>
              </a:rPr>
              <a:t> </a:t>
            </a:r>
            <a:r>
              <a:rPr lang="es-CL" dirty="0">
                <a:solidFill>
                  <a:srgbClr val="BD99FF"/>
                </a:solidFill>
                <a:latin typeface="Monaco" pitchFamily="2" charset="0"/>
              </a:rPr>
              <a:t>3</a:t>
            </a:r>
            <a:endParaRPr lang="es-CL" dirty="0">
              <a:solidFill>
                <a:srgbClr val="F9F9F5"/>
              </a:solidFill>
              <a:latin typeface="Monaco" pitchFamily="2" charset="0"/>
            </a:endParaRPr>
          </a:p>
          <a:p>
            <a:r>
              <a:rPr lang="es-CL" dirty="0">
                <a:solidFill>
                  <a:srgbClr val="75E0F2"/>
                </a:solidFill>
                <a:latin typeface="Monaco" pitchFamily="2" charset="0"/>
              </a:rPr>
              <a:t>elif</a:t>
            </a:r>
            <a:r>
              <a:rPr lang="es-CL" dirty="0">
                <a:solidFill>
                  <a:srgbClr val="F9F9F5"/>
                </a:solidFill>
                <a:latin typeface="Monaco" pitchFamily="2" charset="0"/>
              </a:rPr>
              <a:t> dif </a:t>
            </a:r>
            <a:r>
              <a:rPr lang="es-CL" dirty="0">
                <a:solidFill>
                  <a:srgbClr val="FD4485"/>
                </a:solidFill>
                <a:latin typeface="Monaco" pitchFamily="2" charset="0"/>
              </a:rPr>
              <a:t>==</a:t>
            </a:r>
            <a:r>
              <a:rPr lang="es-CL" dirty="0">
                <a:solidFill>
                  <a:srgbClr val="F9F9F5"/>
                </a:solidFill>
                <a:latin typeface="Monaco" pitchFamily="2" charset="0"/>
              </a:rPr>
              <a:t> </a:t>
            </a:r>
            <a:r>
              <a:rPr lang="es-CL" dirty="0">
                <a:solidFill>
                  <a:srgbClr val="EBE087"/>
                </a:solidFill>
                <a:latin typeface="Monaco" pitchFamily="2" charset="0"/>
              </a:rPr>
              <a:t>"media"</a:t>
            </a:r>
            <a:r>
              <a:rPr lang="es-CL" dirty="0">
                <a:solidFill>
                  <a:srgbClr val="F9F9F5"/>
                </a:solidFill>
                <a:latin typeface="Monaco" pitchFamily="2" charset="0"/>
              </a:rPr>
              <a:t>:</a:t>
            </a:r>
          </a:p>
          <a:p>
            <a:r>
              <a:rPr lang="es-CL" dirty="0">
                <a:solidFill>
                  <a:srgbClr val="F9F9F5"/>
                </a:solidFill>
                <a:latin typeface="Monaco" pitchFamily="2" charset="0"/>
              </a:rPr>
              <a:t>    n </a:t>
            </a:r>
            <a:r>
              <a:rPr lang="es-CL" dirty="0">
                <a:solidFill>
                  <a:srgbClr val="FD4485"/>
                </a:solidFill>
                <a:latin typeface="Monaco" pitchFamily="2" charset="0"/>
              </a:rPr>
              <a:t>=</a:t>
            </a:r>
            <a:r>
              <a:rPr lang="es-CL" dirty="0">
                <a:solidFill>
                  <a:srgbClr val="F9F9F5"/>
                </a:solidFill>
                <a:latin typeface="Monaco" pitchFamily="2" charset="0"/>
              </a:rPr>
              <a:t> </a:t>
            </a:r>
            <a:r>
              <a:rPr lang="es-CL" dirty="0">
                <a:solidFill>
                  <a:srgbClr val="BD99FF"/>
                </a:solidFill>
                <a:latin typeface="Monaco" pitchFamily="2" charset="0"/>
              </a:rPr>
              <a:t>5</a:t>
            </a:r>
            <a:endParaRPr lang="es-CL" dirty="0">
              <a:solidFill>
                <a:srgbClr val="F9F9F5"/>
              </a:solidFill>
              <a:latin typeface="Monaco" pitchFamily="2" charset="0"/>
            </a:endParaRPr>
          </a:p>
          <a:p>
            <a:r>
              <a:rPr lang="es-CL" dirty="0">
                <a:solidFill>
                  <a:srgbClr val="75E0F2"/>
                </a:solidFill>
                <a:latin typeface="Monaco" pitchFamily="2" charset="0"/>
              </a:rPr>
              <a:t>else</a:t>
            </a:r>
            <a:r>
              <a:rPr lang="es-CL" dirty="0">
                <a:solidFill>
                  <a:srgbClr val="F9F9F5"/>
                </a:solidFill>
                <a:latin typeface="Monaco" pitchFamily="2" charset="0"/>
              </a:rPr>
              <a:t>:</a:t>
            </a:r>
            <a:endParaRPr lang="es-CL" dirty="0">
              <a:solidFill>
                <a:srgbClr val="75E0F2"/>
              </a:solidFill>
              <a:latin typeface="Monaco" pitchFamily="2" charset="0"/>
            </a:endParaRPr>
          </a:p>
          <a:p>
            <a:r>
              <a:rPr lang="es-CL" dirty="0">
                <a:solidFill>
                  <a:srgbClr val="F9F9F5"/>
                </a:solidFill>
                <a:latin typeface="Monaco" pitchFamily="2" charset="0"/>
              </a:rPr>
              <a:t>    n </a:t>
            </a:r>
            <a:r>
              <a:rPr lang="es-CL" dirty="0">
                <a:solidFill>
                  <a:srgbClr val="FD4485"/>
                </a:solidFill>
                <a:latin typeface="Monaco" pitchFamily="2" charset="0"/>
              </a:rPr>
              <a:t>=</a:t>
            </a:r>
            <a:r>
              <a:rPr lang="es-CL" dirty="0">
                <a:solidFill>
                  <a:srgbClr val="F9F9F5"/>
                </a:solidFill>
                <a:latin typeface="Monaco" pitchFamily="2" charset="0"/>
              </a:rPr>
              <a:t> </a:t>
            </a:r>
            <a:r>
              <a:rPr lang="es-CL" dirty="0">
                <a:solidFill>
                  <a:srgbClr val="BD99FF"/>
                </a:solidFill>
                <a:latin typeface="Monaco" pitchFamily="2" charset="0"/>
              </a:rPr>
              <a:t>7</a:t>
            </a:r>
            <a:endParaRPr lang="es-CL" dirty="0">
              <a:solidFill>
                <a:srgbClr val="F9F9F5"/>
              </a:solidFill>
              <a:latin typeface="Monaco" pitchFamily="2" charset="0"/>
            </a:endParaRPr>
          </a:p>
          <a:p>
            <a:endParaRPr lang="es-CL" dirty="0">
              <a:solidFill>
                <a:srgbClr val="F9F9F5"/>
              </a:solidFill>
              <a:latin typeface="Monaco" pitchFamily="2" charset="0"/>
            </a:endParaRPr>
          </a:p>
          <a:p>
            <a:r>
              <a:rPr lang="es-CL" dirty="0">
                <a:solidFill>
                  <a:srgbClr val="F9F9F5"/>
                </a:solidFill>
                <a:latin typeface="Monaco" pitchFamily="2" charset="0"/>
              </a:rPr>
              <a:t>t_total </a:t>
            </a:r>
            <a:r>
              <a:rPr lang="es-CL" dirty="0">
                <a:solidFill>
                  <a:srgbClr val="FD4485"/>
                </a:solidFill>
                <a:latin typeface="Monaco" pitchFamily="2" charset="0"/>
              </a:rPr>
              <a:t>=</a:t>
            </a:r>
            <a:r>
              <a:rPr lang="es-CL" dirty="0">
                <a:solidFill>
                  <a:srgbClr val="F9F9F5"/>
                </a:solidFill>
                <a:latin typeface="Monaco" pitchFamily="2" charset="0"/>
              </a:rPr>
              <a:t> </a:t>
            </a:r>
            <a:r>
              <a:rPr lang="es-CL" dirty="0">
                <a:solidFill>
                  <a:srgbClr val="BD99FF"/>
                </a:solidFill>
                <a:latin typeface="Monaco" pitchFamily="2" charset="0"/>
              </a:rPr>
              <a:t>0</a:t>
            </a:r>
            <a:endParaRPr lang="es-CL" dirty="0">
              <a:solidFill>
                <a:srgbClr val="F9F9F5"/>
              </a:solidFill>
              <a:latin typeface="Monaco" pitchFamily="2" charset="0"/>
            </a:endParaRPr>
          </a:p>
          <a:p>
            <a:r>
              <a:rPr lang="es-CL" dirty="0">
                <a:solidFill>
                  <a:srgbClr val="F9F9F5"/>
                </a:solidFill>
                <a:latin typeface="Monaco" pitchFamily="2" charset="0"/>
              </a:rPr>
              <a:t>v_min </a:t>
            </a:r>
            <a:r>
              <a:rPr lang="es-CL" dirty="0">
                <a:solidFill>
                  <a:srgbClr val="FD4485"/>
                </a:solidFill>
                <a:latin typeface="Monaco" pitchFamily="2" charset="0"/>
              </a:rPr>
              <a:t>=</a:t>
            </a:r>
            <a:r>
              <a:rPr lang="es-CL" dirty="0">
                <a:solidFill>
                  <a:srgbClr val="F9F9F5"/>
                </a:solidFill>
                <a:latin typeface="Monaco" pitchFamily="2" charset="0"/>
              </a:rPr>
              <a:t> float(</a:t>
            </a:r>
            <a:r>
              <a:rPr lang="es-CL" dirty="0">
                <a:solidFill>
                  <a:srgbClr val="EBE087"/>
                </a:solidFill>
                <a:latin typeface="Monaco" pitchFamily="2" charset="0"/>
              </a:rPr>
              <a:t>'inf’</a:t>
            </a:r>
            <a:r>
              <a:rPr lang="es-CL" dirty="0">
                <a:solidFill>
                  <a:srgbClr val="F9F9F5"/>
                </a:solidFill>
                <a:latin typeface="Monaco" pitchFamily="2" charset="0"/>
              </a:rPr>
              <a:t>) </a:t>
            </a:r>
            <a:r>
              <a:rPr lang="es-CL" dirty="0">
                <a:solidFill>
                  <a:srgbClr val="888471"/>
                </a:solidFill>
                <a:latin typeface="Monaco" pitchFamily="2" charset="0"/>
              </a:rPr>
              <a:t># o un numero muy grande, como 9999999</a:t>
            </a:r>
          </a:p>
          <a:p>
            <a:r>
              <a:rPr lang="es-CL" dirty="0">
                <a:solidFill>
                  <a:srgbClr val="F9F9F5"/>
                </a:solidFill>
                <a:latin typeface="Monaco" pitchFamily="2" charset="0"/>
              </a:rPr>
              <a:t>v_max  </a:t>
            </a:r>
            <a:r>
              <a:rPr lang="es-CL" dirty="0">
                <a:solidFill>
                  <a:srgbClr val="FD4485"/>
                </a:solidFill>
                <a:latin typeface="Monaco" pitchFamily="2" charset="0"/>
              </a:rPr>
              <a:t>=</a:t>
            </a:r>
            <a:r>
              <a:rPr lang="es-CL" dirty="0">
                <a:solidFill>
                  <a:srgbClr val="F9F9F5"/>
                </a:solidFill>
                <a:latin typeface="Monaco" pitchFamily="2" charset="0"/>
              </a:rPr>
              <a:t> </a:t>
            </a:r>
            <a:r>
              <a:rPr lang="es-CL" dirty="0">
                <a:solidFill>
                  <a:srgbClr val="FD4485"/>
                </a:solidFill>
                <a:latin typeface="Monaco" pitchFamily="2" charset="0"/>
              </a:rPr>
              <a:t>-</a:t>
            </a:r>
            <a:r>
              <a:rPr lang="es-CL" dirty="0">
                <a:solidFill>
                  <a:srgbClr val="F9F9F5"/>
                </a:solidFill>
                <a:latin typeface="Monaco" pitchFamily="2" charset="0"/>
              </a:rPr>
              <a:t>float(</a:t>
            </a:r>
            <a:r>
              <a:rPr lang="es-CL" dirty="0">
                <a:solidFill>
                  <a:srgbClr val="EBE087"/>
                </a:solidFill>
                <a:latin typeface="Monaco" pitchFamily="2" charset="0"/>
              </a:rPr>
              <a:t>'inf'</a:t>
            </a:r>
            <a:r>
              <a:rPr lang="es-CL" dirty="0">
                <a:solidFill>
                  <a:srgbClr val="F9F9F5"/>
                </a:solidFill>
                <a:latin typeface="Monaco" pitchFamily="2" charset="0"/>
              </a:rPr>
              <a:t>) </a:t>
            </a:r>
            <a:r>
              <a:rPr lang="es-CL" dirty="0">
                <a:solidFill>
                  <a:srgbClr val="888471"/>
                </a:solidFill>
                <a:latin typeface="Monaco" pitchFamily="2" charset="0"/>
              </a:rPr>
              <a:t># o un numero muy chico, </a:t>
            </a:r>
          </a:p>
          <a:p>
            <a:r>
              <a:rPr lang="es-CL" dirty="0">
                <a:solidFill>
                  <a:srgbClr val="888471"/>
                </a:solidFill>
                <a:latin typeface="Monaco" pitchFamily="2" charset="0"/>
              </a:rPr>
              <a:t>-9999999</a:t>
            </a:r>
            <a:endParaRPr lang="es-CL" dirty="0">
              <a:solidFill>
                <a:srgbClr val="888471"/>
              </a:solidFill>
              <a:effectLst/>
              <a:latin typeface="Monaco" pitchFamily="2" charset="0"/>
            </a:endParaRPr>
          </a:p>
        </p:txBody>
      </p:sp>
      <p:sp>
        <p:nvSpPr>
          <p:cNvPr id="8" name="Rectángulo 7">
            <a:extLst>
              <a:ext uri="{FF2B5EF4-FFF2-40B4-BE49-F238E27FC236}">
                <a16:creationId xmlns:a16="http://schemas.microsoft.com/office/drawing/2014/main" id="{588BCDFE-E19C-3641-8805-F8F48BFC62E7}"/>
              </a:ext>
            </a:extLst>
          </p:cNvPr>
          <p:cNvSpPr/>
          <p:nvPr/>
        </p:nvSpPr>
        <p:spPr>
          <a:xfrm>
            <a:off x="6040581" y="1968111"/>
            <a:ext cx="6096000" cy="4001095"/>
          </a:xfrm>
          <a:prstGeom prst="rect">
            <a:avLst/>
          </a:prstGeom>
        </p:spPr>
        <p:txBody>
          <a:bodyPr>
            <a:spAutoFit/>
          </a:bodyPr>
          <a:lstStyle/>
          <a:p>
            <a:r>
              <a:rPr lang="es-CL" dirty="0">
                <a:solidFill>
                  <a:srgbClr val="75E0F2"/>
                </a:solidFill>
                <a:latin typeface="Monaco" pitchFamily="2" charset="0"/>
              </a:rPr>
              <a:t>while</a:t>
            </a:r>
            <a:r>
              <a:rPr lang="es-CL" dirty="0">
                <a:solidFill>
                  <a:srgbClr val="F9F9F5"/>
                </a:solidFill>
                <a:latin typeface="Monaco" pitchFamily="2" charset="0"/>
              </a:rPr>
              <a:t> n:</a:t>
            </a:r>
            <a:endParaRPr lang="es-CL" dirty="0">
              <a:solidFill>
                <a:srgbClr val="75E0F2"/>
              </a:solidFill>
              <a:latin typeface="Monaco" pitchFamily="2" charset="0"/>
            </a:endParaRPr>
          </a:p>
          <a:p>
            <a:r>
              <a:rPr lang="es-CL" dirty="0">
                <a:solidFill>
                  <a:srgbClr val="F9F9F5"/>
                </a:solidFill>
                <a:latin typeface="Monaco" pitchFamily="2" charset="0"/>
              </a:rPr>
              <a:t>    t </a:t>
            </a:r>
            <a:r>
              <a:rPr lang="es-CL" dirty="0">
                <a:solidFill>
                  <a:srgbClr val="FD4485"/>
                </a:solidFill>
                <a:latin typeface="Monaco" pitchFamily="2" charset="0"/>
              </a:rPr>
              <a:t>=</a:t>
            </a:r>
            <a:r>
              <a:rPr lang="es-CL" dirty="0">
                <a:solidFill>
                  <a:srgbClr val="F9F9F5"/>
                </a:solidFill>
                <a:latin typeface="Monaco" pitchFamily="2" charset="0"/>
              </a:rPr>
              <a:t> int(input(</a:t>
            </a:r>
            <a:r>
              <a:rPr lang="es-CL" dirty="0">
                <a:solidFill>
                  <a:srgbClr val="EBE087"/>
                </a:solidFill>
                <a:latin typeface="Monaco" pitchFamily="2" charset="0"/>
              </a:rPr>
              <a:t>"Tiempo empleado: "</a:t>
            </a:r>
            <a:r>
              <a:rPr lang="es-CL" dirty="0">
                <a:solidFill>
                  <a:srgbClr val="F9F9F5"/>
                </a:solidFill>
                <a:latin typeface="Monaco" pitchFamily="2" charset="0"/>
              </a:rPr>
              <a:t>))</a:t>
            </a:r>
          </a:p>
          <a:p>
            <a:r>
              <a:rPr lang="es-CL" dirty="0">
                <a:solidFill>
                  <a:srgbClr val="F9F9F5"/>
                </a:solidFill>
                <a:latin typeface="Monaco" pitchFamily="2" charset="0"/>
              </a:rPr>
              <a:t>    v </a:t>
            </a:r>
            <a:r>
              <a:rPr lang="es-CL" dirty="0">
                <a:solidFill>
                  <a:srgbClr val="FD4485"/>
                </a:solidFill>
                <a:latin typeface="Monaco" pitchFamily="2" charset="0"/>
              </a:rPr>
              <a:t>=</a:t>
            </a:r>
            <a:r>
              <a:rPr lang="es-CL" dirty="0">
                <a:solidFill>
                  <a:srgbClr val="F9F9F5"/>
                </a:solidFill>
                <a:latin typeface="Monaco" pitchFamily="2" charset="0"/>
              </a:rPr>
              <a:t>  float(input(</a:t>
            </a:r>
            <a:r>
              <a:rPr lang="es-CL" dirty="0">
                <a:solidFill>
                  <a:srgbClr val="EBE087"/>
                </a:solidFill>
                <a:latin typeface="Monaco" pitchFamily="2" charset="0"/>
              </a:rPr>
              <a:t>"Velocidad de estudiante: "</a:t>
            </a:r>
            <a:r>
              <a:rPr lang="es-CL" dirty="0">
                <a:solidFill>
                  <a:srgbClr val="F9F9F5"/>
                </a:solidFill>
                <a:latin typeface="Monaco" pitchFamily="2" charset="0"/>
              </a:rPr>
              <a:t>))</a:t>
            </a:r>
            <a:endParaRPr lang="es-CL" dirty="0">
              <a:solidFill>
                <a:srgbClr val="EBE087"/>
              </a:solidFill>
              <a:latin typeface="Monaco" pitchFamily="2" charset="0"/>
            </a:endParaRPr>
          </a:p>
          <a:p>
            <a:r>
              <a:rPr lang="es-CL" dirty="0">
                <a:solidFill>
                  <a:srgbClr val="F9F9F5"/>
                </a:solidFill>
                <a:latin typeface="Monaco" pitchFamily="2" charset="0"/>
              </a:rPr>
              <a:t>    t_total </a:t>
            </a:r>
            <a:r>
              <a:rPr lang="es-CL" dirty="0">
                <a:solidFill>
                  <a:srgbClr val="FD4485"/>
                </a:solidFill>
                <a:latin typeface="Monaco" pitchFamily="2" charset="0"/>
              </a:rPr>
              <a:t>+=</a:t>
            </a:r>
            <a:r>
              <a:rPr lang="es-CL" dirty="0">
                <a:solidFill>
                  <a:srgbClr val="F9F9F5"/>
                </a:solidFill>
                <a:latin typeface="Monaco" pitchFamily="2" charset="0"/>
              </a:rPr>
              <a:t> t</a:t>
            </a:r>
          </a:p>
          <a:p>
            <a:r>
              <a:rPr lang="es-CL" dirty="0">
                <a:solidFill>
                  <a:srgbClr val="F9F9F5"/>
                </a:solidFill>
                <a:latin typeface="Monaco" pitchFamily="2" charset="0"/>
              </a:rPr>
              <a:t>    </a:t>
            </a:r>
            <a:r>
              <a:rPr lang="es-CL" dirty="0">
                <a:solidFill>
                  <a:srgbClr val="75E0F2"/>
                </a:solidFill>
                <a:latin typeface="Monaco" pitchFamily="2" charset="0"/>
              </a:rPr>
              <a:t>if</a:t>
            </a:r>
            <a:r>
              <a:rPr lang="es-CL" dirty="0">
                <a:solidFill>
                  <a:srgbClr val="F9F9F5"/>
                </a:solidFill>
                <a:latin typeface="Monaco" pitchFamily="2" charset="0"/>
              </a:rPr>
              <a:t> v </a:t>
            </a:r>
            <a:r>
              <a:rPr lang="es-CL" dirty="0">
                <a:solidFill>
                  <a:srgbClr val="FD4485"/>
                </a:solidFill>
                <a:latin typeface="Monaco" pitchFamily="2" charset="0"/>
              </a:rPr>
              <a:t>&lt;</a:t>
            </a:r>
            <a:r>
              <a:rPr lang="es-CL" dirty="0">
                <a:solidFill>
                  <a:srgbClr val="F9F9F5"/>
                </a:solidFill>
                <a:latin typeface="Monaco" pitchFamily="2" charset="0"/>
              </a:rPr>
              <a:t> v_min:</a:t>
            </a:r>
          </a:p>
          <a:p>
            <a:r>
              <a:rPr lang="es-CL" dirty="0">
                <a:solidFill>
                  <a:srgbClr val="F9F9F5"/>
                </a:solidFill>
                <a:latin typeface="Monaco" pitchFamily="2" charset="0"/>
              </a:rPr>
              <a:t>        v_min </a:t>
            </a:r>
            <a:r>
              <a:rPr lang="es-CL" dirty="0">
                <a:solidFill>
                  <a:srgbClr val="FD4485"/>
                </a:solidFill>
                <a:latin typeface="Monaco" pitchFamily="2" charset="0"/>
              </a:rPr>
              <a:t>=</a:t>
            </a:r>
            <a:r>
              <a:rPr lang="es-CL" dirty="0">
                <a:solidFill>
                  <a:srgbClr val="F9F9F5"/>
                </a:solidFill>
                <a:latin typeface="Monaco" pitchFamily="2" charset="0"/>
              </a:rPr>
              <a:t> v</a:t>
            </a:r>
          </a:p>
          <a:p>
            <a:r>
              <a:rPr lang="es-CL" dirty="0">
                <a:solidFill>
                  <a:srgbClr val="F9F9F5"/>
                </a:solidFill>
                <a:latin typeface="Monaco" pitchFamily="2" charset="0"/>
              </a:rPr>
              <a:t>    </a:t>
            </a:r>
            <a:r>
              <a:rPr lang="es-CL" dirty="0">
                <a:solidFill>
                  <a:srgbClr val="75E0F2"/>
                </a:solidFill>
                <a:latin typeface="Monaco" pitchFamily="2" charset="0"/>
              </a:rPr>
              <a:t>elif</a:t>
            </a:r>
            <a:r>
              <a:rPr lang="es-CL" dirty="0">
                <a:solidFill>
                  <a:srgbClr val="F9F9F5"/>
                </a:solidFill>
                <a:latin typeface="Monaco" pitchFamily="2" charset="0"/>
              </a:rPr>
              <a:t> v </a:t>
            </a:r>
            <a:r>
              <a:rPr lang="es-CL" dirty="0">
                <a:solidFill>
                  <a:srgbClr val="FD4485"/>
                </a:solidFill>
                <a:latin typeface="Monaco" pitchFamily="2" charset="0"/>
              </a:rPr>
              <a:t>&gt;</a:t>
            </a:r>
            <a:r>
              <a:rPr lang="es-CL" dirty="0">
                <a:solidFill>
                  <a:srgbClr val="F9F9F5"/>
                </a:solidFill>
                <a:latin typeface="Monaco" pitchFamily="2" charset="0"/>
              </a:rPr>
              <a:t> v_max:</a:t>
            </a:r>
          </a:p>
          <a:p>
            <a:r>
              <a:rPr lang="es-CL" dirty="0">
                <a:solidFill>
                  <a:srgbClr val="F9F9F5"/>
                </a:solidFill>
                <a:latin typeface="Monaco" pitchFamily="2" charset="0"/>
              </a:rPr>
              <a:t>        v_max </a:t>
            </a:r>
            <a:r>
              <a:rPr lang="es-CL" dirty="0">
                <a:solidFill>
                  <a:srgbClr val="FD4485"/>
                </a:solidFill>
                <a:latin typeface="Monaco" pitchFamily="2" charset="0"/>
              </a:rPr>
              <a:t>=</a:t>
            </a:r>
            <a:r>
              <a:rPr lang="es-CL" dirty="0">
                <a:solidFill>
                  <a:srgbClr val="F9F9F5"/>
                </a:solidFill>
                <a:latin typeface="Monaco" pitchFamily="2" charset="0"/>
              </a:rPr>
              <a:t> v</a:t>
            </a:r>
          </a:p>
          <a:p>
            <a:r>
              <a:rPr lang="es-CL" dirty="0">
                <a:solidFill>
                  <a:srgbClr val="F9F9F5"/>
                </a:solidFill>
                <a:latin typeface="Monaco" pitchFamily="2" charset="0"/>
              </a:rPr>
              <a:t>    n </a:t>
            </a:r>
            <a:r>
              <a:rPr lang="es-CL" dirty="0">
                <a:solidFill>
                  <a:srgbClr val="FD4485"/>
                </a:solidFill>
                <a:latin typeface="Monaco" pitchFamily="2" charset="0"/>
              </a:rPr>
              <a:t>-=</a:t>
            </a:r>
            <a:r>
              <a:rPr lang="es-CL" dirty="0">
                <a:solidFill>
                  <a:srgbClr val="F9F9F5"/>
                </a:solidFill>
                <a:latin typeface="Monaco" pitchFamily="2" charset="0"/>
              </a:rPr>
              <a:t> </a:t>
            </a:r>
            <a:r>
              <a:rPr lang="es-CL" dirty="0">
                <a:solidFill>
                  <a:srgbClr val="BD99FF"/>
                </a:solidFill>
                <a:latin typeface="Monaco" pitchFamily="2" charset="0"/>
              </a:rPr>
              <a:t>1</a:t>
            </a:r>
            <a:endParaRPr lang="es-CL" dirty="0">
              <a:solidFill>
                <a:srgbClr val="F9F9F5"/>
              </a:solidFill>
              <a:latin typeface="Monaco" pitchFamily="2" charset="0"/>
            </a:endParaRPr>
          </a:p>
          <a:p>
            <a:endParaRPr lang="es-CL" sz="2000" dirty="0">
              <a:solidFill>
                <a:srgbClr val="F9F9F5"/>
              </a:solidFill>
              <a:latin typeface="Monaco" pitchFamily="2" charset="0"/>
            </a:endParaRPr>
          </a:p>
          <a:p>
            <a:r>
              <a:rPr lang="es-CL" dirty="0">
                <a:solidFill>
                  <a:srgbClr val="75E0F2"/>
                </a:solidFill>
                <a:latin typeface="Monaco" pitchFamily="2" charset="0"/>
              </a:rPr>
              <a:t>print</a:t>
            </a:r>
            <a:r>
              <a:rPr lang="es-CL" dirty="0">
                <a:solidFill>
                  <a:srgbClr val="F9F9F5"/>
                </a:solidFill>
                <a:latin typeface="Monaco" pitchFamily="2" charset="0"/>
              </a:rPr>
              <a:t>(</a:t>
            </a:r>
            <a:r>
              <a:rPr lang="es-CL" dirty="0">
                <a:solidFill>
                  <a:srgbClr val="EBE087"/>
                </a:solidFill>
                <a:latin typeface="Monaco" pitchFamily="2" charset="0"/>
              </a:rPr>
              <a:t>"Tiempo:"</a:t>
            </a:r>
            <a:r>
              <a:rPr lang="es-CL" dirty="0">
                <a:solidFill>
                  <a:srgbClr val="F9F9F5"/>
                </a:solidFill>
                <a:latin typeface="Monaco" pitchFamily="2" charset="0"/>
              </a:rPr>
              <a:t>, t_total, </a:t>
            </a:r>
            <a:r>
              <a:rPr lang="es-CL" dirty="0">
                <a:solidFill>
                  <a:srgbClr val="EBE087"/>
                </a:solidFill>
                <a:latin typeface="Monaco" pitchFamily="2" charset="0"/>
              </a:rPr>
              <a:t>"[s]"</a:t>
            </a:r>
            <a:r>
              <a:rPr lang="es-CL" dirty="0">
                <a:solidFill>
                  <a:srgbClr val="F9F9F5"/>
                </a:solidFill>
                <a:latin typeface="Monaco" pitchFamily="2" charset="0"/>
              </a:rPr>
              <a:t>)</a:t>
            </a:r>
            <a:endParaRPr lang="es-CL" dirty="0">
              <a:solidFill>
                <a:srgbClr val="EBE087"/>
              </a:solidFill>
              <a:latin typeface="Monaco" pitchFamily="2" charset="0"/>
            </a:endParaRPr>
          </a:p>
          <a:p>
            <a:r>
              <a:rPr lang="es-CL" dirty="0">
                <a:solidFill>
                  <a:srgbClr val="75E0F2"/>
                </a:solidFill>
                <a:latin typeface="Monaco" pitchFamily="2" charset="0"/>
              </a:rPr>
              <a:t>print</a:t>
            </a:r>
            <a:r>
              <a:rPr lang="es-CL" dirty="0">
                <a:solidFill>
                  <a:srgbClr val="F9F9F5"/>
                </a:solidFill>
                <a:latin typeface="Monaco" pitchFamily="2" charset="0"/>
              </a:rPr>
              <a:t>(</a:t>
            </a:r>
            <a:r>
              <a:rPr lang="es-CL" dirty="0">
                <a:solidFill>
                  <a:srgbClr val="EBE087"/>
                </a:solidFill>
                <a:latin typeface="Monaco" pitchFamily="2" charset="0"/>
              </a:rPr>
              <a:t>"V max:"</a:t>
            </a:r>
            <a:r>
              <a:rPr lang="es-CL" dirty="0">
                <a:solidFill>
                  <a:srgbClr val="F9F9F5"/>
                </a:solidFill>
                <a:latin typeface="Monaco" pitchFamily="2" charset="0"/>
              </a:rPr>
              <a:t>, v_max, </a:t>
            </a:r>
            <a:r>
              <a:rPr lang="es-CL" dirty="0">
                <a:solidFill>
                  <a:srgbClr val="EBE087"/>
                </a:solidFill>
                <a:latin typeface="Monaco" pitchFamily="2" charset="0"/>
              </a:rPr>
              <a:t>"[m/s]"</a:t>
            </a:r>
            <a:r>
              <a:rPr lang="es-CL" dirty="0">
                <a:solidFill>
                  <a:srgbClr val="F9F9F5"/>
                </a:solidFill>
                <a:latin typeface="Monaco" pitchFamily="2" charset="0"/>
              </a:rPr>
              <a:t>)</a:t>
            </a:r>
            <a:endParaRPr lang="es-CL" dirty="0">
              <a:solidFill>
                <a:srgbClr val="EBE087"/>
              </a:solidFill>
              <a:latin typeface="Monaco" pitchFamily="2" charset="0"/>
            </a:endParaRPr>
          </a:p>
          <a:p>
            <a:r>
              <a:rPr lang="es-CL" dirty="0">
                <a:solidFill>
                  <a:srgbClr val="75E0F2"/>
                </a:solidFill>
                <a:latin typeface="Monaco" pitchFamily="2" charset="0"/>
              </a:rPr>
              <a:t>print</a:t>
            </a:r>
            <a:r>
              <a:rPr lang="es-CL" dirty="0">
                <a:solidFill>
                  <a:srgbClr val="F9F9F5"/>
                </a:solidFill>
                <a:latin typeface="Monaco" pitchFamily="2" charset="0"/>
              </a:rPr>
              <a:t>(</a:t>
            </a:r>
            <a:r>
              <a:rPr lang="es-CL" dirty="0">
                <a:solidFill>
                  <a:srgbClr val="EBE087"/>
                </a:solidFill>
                <a:latin typeface="Monaco" pitchFamily="2" charset="0"/>
              </a:rPr>
              <a:t>"V min:"</a:t>
            </a:r>
            <a:r>
              <a:rPr lang="es-CL" dirty="0">
                <a:solidFill>
                  <a:srgbClr val="F9F9F5"/>
                </a:solidFill>
                <a:latin typeface="Monaco" pitchFamily="2" charset="0"/>
              </a:rPr>
              <a:t>, v_min, </a:t>
            </a:r>
            <a:r>
              <a:rPr lang="es-CL" dirty="0">
                <a:solidFill>
                  <a:srgbClr val="EBE087"/>
                </a:solidFill>
                <a:latin typeface="Monaco" pitchFamily="2" charset="0"/>
              </a:rPr>
              <a:t>"[m/s]"</a:t>
            </a:r>
            <a:r>
              <a:rPr lang="es-CL" dirty="0">
                <a:solidFill>
                  <a:srgbClr val="F9F9F5"/>
                </a:solidFill>
                <a:latin typeface="Monaco" pitchFamily="2" charset="0"/>
              </a:rPr>
              <a:t>)</a:t>
            </a:r>
            <a:endParaRPr lang="es-CL" dirty="0">
              <a:solidFill>
                <a:srgbClr val="EBE087"/>
              </a:solidFill>
              <a:effectLst/>
              <a:latin typeface="Monaco" pitchFamily="2" charset="0"/>
            </a:endParaRPr>
          </a:p>
        </p:txBody>
      </p:sp>
      <p:sp>
        <p:nvSpPr>
          <p:cNvPr id="6" name="CuadroTexto 5">
            <a:extLst>
              <a:ext uri="{FF2B5EF4-FFF2-40B4-BE49-F238E27FC236}">
                <a16:creationId xmlns:a16="http://schemas.microsoft.com/office/drawing/2014/main" id="{D3BD077E-7005-7645-8279-8B647ECCBB47}"/>
              </a:ext>
            </a:extLst>
          </p:cNvPr>
          <p:cNvSpPr txBox="1"/>
          <p:nvPr/>
        </p:nvSpPr>
        <p:spPr>
          <a:xfrm>
            <a:off x="6378285" y="277325"/>
            <a:ext cx="5420591" cy="1569660"/>
          </a:xfrm>
          <a:prstGeom prst="rect">
            <a:avLst/>
          </a:prstGeom>
          <a:noFill/>
        </p:spPr>
        <p:txBody>
          <a:bodyPr wrap="square" rtlCol="0">
            <a:spAutoFit/>
          </a:bodyPr>
          <a:lstStyle/>
          <a:p>
            <a:r>
              <a:rPr lang="es-CL" sz="2400" dirty="0">
                <a:solidFill>
                  <a:schemeClr val="bg1"/>
                </a:solidFill>
              </a:rPr>
              <a:t>Para calcular el máximo y el mínimo (¡sin usar max() y min()!) se usa if-elif </a:t>
            </a:r>
          </a:p>
          <a:p>
            <a:endParaRPr lang="es-CL" sz="2400" dirty="0">
              <a:solidFill>
                <a:schemeClr val="bg1"/>
              </a:solidFill>
            </a:endParaRPr>
          </a:p>
          <a:p>
            <a:endParaRPr lang="es-CL" sz="2400" dirty="0">
              <a:solidFill>
                <a:schemeClr val="bg1"/>
              </a:solidFill>
            </a:endParaRPr>
          </a:p>
        </p:txBody>
      </p:sp>
    </p:spTree>
    <p:extLst>
      <p:ext uri="{BB962C8B-B14F-4D97-AF65-F5344CB8AC3E}">
        <p14:creationId xmlns:p14="http://schemas.microsoft.com/office/powerpoint/2010/main" val="6823074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BD6BAB-35E7-AA4C-A528-78B528879CC0}"/>
              </a:ext>
            </a:extLst>
          </p:cNvPr>
          <p:cNvSpPr>
            <a:spLocks noGrp="1"/>
          </p:cNvSpPr>
          <p:nvPr>
            <p:ph type="title"/>
          </p:nvPr>
        </p:nvSpPr>
        <p:spPr/>
        <p:txBody>
          <a:bodyPr/>
          <a:lstStyle/>
          <a:p>
            <a:r>
              <a:rPr lang="es-CL" dirty="0">
                <a:solidFill>
                  <a:srgbClr val="66D9EF"/>
                </a:solidFill>
              </a:rPr>
              <a:t>Ejercicio 4: !</a:t>
            </a:r>
            <a:endParaRPr lang="es-CL" dirty="0"/>
          </a:p>
        </p:txBody>
      </p:sp>
      <p:sp>
        <p:nvSpPr>
          <p:cNvPr id="3" name="Marcador de contenido 2">
            <a:extLst>
              <a:ext uri="{FF2B5EF4-FFF2-40B4-BE49-F238E27FC236}">
                <a16:creationId xmlns:a16="http://schemas.microsoft.com/office/drawing/2014/main" id="{64BC01AF-FDF7-084D-9E72-D9382533632E}"/>
              </a:ext>
            </a:extLst>
          </p:cNvPr>
          <p:cNvSpPr>
            <a:spLocks noGrp="1"/>
          </p:cNvSpPr>
          <p:nvPr>
            <p:ph idx="1"/>
          </p:nvPr>
        </p:nvSpPr>
        <p:spPr>
          <a:xfrm>
            <a:off x="885582" y="1680320"/>
            <a:ext cx="6100570" cy="4977383"/>
          </a:xfrm>
        </p:spPr>
        <p:txBody>
          <a:bodyPr>
            <a:normAutofit fontScale="92500" lnSpcReduction="20000"/>
          </a:bodyPr>
          <a:lstStyle/>
          <a:p>
            <a:r>
              <a:rPr lang="es-CL" sz="3200" dirty="0">
                <a:solidFill>
                  <a:schemeClr val="bg1"/>
                </a:solidFill>
              </a:rPr>
              <a:t>Recibir un número N, ingresado por el usuario, que indica cuantos factoriales este quiere calcular. Uno a uno, recibir los N enteros (en rango de 0 a 10), e imprimir sus factoriales.</a:t>
            </a:r>
          </a:p>
          <a:p>
            <a:r>
              <a:rPr lang="es-CL" sz="3200" dirty="0">
                <a:solidFill>
                  <a:schemeClr val="bg1"/>
                </a:solidFill>
              </a:rPr>
              <a:t>Utilice solo ciclo while (o varios).</a:t>
            </a:r>
          </a:p>
          <a:p>
            <a:pPr algn="ctr"/>
            <a:r>
              <a:rPr lang="es-CL" sz="3000" dirty="0">
                <a:solidFill>
                  <a:schemeClr val="bg1"/>
                </a:solidFill>
              </a:rPr>
              <a:t>Recordatorio:</a:t>
            </a:r>
          </a:p>
          <a:p>
            <a:pPr algn="ctr"/>
            <a:r>
              <a:rPr lang="es-CL" sz="3000" dirty="0">
                <a:solidFill>
                  <a:schemeClr val="bg1"/>
                </a:solidFill>
              </a:rPr>
              <a:t>0! = 1</a:t>
            </a:r>
          </a:p>
          <a:p>
            <a:pPr algn="ctr"/>
            <a:r>
              <a:rPr lang="es-CL" sz="3000" dirty="0">
                <a:solidFill>
                  <a:schemeClr val="bg1"/>
                </a:solidFill>
              </a:rPr>
              <a:t>1! = 1</a:t>
            </a:r>
          </a:p>
          <a:p>
            <a:pPr algn="ctr"/>
            <a:r>
              <a:rPr lang="es-CL" sz="3000" dirty="0">
                <a:solidFill>
                  <a:schemeClr val="bg1"/>
                </a:solidFill>
              </a:rPr>
              <a:t>2! = 1 * 2 = 2</a:t>
            </a:r>
          </a:p>
          <a:p>
            <a:pPr algn="ctr"/>
            <a:r>
              <a:rPr lang="es-CL" sz="3000" dirty="0">
                <a:solidFill>
                  <a:schemeClr val="bg1"/>
                </a:solidFill>
              </a:rPr>
              <a:t>3! = 1 * 2 * 3 = 6</a:t>
            </a:r>
          </a:p>
          <a:p>
            <a:endParaRPr lang="es-CL" sz="3200" dirty="0">
              <a:solidFill>
                <a:schemeClr val="bg1"/>
              </a:solidFill>
            </a:endParaRPr>
          </a:p>
        </p:txBody>
      </p:sp>
      <p:sp>
        <p:nvSpPr>
          <p:cNvPr id="4" name="CuadroTexto 3">
            <a:extLst>
              <a:ext uri="{FF2B5EF4-FFF2-40B4-BE49-F238E27FC236}">
                <a16:creationId xmlns:a16="http://schemas.microsoft.com/office/drawing/2014/main" id="{DCBE7C3D-B4CB-574B-9CE2-DA01987EAE66}"/>
              </a:ext>
            </a:extLst>
          </p:cNvPr>
          <p:cNvSpPr txBox="1"/>
          <p:nvPr/>
        </p:nvSpPr>
        <p:spPr>
          <a:xfrm>
            <a:off x="7845136" y="4364183"/>
            <a:ext cx="1149928" cy="1938992"/>
          </a:xfrm>
          <a:prstGeom prst="rect">
            <a:avLst/>
          </a:prstGeom>
          <a:noFill/>
        </p:spPr>
        <p:txBody>
          <a:bodyPr wrap="square" rtlCol="0">
            <a:spAutoFit/>
          </a:bodyPr>
          <a:lstStyle/>
          <a:p>
            <a:r>
              <a:rPr lang="es-CL" sz="2400" dirty="0">
                <a:solidFill>
                  <a:schemeClr val="bg1"/>
                </a:solidFill>
              </a:rPr>
              <a:t>Input:</a:t>
            </a:r>
          </a:p>
          <a:p>
            <a:r>
              <a:rPr lang="es-CL" sz="2400" dirty="0">
                <a:solidFill>
                  <a:schemeClr val="bg1"/>
                </a:solidFill>
              </a:rPr>
              <a:t>2</a:t>
            </a:r>
          </a:p>
          <a:p>
            <a:r>
              <a:rPr lang="es-CL" sz="2400" dirty="0">
                <a:solidFill>
                  <a:schemeClr val="bg1"/>
                </a:solidFill>
              </a:rPr>
              <a:t>3</a:t>
            </a:r>
          </a:p>
          <a:p>
            <a:r>
              <a:rPr lang="es-CL" sz="2400" dirty="0">
                <a:solidFill>
                  <a:schemeClr val="bg1"/>
                </a:solidFill>
              </a:rPr>
              <a:t>4</a:t>
            </a:r>
          </a:p>
          <a:p>
            <a:endParaRPr lang="es-CL" sz="2400" dirty="0">
              <a:solidFill>
                <a:schemeClr val="bg1"/>
              </a:solidFill>
            </a:endParaRPr>
          </a:p>
        </p:txBody>
      </p:sp>
      <p:sp>
        <p:nvSpPr>
          <p:cNvPr id="5" name="CuadroTexto 4">
            <a:extLst>
              <a:ext uri="{FF2B5EF4-FFF2-40B4-BE49-F238E27FC236}">
                <a16:creationId xmlns:a16="http://schemas.microsoft.com/office/drawing/2014/main" id="{992DA7A4-6329-C94D-AEE0-E25770C0FA06}"/>
              </a:ext>
            </a:extLst>
          </p:cNvPr>
          <p:cNvSpPr txBox="1"/>
          <p:nvPr/>
        </p:nvSpPr>
        <p:spPr>
          <a:xfrm>
            <a:off x="9854048" y="4364183"/>
            <a:ext cx="1149928" cy="1569660"/>
          </a:xfrm>
          <a:prstGeom prst="rect">
            <a:avLst/>
          </a:prstGeom>
          <a:noFill/>
        </p:spPr>
        <p:txBody>
          <a:bodyPr wrap="square" rtlCol="0">
            <a:spAutoFit/>
          </a:bodyPr>
          <a:lstStyle/>
          <a:p>
            <a:r>
              <a:rPr lang="es-CL" sz="2400" dirty="0">
                <a:solidFill>
                  <a:schemeClr val="bg1"/>
                </a:solidFill>
              </a:rPr>
              <a:t>Output:</a:t>
            </a:r>
          </a:p>
          <a:p>
            <a:endParaRPr lang="es-CL" sz="2400" dirty="0">
              <a:solidFill>
                <a:schemeClr val="bg1"/>
              </a:solidFill>
            </a:endParaRPr>
          </a:p>
          <a:p>
            <a:r>
              <a:rPr lang="es-CL" sz="2400" dirty="0">
                <a:solidFill>
                  <a:schemeClr val="bg1"/>
                </a:solidFill>
              </a:rPr>
              <a:t>6</a:t>
            </a:r>
          </a:p>
          <a:p>
            <a:r>
              <a:rPr lang="es-CL" sz="2400" dirty="0">
                <a:solidFill>
                  <a:schemeClr val="bg1"/>
                </a:solidFill>
              </a:rPr>
              <a:t>24</a:t>
            </a:r>
          </a:p>
        </p:txBody>
      </p:sp>
      <p:pic>
        <p:nvPicPr>
          <p:cNvPr id="6" name="Imagen 5">
            <a:extLst>
              <a:ext uri="{FF2B5EF4-FFF2-40B4-BE49-F238E27FC236}">
                <a16:creationId xmlns:a16="http://schemas.microsoft.com/office/drawing/2014/main" id="{34240AAC-FB2E-474A-A912-50709D48DD86}"/>
              </a:ext>
            </a:extLst>
          </p:cNvPr>
          <p:cNvPicPr>
            <a:picLocks noChangeAspect="1"/>
          </p:cNvPicPr>
          <p:nvPr/>
        </p:nvPicPr>
        <p:blipFill rotWithShape="1">
          <a:blip r:embed="rId2"/>
          <a:srcRect b="4561"/>
          <a:stretch/>
        </p:blipFill>
        <p:spPr>
          <a:xfrm>
            <a:off x="7596385" y="918931"/>
            <a:ext cx="3497646" cy="2510069"/>
          </a:xfrm>
          <a:prstGeom prst="rect">
            <a:avLst/>
          </a:prstGeom>
        </p:spPr>
      </p:pic>
    </p:spTree>
    <p:extLst>
      <p:ext uri="{BB962C8B-B14F-4D97-AF65-F5344CB8AC3E}">
        <p14:creationId xmlns:p14="http://schemas.microsoft.com/office/powerpoint/2010/main" val="1240194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3536B1-CAB4-4949-9FE7-940E6460356F}"/>
              </a:ext>
            </a:extLst>
          </p:cNvPr>
          <p:cNvSpPr>
            <a:spLocks noGrp="1"/>
          </p:cNvSpPr>
          <p:nvPr>
            <p:ph type="title"/>
          </p:nvPr>
        </p:nvSpPr>
        <p:spPr/>
        <p:txBody>
          <a:bodyPr/>
          <a:lstStyle/>
          <a:p>
            <a:r>
              <a:rPr lang="es-CL" dirty="0">
                <a:solidFill>
                  <a:srgbClr val="66D9EF"/>
                </a:solidFill>
              </a:rPr>
              <a:t>Ejercicio 4: Solución</a:t>
            </a:r>
            <a:endParaRPr lang="es-CL" dirty="0"/>
          </a:p>
        </p:txBody>
      </p:sp>
      <p:sp>
        <p:nvSpPr>
          <p:cNvPr id="4" name="Rectángulo 3">
            <a:extLst>
              <a:ext uri="{FF2B5EF4-FFF2-40B4-BE49-F238E27FC236}">
                <a16:creationId xmlns:a16="http://schemas.microsoft.com/office/drawing/2014/main" id="{D51C5FCC-FDD4-FB49-AFB9-CD22396D5379}"/>
              </a:ext>
            </a:extLst>
          </p:cNvPr>
          <p:cNvSpPr/>
          <p:nvPr/>
        </p:nvSpPr>
        <p:spPr>
          <a:xfrm>
            <a:off x="1191491" y="1832044"/>
            <a:ext cx="10565199" cy="4247317"/>
          </a:xfrm>
          <a:prstGeom prst="rect">
            <a:avLst/>
          </a:prstGeom>
        </p:spPr>
        <p:txBody>
          <a:bodyPr wrap="square">
            <a:spAutoFit/>
          </a:bodyPr>
          <a:lstStyle/>
          <a:p>
            <a:r>
              <a:rPr lang="es-CL" dirty="0">
                <a:solidFill>
                  <a:srgbClr val="F9F9F5"/>
                </a:solidFill>
                <a:latin typeface="Monaco" pitchFamily="2" charset="0"/>
              </a:rPr>
              <a:t>factorial </a:t>
            </a:r>
            <a:r>
              <a:rPr lang="es-CL" dirty="0">
                <a:solidFill>
                  <a:srgbClr val="FD4485"/>
                </a:solidFill>
                <a:latin typeface="Monaco" pitchFamily="2" charset="0"/>
              </a:rPr>
              <a:t>=</a:t>
            </a:r>
            <a:r>
              <a:rPr lang="es-CL" dirty="0">
                <a:solidFill>
                  <a:srgbClr val="F9F9F5"/>
                </a:solidFill>
                <a:latin typeface="Monaco" pitchFamily="2" charset="0"/>
              </a:rPr>
              <a:t> </a:t>
            </a:r>
            <a:r>
              <a:rPr lang="es-CL" dirty="0">
                <a:solidFill>
                  <a:srgbClr val="BD99FF"/>
                </a:solidFill>
                <a:latin typeface="Monaco" pitchFamily="2" charset="0"/>
              </a:rPr>
              <a:t>1</a:t>
            </a:r>
            <a:endParaRPr lang="es-CL" dirty="0">
              <a:solidFill>
                <a:srgbClr val="F9F9F5"/>
              </a:solidFill>
              <a:latin typeface="Monaco" pitchFamily="2" charset="0"/>
            </a:endParaRPr>
          </a:p>
          <a:p>
            <a:r>
              <a:rPr lang="es-CL" dirty="0">
                <a:solidFill>
                  <a:srgbClr val="F9F9F5"/>
                </a:solidFill>
                <a:latin typeface="Monaco" pitchFamily="2" charset="0"/>
              </a:rPr>
              <a:t>n </a:t>
            </a:r>
            <a:r>
              <a:rPr lang="es-CL" dirty="0">
                <a:solidFill>
                  <a:srgbClr val="FD4485"/>
                </a:solidFill>
                <a:latin typeface="Monaco" pitchFamily="2" charset="0"/>
              </a:rPr>
              <a:t>=</a:t>
            </a:r>
            <a:r>
              <a:rPr lang="es-CL" dirty="0">
                <a:solidFill>
                  <a:srgbClr val="F9F9F5"/>
                </a:solidFill>
                <a:latin typeface="Monaco" pitchFamily="2" charset="0"/>
              </a:rPr>
              <a:t> int(input(</a:t>
            </a:r>
            <a:r>
              <a:rPr lang="es-CL" dirty="0">
                <a:solidFill>
                  <a:srgbClr val="EBE087"/>
                </a:solidFill>
                <a:latin typeface="Monaco" pitchFamily="2" charset="0"/>
              </a:rPr>
              <a:t>"Cuantos factoriales quiere calcular? "</a:t>
            </a:r>
            <a:r>
              <a:rPr lang="es-CL" dirty="0">
                <a:solidFill>
                  <a:srgbClr val="F9F9F5"/>
                </a:solidFill>
                <a:latin typeface="Monaco" pitchFamily="2" charset="0"/>
              </a:rPr>
              <a:t>))</a:t>
            </a:r>
            <a:endParaRPr lang="es-CL" dirty="0">
              <a:solidFill>
                <a:srgbClr val="EBE087"/>
              </a:solidFill>
              <a:latin typeface="Monaco" pitchFamily="2" charset="0"/>
            </a:endParaRPr>
          </a:p>
          <a:p>
            <a:r>
              <a:rPr lang="es-CL" dirty="0">
                <a:solidFill>
                  <a:srgbClr val="75E0F2"/>
                </a:solidFill>
                <a:latin typeface="Monaco" pitchFamily="2" charset="0"/>
              </a:rPr>
              <a:t>while</a:t>
            </a:r>
            <a:r>
              <a:rPr lang="es-CL" dirty="0">
                <a:solidFill>
                  <a:srgbClr val="F9F9F5"/>
                </a:solidFill>
                <a:latin typeface="Monaco" pitchFamily="2" charset="0"/>
              </a:rPr>
              <a:t> n:</a:t>
            </a:r>
            <a:endParaRPr lang="es-CL" dirty="0">
              <a:solidFill>
                <a:srgbClr val="75E0F2"/>
              </a:solidFill>
              <a:latin typeface="Monaco" pitchFamily="2" charset="0"/>
            </a:endParaRPr>
          </a:p>
          <a:p>
            <a:r>
              <a:rPr lang="es-CL" dirty="0">
                <a:solidFill>
                  <a:srgbClr val="F9F9F5"/>
                </a:solidFill>
                <a:latin typeface="Monaco" pitchFamily="2" charset="0"/>
              </a:rPr>
              <a:t>    num </a:t>
            </a:r>
            <a:r>
              <a:rPr lang="es-CL" dirty="0">
                <a:solidFill>
                  <a:srgbClr val="FD4485"/>
                </a:solidFill>
                <a:latin typeface="Monaco" pitchFamily="2" charset="0"/>
              </a:rPr>
              <a:t>=</a:t>
            </a:r>
            <a:r>
              <a:rPr lang="es-CL" dirty="0">
                <a:solidFill>
                  <a:srgbClr val="F9F9F5"/>
                </a:solidFill>
                <a:latin typeface="Monaco" pitchFamily="2" charset="0"/>
              </a:rPr>
              <a:t> int(input(</a:t>
            </a:r>
            <a:r>
              <a:rPr lang="es-CL" dirty="0">
                <a:solidFill>
                  <a:srgbClr val="EBE087"/>
                </a:solidFill>
                <a:latin typeface="Monaco" pitchFamily="2" charset="0"/>
              </a:rPr>
              <a:t>"Ingrese el numero para calcular su factorial: "</a:t>
            </a:r>
            <a:r>
              <a:rPr lang="es-CL" dirty="0">
                <a:solidFill>
                  <a:srgbClr val="F9F9F5"/>
                </a:solidFill>
                <a:latin typeface="Monaco" pitchFamily="2" charset="0"/>
              </a:rPr>
              <a:t>))</a:t>
            </a:r>
            <a:endParaRPr lang="es-CL" dirty="0">
              <a:solidFill>
                <a:srgbClr val="EBE087"/>
              </a:solidFill>
              <a:latin typeface="Monaco" pitchFamily="2" charset="0"/>
            </a:endParaRPr>
          </a:p>
          <a:p>
            <a:r>
              <a:rPr lang="es-CL" dirty="0">
                <a:solidFill>
                  <a:srgbClr val="F9F9F5"/>
                </a:solidFill>
                <a:latin typeface="Monaco" pitchFamily="2" charset="0"/>
              </a:rPr>
              <a:t>    </a:t>
            </a:r>
            <a:r>
              <a:rPr lang="es-CL" dirty="0">
                <a:solidFill>
                  <a:srgbClr val="75E0F2"/>
                </a:solidFill>
                <a:latin typeface="Monaco" pitchFamily="2" charset="0"/>
              </a:rPr>
              <a:t>if</a:t>
            </a:r>
            <a:r>
              <a:rPr lang="es-CL" dirty="0">
                <a:solidFill>
                  <a:srgbClr val="F9F9F5"/>
                </a:solidFill>
                <a:latin typeface="Monaco" pitchFamily="2" charset="0"/>
              </a:rPr>
              <a:t> num </a:t>
            </a:r>
            <a:r>
              <a:rPr lang="es-CL" dirty="0">
                <a:solidFill>
                  <a:srgbClr val="FD4485"/>
                </a:solidFill>
                <a:latin typeface="Monaco" pitchFamily="2" charset="0"/>
              </a:rPr>
              <a:t>&lt;</a:t>
            </a:r>
            <a:r>
              <a:rPr lang="es-CL" dirty="0">
                <a:solidFill>
                  <a:srgbClr val="F9F9F5"/>
                </a:solidFill>
                <a:latin typeface="Monaco" pitchFamily="2" charset="0"/>
              </a:rPr>
              <a:t> </a:t>
            </a:r>
            <a:r>
              <a:rPr lang="es-CL" dirty="0">
                <a:solidFill>
                  <a:srgbClr val="BD99FF"/>
                </a:solidFill>
                <a:latin typeface="Monaco" pitchFamily="2" charset="0"/>
              </a:rPr>
              <a:t>0</a:t>
            </a:r>
            <a:r>
              <a:rPr lang="es-CL" dirty="0">
                <a:solidFill>
                  <a:srgbClr val="F9F9F5"/>
                </a:solidFill>
                <a:latin typeface="Monaco" pitchFamily="2" charset="0"/>
              </a:rPr>
              <a:t>:</a:t>
            </a:r>
          </a:p>
          <a:p>
            <a:r>
              <a:rPr lang="es-CL" dirty="0">
                <a:solidFill>
                  <a:srgbClr val="F9F9F5"/>
                </a:solidFill>
                <a:latin typeface="Monaco" pitchFamily="2" charset="0"/>
              </a:rPr>
              <a:t>        </a:t>
            </a:r>
            <a:r>
              <a:rPr lang="es-CL" dirty="0">
                <a:solidFill>
                  <a:srgbClr val="75E0F2"/>
                </a:solidFill>
                <a:latin typeface="Monaco" pitchFamily="2" charset="0"/>
              </a:rPr>
              <a:t>print</a:t>
            </a:r>
            <a:r>
              <a:rPr lang="es-CL" dirty="0">
                <a:solidFill>
                  <a:srgbClr val="F9F9F5"/>
                </a:solidFill>
                <a:latin typeface="Monaco" pitchFamily="2" charset="0"/>
              </a:rPr>
              <a:t>(</a:t>
            </a:r>
            <a:r>
              <a:rPr lang="es-CL" dirty="0">
                <a:solidFill>
                  <a:srgbClr val="EBE087"/>
                </a:solidFill>
                <a:latin typeface="Monaco" pitchFamily="2" charset="0"/>
              </a:rPr>
              <a:t>"Factorial no esta definido para los negativos."</a:t>
            </a:r>
            <a:r>
              <a:rPr lang="es-CL" dirty="0">
                <a:solidFill>
                  <a:srgbClr val="F9F9F5"/>
                </a:solidFill>
                <a:latin typeface="Monaco" pitchFamily="2" charset="0"/>
              </a:rPr>
              <a:t>)</a:t>
            </a:r>
            <a:endParaRPr lang="es-CL" dirty="0">
              <a:solidFill>
                <a:srgbClr val="EBE087"/>
              </a:solidFill>
              <a:latin typeface="Monaco" pitchFamily="2" charset="0"/>
            </a:endParaRPr>
          </a:p>
          <a:p>
            <a:r>
              <a:rPr lang="es-CL" dirty="0">
                <a:solidFill>
                  <a:srgbClr val="F9F9F5"/>
                </a:solidFill>
                <a:latin typeface="Monaco" pitchFamily="2" charset="0"/>
              </a:rPr>
              <a:t>    </a:t>
            </a:r>
            <a:r>
              <a:rPr lang="es-CL" dirty="0">
                <a:solidFill>
                  <a:srgbClr val="75E0F2"/>
                </a:solidFill>
                <a:latin typeface="Monaco" pitchFamily="2" charset="0"/>
              </a:rPr>
              <a:t>elif</a:t>
            </a:r>
            <a:r>
              <a:rPr lang="es-CL" dirty="0">
                <a:solidFill>
                  <a:srgbClr val="F9F9F5"/>
                </a:solidFill>
                <a:latin typeface="Monaco" pitchFamily="2" charset="0"/>
              </a:rPr>
              <a:t> num </a:t>
            </a:r>
            <a:r>
              <a:rPr lang="es-CL" dirty="0">
                <a:solidFill>
                  <a:srgbClr val="FD4485"/>
                </a:solidFill>
                <a:latin typeface="Monaco" pitchFamily="2" charset="0"/>
              </a:rPr>
              <a:t>==</a:t>
            </a:r>
            <a:r>
              <a:rPr lang="es-CL" dirty="0">
                <a:solidFill>
                  <a:srgbClr val="F9F9F5"/>
                </a:solidFill>
                <a:latin typeface="Monaco" pitchFamily="2" charset="0"/>
              </a:rPr>
              <a:t> </a:t>
            </a:r>
            <a:r>
              <a:rPr lang="es-CL" dirty="0">
                <a:solidFill>
                  <a:srgbClr val="BD99FF"/>
                </a:solidFill>
                <a:latin typeface="Monaco" pitchFamily="2" charset="0"/>
              </a:rPr>
              <a:t>0</a:t>
            </a:r>
            <a:r>
              <a:rPr lang="es-CL" dirty="0">
                <a:solidFill>
                  <a:srgbClr val="F9F9F5"/>
                </a:solidFill>
                <a:latin typeface="Monaco" pitchFamily="2" charset="0"/>
              </a:rPr>
              <a:t> :</a:t>
            </a:r>
          </a:p>
          <a:p>
            <a:r>
              <a:rPr lang="es-CL" dirty="0">
                <a:solidFill>
                  <a:srgbClr val="F9F9F5"/>
                </a:solidFill>
                <a:latin typeface="Monaco" pitchFamily="2" charset="0"/>
              </a:rPr>
              <a:t>        </a:t>
            </a:r>
            <a:r>
              <a:rPr lang="es-CL" dirty="0">
                <a:solidFill>
                  <a:srgbClr val="75E0F2"/>
                </a:solidFill>
                <a:latin typeface="Monaco" pitchFamily="2" charset="0"/>
              </a:rPr>
              <a:t>print</a:t>
            </a:r>
            <a:r>
              <a:rPr lang="es-CL" dirty="0">
                <a:solidFill>
                  <a:srgbClr val="F9F9F5"/>
                </a:solidFill>
                <a:latin typeface="Monaco" pitchFamily="2" charset="0"/>
              </a:rPr>
              <a:t>(</a:t>
            </a:r>
            <a:r>
              <a:rPr lang="es-CL" dirty="0">
                <a:solidFill>
                  <a:srgbClr val="EBE087"/>
                </a:solidFill>
                <a:latin typeface="Monaco" pitchFamily="2" charset="0"/>
              </a:rPr>
              <a:t>"Su factorial es:"</a:t>
            </a:r>
            <a:r>
              <a:rPr lang="es-CL" dirty="0">
                <a:solidFill>
                  <a:srgbClr val="F9F9F5"/>
                </a:solidFill>
                <a:latin typeface="Monaco" pitchFamily="2" charset="0"/>
              </a:rPr>
              <a:t>, factorial)</a:t>
            </a:r>
          </a:p>
          <a:p>
            <a:r>
              <a:rPr lang="es-CL" dirty="0">
                <a:solidFill>
                  <a:srgbClr val="F9F9F5"/>
                </a:solidFill>
                <a:latin typeface="Monaco" pitchFamily="2" charset="0"/>
              </a:rPr>
              <a:t>    </a:t>
            </a:r>
            <a:r>
              <a:rPr lang="es-CL" dirty="0">
                <a:solidFill>
                  <a:srgbClr val="75E0F2"/>
                </a:solidFill>
                <a:latin typeface="Monaco" pitchFamily="2" charset="0"/>
              </a:rPr>
              <a:t>else</a:t>
            </a:r>
            <a:r>
              <a:rPr lang="es-CL" dirty="0">
                <a:solidFill>
                  <a:srgbClr val="F9F9F5"/>
                </a:solidFill>
                <a:latin typeface="Monaco" pitchFamily="2" charset="0"/>
              </a:rPr>
              <a:t>:</a:t>
            </a:r>
          </a:p>
          <a:p>
            <a:r>
              <a:rPr lang="es-CL" dirty="0">
                <a:solidFill>
                  <a:srgbClr val="F9F9F5"/>
                </a:solidFill>
                <a:latin typeface="Monaco" pitchFamily="2" charset="0"/>
              </a:rPr>
              <a:t>        </a:t>
            </a:r>
            <a:r>
              <a:rPr lang="es-CL" dirty="0">
                <a:solidFill>
                  <a:srgbClr val="75E0F2"/>
                </a:solidFill>
                <a:latin typeface="Monaco" pitchFamily="2" charset="0"/>
              </a:rPr>
              <a:t>while</a:t>
            </a:r>
            <a:r>
              <a:rPr lang="es-CL" dirty="0">
                <a:solidFill>
                  <a:srgbClr val="F9F9F5"/>
                </a:solidFill>
                <a:latin typeface="Monaco" pitchFamily="2" charset="0"/>
              </a:rPr>
              <a:t> num </a:t>
            </a:r>
            <a:r>
              <a:rPr lang="es-CL" dirty="0">
                <a:solidFill>
                  <a:srgbClr val="FD4485"/>
                </a:solidFill>
                <a:latin typeface="Monaco" pitchFamily="2" charset="0"/>
              </a:rPr>
              <a:t>&gt;</a:t>
            </a:r>
            <a:r>
              <a:rPr lang="es-CL" dirty="0">
                <a:solidFill>
                  <a:srgbClr val="F9F9F5"/>
                </a:solidFill>
                <a:latin typeface="Monaco" pitchFamily="2" charset="0"/>
              </a:rPr>
              <a:t> </a:t>
            </a:r>
            <a:r>
              <a:rPr lang="es-CL" dirty="0">
                <a:solidFill>
                  <a:srgbClr val="BD99FF"/>
                </a:solidFill>
                <a:latin typeface="Monaco" pitchFamily="2" charset="0"/>
              </a:rPr>
              <a:t>0</a:t>
            </a:r>
            <a:r>
              <a:rPr lang="es-CL" dirty="0">
                <a:solidFill>
                  <a:srgbClr val="F9F9F5"/>
                </a:solidFill>
                <a:latin typeface="Monaco" pitchFamily="2" charset="0"/>
              </a:rPr>
              <a:t>:</a:t>
            </a:r>
          </a:p>
          <a:p>
            <a:r>
              <a:rPr lang="es-CL" dirty="0">
                <a:solidFill>
                  <a:srgbClr val="F9F9F5"/>
                </a:solidFill>
                <a:latin typeface="Monaco" pitchFamily="2" charset="0"/>
              </a:rPr>
              <a:t>            factorial </a:t>
            </a:r>
            <a:r>
              <a:rPr lang="es-CL" dirty="0">
                <a:solidFill>
                  <a:srgbClr val="FD4485"/>
                </a:solidFill>
                <a:latin typeface="Monaco" pitchFamily="2" charset="0"/>
              </a:rPr>
              <a:t>=</a:t>
            </a:r>
            <a:r>
              <a:rPr lang="es-CL" dirty="0">
                <a:solidFill>
                  <a:srgbClr val="F9F9F5"/>
                </a:solidFill>
                <a:latin typeface="Monaco" pitchFamily="2" charset="0"/>
              </a:rPr>
              <a:t> factorial </a:t>
            </a:r>
            <a:r>
              <a:rPr lang="es-CL" dirty="0">
                <a:solidFill>
                  <a:srgbClr val="FD4485"/>
                </a:solidFill>
                <a:latin typeface="Monaco" pitchFamily="2" charset="0"/>
              </a:rPr>
              <a:t>*</a:t>
            </a:r>
            <a:r>
              <a:rPr lang="es-CL" dirty="0">
                <a:solidFill>
                  <a:srgbClr val="F9F9F5"/>
                </a:solidFill>
                <a:latin typeface="Monaco" pitchFamily="2" charset="0"/>
              </a:rPr>
              <a:t> num</a:t>
            </a:r>
          </a:p>
          <a:p>
            <a:r>
              <a:rPr lang="es-CL" dirty="0">
                <a:solidFill>
                  <a:srgbClr val="F9F9F5"/>
                </a:solidFill>
                <a:latin typeface="Monaco" pitchFamily="2" charset="0"/>
              </a:rPr>
              <a:t>            num </a:t>
            </a:r>
            <a:r>
              <a:rPr lang="es-CL" dirty="0">
                <a:solidFill>
                  <a:srgbClr val="FD4485"/>
                </a:solidFill>
                <a:latin typeface="Monaco" pitchFamily="2" charset="0"/>
              </a:rPr>
              <a:t>=</a:t>
            </a:r>
            <a:r>
              <a:rPr lang="es-CL" dirty="0">
                <a:solidFill>
                  <a:srgbClr val="F9F9F5"/>
                </a:solidFill>
                <a:latin typeface="Monaco" pitchFamily="2" charset="0"/>
              </a:rPr>
              <a:t> num </a:t>
            </a:r>
            <a:r>
              <a:rPr lang="es-CL" dirty="0">
                <a:solidFill>
                  <a:srgbClr val="FD4485"/>
                </a:solidFill>
                <a:latin typeface="Monaco" pitchFamily="2" charset="0"/>
              </a:rPr>
              <a:t>-</a:t>
            </a:r>
            <a:r>
              <a:rPr lang="es-CL" dirty="0">
                <a:solidFill>
                  <a:srgbClr val="F9F9F5"/>
                </a:solidFill>
                <a:latin typeface="Monaco" pitchFamily="2" charset="0"/>
              </a:rPr>
              <a:t> </a:t>
            </a:r>
            <a:r>
              <a:rPr lang="es-CL" dirty="0">
                <a:solidFill>
                  <a:srgbClr val="BD99FF"/>
                </a:solidFill>
                <a:latin typeface="Monaco" pitchFamily="2" charset="0"/>
              </a:rPr>
              <a:t>1</a:t>
            </a:r>
            <a:endParaRPr lang="es-CL" dirty="0">
              <a:solidFill>
                <a:srgbClr val="F9F9F5"/>
              </a:solidFill>
              <a:latin typeface="Monaco" pitchFamily="2" charset="0"/>
            </a:endParaRPr>
          </a:p>
          <a:p>
            <a:r>
              <a:rPr lang="es-CL" dirty="0">
                <a:solidFill>
                  <a:srgbClr val="F9F9F5"/>
                </a:solidFill>
                <a:latin typeface="Monaco" pitchFamily="2" charset="0"/>
              </a:rPr>
              <a:t>        </a:t>
            </a:r>
            <a:r>
              <a:rPr lang="es-CL" dirty="0">
                <a:solidFill>
                  <a:srgbClr val="75E0F2"/>
                </a:solidFill>
                <a:latin typeface="Monaco" pitchFamily="2" charset="0"/>
              </a:rPr>
              <a:t>print</a:t>
            </a:r>
            <a:r>
              <a:rPr lang="es-CL" dirty="0">
                <a:solidFill>
                  <a:srgbClr val="F9F9F5"/>
                </a:solidFill>
                <a:latin typeface="Monaco" pitchFamily="2" charset="0"/>
              </a:rPr>
              <a:t>(</a:t>
            </a:r>
            <a:r>
              <a:rPr lang="es-CL" dirty="0">
                <a:solidFill>
                  <a:srgbClr val="EBE087"/>
                </a:solidFill>
                <a:latin typeface="Monaco" pitchFamily="2" charset="0"/>
              </a:rPr>
              <a:t>"Su factorial es:"</a:t>
            </a:r>
            <a:r>
              <a:rPr lang="es-CL" dirty="0">
                <a:solidFill>
                  <a:srgbClr val="F9F9F5"/>
                </a:solidFill>
                <a:latin typeface="Monaco" pitchFamily="2" charset="0"/>
              </a:rPr>
              <a:t>, factorial)</a:t>
            </a:r>
          </a:p>
          <a:p>
            <a:r>
              <a:rPr lang="es-CL" dirty="0">
                <a:solidFill>
                  <a:srgbClr val="F9F9F5"/>
                </a:solidFill>
                <a:latin typeface="Monaco" pitchFamily="2" charset="0"/>
              </a:rPr>
              <a:t>        factorial </a:t>
            </a:r>
            <a:r>
              <a:rPr lang="es-CL" dirty="0">
                <a:solidFill>
                  <a:srgbClr val="FD4485"/>
                </a:solidFill>
                <a:latin typeface="Monaco" pitchFamily="2" charset="0"/>
              </a:rPr>
              <a:t>=</a:t>
            </a:r>
            <a:r>
              <a:rPr lang="es-CL" dirty="0">
                <a:solidFill>
                  <a:srgbClr val="F9F9F5"/>
                </a:solidFill>
                <a:latin typeface="Monaco" pitchFamily="2" charset="0"/>
              </a:rPr>
              <a:t> </a:t>
            </a:r>
            <a:r>
              <a:rPr lang="es-CL" dirty="0">
                <a:solidFill>
                  <a:srgbClr val="BD99FF"/>
                </a:solidFill>
                <a:latin typeface="Monaco" pitchFamily="2" charset="0"/>
              </a:rPr>
              <a:t>1</a:t>
            </a:r>
            <a:endParaRPr lang="es-CL" dirty="0">
              <a:solidFill>
                <a:srgbClr val="F9F9F5"/>
              </a:solidFill>
              <a:latin typeface="Monaco" pitchFamily="2" charset="0"/>
            </a:endParaRPr>
          </a:p>
          <a:p>
            <a:r>
              <a:rPr lang="es-CL" dirty="0">
                <a:solidFill>
                  <a:srgbClr val="F9F9F5"/>
                </a:solidFill>
                <a:latin typeface="Monaco" pitchFamily="2" charset="0"/>
              </a:rPr>
              <a:t>    n </a:t>
            </a:r>
            <a:r>
              <a:rPr lang="es-CL" dirty="0">
                <a:solidFill>
                  <a:srgbClr val="FD4485"/>
                </a:solidFill>
                <a:latin typeface="Monaco" pitchFamily="2" charset="0"/>
              </a:rPr>
              <a:t>-=</a:t>
            </a:r>
            <a:r>
              <a:rPr lang="es-CL" dirty="0">
                <a:solidFill>
                  <a:srgbClr val="F9F9F5"/>
                </a:solidFill>
                <a:latin typeface="Monaco" pitchFamily="2" charset="0"/>
              </a:rPr>
              <a:t> </a:t>
            </a:r>
            <a:r>
              <a:rPr lang="es-CL" dirty="0">
                <a:solidFill>
                  <a:srgbClr val="BD99FF"/>
                </a:solidFill>
                <a:latin typeface="Monaco" pitchFamily="2" charset="0"/>
              </a:rPr>
              <a:t>1</a:t>
            </a:r>
            <a:endParaRPr lang="es-CL" dirty="0">
              <a:solidFill>
                <a:srgbClr val="F9F9F5"/>
              </a:solidFill>
              <a:effectLst/>
              <a:latin typeface="Monaco" pitchFamily="2" charset="0"/>
            </a:endParaRPr>
          </a:p>
        </p:txBody>
      </p:sp>
    </p:spTree>
    <p:extLst>
      <p:ext uri="{BB962C8B-B14F-4D97-AF65-F5344CB8AC3E}">
        <p14:creationId xmlns:p14="http://schemas.microsoft.com/office/powerpoint/2010/main" val="177752607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wi131_plantilla" id="{D380A461-5A20-4D47-9F98-D24C79C9FB07}" vid="{023703D2-664B-314B-A55A-ECEA48B24E4E}"/>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707</TotalTime>
  <Words>1748</Words>
  <Application>Microsoft Macintosh PowerPoint</Application>
  <PresentationFormat>Panorámica</PresentationFormat>
  <Paragraphs>241</Paragraphs>
  <Slides>15</Slides>
  <Notes>1</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15</vt:i4>
      </vt:variant>
    </vt:vector>
  </HeadingPairs>
  <TitlesOfParts>
    <vt:vector size="23" baseType="lpstr">
      <vt:lpstr>Calibri</vt:lpstr>
      <vt:lpstr>Cambria Math</vt:lpstr>
      <vt:lpstr>Monaco</vt:lpstr>
      <vt:lpstr>PT Mono</vt:lpstr>
      <vt:lpstr>Tw Cen MT</vt:lpstr>
      <vt:lpstr>Tw Cen MT Condensed</vt:lpstr>
      <vt:lpstr>Wingdings 3</vt:lpstr>
      <vt:lpstr>Integral</vt:lpstr>
      <vt:lpstr>IWI 131- Programación</vt:lpstr>
      <vt:lpstr>¿Qué Son los Ciclos? Repeticiones en python</vt:lpstr>
      <vt:lpstr>Bucle while</vt:lpstr>
      <vt:lpstr>Bucle while</vt:lpstr>
      <vt:lpstr>Bucle infinito</vt:lpstr>
      <vt:lpstr>Ejemplos</vt:lpstr>
      <vt:lpstr>Ejemplos</vt:lpstr>
      <vt:lpstr>Ejercicio 1: Estaca</vt:lpstr>
      <vt:lpstr>Ejercicio 1: Solución</vt:lpstr>
      <vt:lpstr>Ejercicio 2: Ruteo</vt:lpstr>
      <vt:lpstr>Ejercicio 2: Solución</vt:lpstr>
      <vt:lpstr>Ejercicio 3: Gotta go fast</vt:lpstr>
      <vt:lpstr>Ejercicio 3: Solución</vt:lpstr>
      <vt:lpstr>Ejercicio 4: !</vt:lpstr>
      <vt:lpstr>Ejercicio 4: Solución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IWI 131- Programación</dc:title>
  <dc:creator>ANASTASIIA FEDOROVA .</dc:creator>
  <cp:lastModifiedBy>ANASTASIIA FEDOROVA .</cp:lastModifiedBy>
  <cp:revision>159</cp:revision>
  <dcterms:created xsi:type="dcterms:W3CDTF">2020-04-03T20:18:37Z</dcterms:created>
  <dcterms:modified xsi:type="dcterms:W3CDTF">2020-08-15T19:39:00Z</dcterms:modified>
</cp:coreProperties>
</file>