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3" r:id="rId1"/>
  </p:sldMasterIdLst>
  <p:notesMasterIdLst>
    <p:notesMasterId r:id="rId35"/>
  </p:notesMasterIdLst>
  <p:sldIdLst>
    <p:sldId id="256" r:id="rId2"/>
    <p:sldId id="257" r:id="rId3"/>
    <p:sldId id="258" r:id="rId4"/>
    <p:sldId id="259" r:id="rId5"/>
    <p:sldId id="260" r:id="rId6"/>
    <p:sldId id="261" r:id="rId7"/>
    <p:sldId id="262" r:id="rId8"/>
    <p:sldId id="265" r:id="rId9"/>
    <p:sldId id="263" r:id="rId10"/>
    <p:sldId id="266" r:id="rId11"/>
    <p:sldId id="267" r:id="rId12"/>
    <p:sldId id="264" r:id="rId13"/>
    <p:sldId id="268" r:id="rId14"/>
    <p:sldId id="270" r:id="rId15"/>
    <p:sldId id="271" r:id="rId16"/>
    <p:sldId id="269" r:id="rId17"/>
    <p:sldId id="272" r:id="rId18"/>
    <p:sldId id="281" r:id="rId19"/>
    <p:sldId id="273" r:id="rId20"/>
    <p:sldId id="282" r:id="rId21"/>
    <p:sldId id="278" r:id="rId22"/>
    <p:sldId id="279" r:id="rId23"/>
    <p:sldId id="285" r:id="rId24"/>
    <p:sldId id="280" r:id="rId25"/>
    <p:sldId id="286" r:id="rId26"/>
    <p:sldId id="274" r:id="rId27"/>
    <p:sldId id="275" r:id="rId28"/>
    <p:sldId id="276" r:id="rId29"/>
    <p:sldId id="283" r:id="rId30"/>
    <p:sldId id="287" r:id="rId31"/>
    <p:sldId id="277" r:id="rId32"/>
    <p:sldId id="284"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2672"/>
    <a:srgbClr val="AE81FF"/>
    <a:srgbClr val="66D9EF"/>
    <a:srgbClr val="A6E22E"/>
    <a:srgbClr val="FD971F"/>
    <a:srgbClr val="2728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Estilo temático 2 - Énfasis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Estilo temático 2 - Énfasis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8"/>
    <p:restoredTop sz="94679"/>
  </p:normalViewPr>
  <p:slideViewPr>
    <p:cSldViewPr snapToGrid="0" snapToObjects="1">
      <p:cViewPr varScale="1">
        <p:scale>
          <a:sx n="92" d="100"/>
          <a:sy n="92" d="100"/>
        </p:scale>
        <p:origin x="784" y="184"/>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2204AC-F89F-5A43-A3C5-FD728B04A101}" type="datetimeFigureOut">
              <a:rPr lang="es-CL" smtClean="0"/>
              <a:t>22-07-20</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F209DA-5710-E544-8A8A-F492DBBD5AA6}" type="slidenum">
              <a:rPr lang="es-CL" smtClean="0"/>
              <a:t>‹Nº›</a:t>
            </a:fld>
            <a:endParaRPr lang="es-CL"/>
          </a:p>
        </p:txBody>
      </p:sp>
    </p:spTree>
    <p:extLst>
      <p:ext uri="{BB962C8B-B14F-4D97-AF65-F5344CB8AC3E}">
        <p14:creationId xmlns:p14="http://schemas.microsoft.com/office/powerpoint/2010/main" val="3880556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91F209DA-5710-E544-8A8A-F492DBBD5AA6}" type="slidenum">
              <a:rPr lang="es-CL" smtClean="0"/>
              <a:t>1</a:t>
            </a:fld>
            <a:endParaRPr lang="es-CL"/>
          </a:p>
        </p:txBody>
      </p:sp>
    </p:spTree>
    <p:extLst>
      <p:ext uri="{BB962C8B-B14F-4D97-AF65-F5344CB8AC3E}">
        <p14:creationId xmlns:p14="http://schemas.microsoft.com/office/powerpoint/2010/main" val="410000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lvl1pPr algn="l">
              <a:defRPr/>
            </a:lvl1pPr>
          </a:lstStyle>
          <a:p>
            <a:fld id="{7EB30784-A5C3-6349-BD2A-7A8E658959DF}" type="datetimeFigureOut">
              <a:rPr lang="es-CL" smtClean="0"/>
              <a:t>22-07-20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77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22-07-20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35173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EB30784-A5C3-6349-BD2A-7A8E658959DF}" type="datetimeFigureOut">
              <a:rPr lang="es-CL" smtClean="0"/>
              <a:t>22-07-20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867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EB30784-A5C3-6349-BD2A-7A8E658959DF}" type="datetimeFigureOut">
              <a:rPr lang="es-CL" smtClean="0"/>
              <a:t>22-07-20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4142761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2412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s-ES"/>
              <a:t>Haga clic para modificar los estilos de texto del patrón</a:t>
            </a:r>
          </a:p>
        </p:txBody>
      </p:sp>
      <p:sp>
        <p:nvSpPr>
          <p:cNvPr id="6" name="Content Placeholder 5"/>
          <p:cNvSpPr>
            <a:spLocks noGrp="1"/>
          </p:cNvSpPr>
          <p:nvPr>
            <p:ph sz="quarter" idx="4"/>
          </p:nvPr>
        </p:nvSpPr>
        <p:spPr>
          <a:xfrm>
            <a:off x="5990888" y="2967788"/>
            <a:ext cx="4754880" cy="33415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EB30784-A5C3-6349-BD2A-7A8E658959DF}" type="datetimeFigureOut">
              <a:rPr lang="es-CL" smtClean="0"/>
              <a:t>22-07-20</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1967907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EB30784-A5C3-6349-BD2A-7A8E658959DF}" type="datetimeFigureOut">
              <a:rPr lang="es-CL" smtClean="0"/>
              <a:t>22-07-20</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792038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B30784-A5C3-6349-BD2A-7A8E658959DF}" type="datetimeFigureOut">
              <a:rPr lang="es-CL" smtClean="0"/>
              <a:t>22-07-20</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3963689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22-07-20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19284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30784-A5C3-6349-BD2A-7A8E658959DF}" type="datetimeFigureOut">
              <a:rPr lang="es-CL" smtClean="0"/>
              <a:t>22-07-20</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E3D891C6-CE47-3447-99AD-3B11D616AAE1}" type="slidenum">
              <a:rPr lang="es-CL" smtClean="0"/>
              <a:t>‹Nº›</a:t>
            </a:fld>
            <a:endParaRPr lang="es-CL"/>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337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22-07-20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spTree>
    <p:extLst>
      <p:ext uri="{BB962C8B-B14F-4D97-AF65-F5344CB8AC3E}">
        <p14:creationId xmlns:p14="http://schemas.microsoft.com/office/powerpoint/2010/main" val="2308531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EB30784-A5C3-6349-BD2A-7A8E658959DF}" type="datetimeFigureOut">
              <a:rPr lang="es-CL" smtClean="0"/>
              <a:t>22-07-20</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E3D891C6-CE47-3447-99AD-3B11D616AAE1}" type="slidenum">
              <a:rPr lang="es-CL" smtClean="0"/>
              <a:t>‹Nº›</a:t>
            </a:fld>
            <a:endParaRPr lang="es-CL"/>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547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27282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EB30784-A5C3-6349-BD2A-7A8E658959DF}" type="datetimeFigureOut">
              <a:rPr lang="es-CL" smtClean="0"/>
              <a:t>22-07-20</a:t>
            </a:fld>
            <a:endParaRPr lang="es-CL"/>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s-CL"/>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D891C6-CE47-3447-99AD-3B11D616AAE1}" type="slidenum">
              <a:rPr lang="es-CL" smtClean="0"/>
              <a:t>‹Nº›</a:t>
            </a:fld>
            <a:endParaRPr lang="es-CL"/>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8201775"/>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progra.usm.cl/apunte/ejercicios/2/consulta-medica.html"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progra.usm.cl/apunte/ejercicios/2/sumas-por-fila-y-columna.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progra.usm.cl/apunte/ejercicios/2/inventario.html"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progra.usm.cl/apunte/ejercicios/2/consulta-medica.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1" name="Rectangle 44">
            <a:extLst>
              <a:ext uri="{FF2B5EF4-FFF2-40B4-BE49-F238E27FC236}">
                <a16:creationId xmlns:a16="http://schemas.microsoft.com/office/drawing/2014/main" id="{2A85F7B3-F4E6-4FBF-B74E-43CAB468F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630811-6F38-6F45-AD6B-CD5290979456}"/>
              </a:ext>
            </a:extLst>
          </p:cNvPr>
          <p:cNvSpPr>
            <a:spLocks noGrp="1"/>
          </p:cNvSpPr>
          <p:nvPr>
            <p:ph type="ctrTitle"/>
          </p:nvPr>
        </p:nvSpPr>
        <p:spPr>
          <a:xfrm>
            <a:off x="636805" y="640080"/>
            <a:ext cx="4809406" cy="3034857"/>
          </a:xfrm>
        </p:spPr>
        <p:txBody>
          <a:bodyPr anchor="b">
            <a:normAutofit/>
          </a:bodyPr>
          <a:lstStyle/>
          <a:p>
            <a:r>
              <a:rPr lang="es-CL" sz="4400" dirty="0">
                <a:solidFill>
                  <a:srgbClr val="A6E22E"/>
                </a:solidFill>
              </a:rPr>
              <a:t>IWI 131- Programación</a:t>
            </a:r>
          </a:p>
        </p:txBody>
      </p:sp>
      <p:sp>
        <p:nvSpPr>
          <p:cNvPr id="3" name="Subtítulo 2">
            <a:extLst>
              <a:ext uri="{FF2B5EF4-FFF2-40B4-BE49-F238E27FC236}">
                <a16:creationId xmlns:a16="http://schemas.microsoft.com/office/drawing/2014/main" id="{12541EAE-D840-1044-9E2E-6BCB100AF241}"/>
              </a:ext>
            </a:extLst>
          </p:cNvPr>
          <p:cNvSpPr>
            <a:spLocks noGrp="1"/>
          </p:cNvSpPr>
          <p:nvPr>
            <p:ph type="subTitle" idx="1"/>
          </p:nvPr>
        </p:nvSpPr>
        <p:spPr>
          <a:xfrm>
            <a:off x="636806" y="3849539"/>
            <a:ext cx="4819340" cy="2367405"/>
          </a:xfrm>
        </p:spPr>
        <p:txBody>
          <a:bodyPr anchor="t">
            <a:normAutofit/>
          </a:bodyPr>
          <a:lstStyle/>
          <a:p>
            <a:pPr algn="r"/>
            <a:r>
              <a:rPr lang="es-CL" sz="4800" b="1" dirty="0">
                <a:solidFill>
                  <a:schemeClr val="bg1"/>
                </a:solidFill>
              </a:rPr>
              <a:t> </a:t>
            </a:r>
            <a:r>
              <a:rPr lang="es-CL" sz="4800" b="1" dirty="0">
                <a:solidFill>
                  <a:srgbClr val="FD971F"/>
                </a:solidFill>
              </a:rPr>
              <a:t>Ayudantía 12</a:t>
            </a:r>
          </a:p>
          <a:p>
            <a:pPr algn="r"/>
            <a:endParaRPr lang="es-CL" sz="4800" b="1" dirty="0">
              <a:solidFill>
                <a:srgbClr val="FD971F"/>
              </a:solidFill>
            </a:endParaRPr>
          </a:p>
        </p:txBody>
      </p:sp>
      <p:cxnSp>
        <p:nvCxnSpPr>
          <p:cNvPr id="52" name="Straight Connector 46">
            <a:extLst>
              <a:ext uri="{FF2B5EF4-FFF2-40B4-BE49-F238E27FC236}">
                <a16:creationId xmlns:a16="http://schemas.microsoft.com/office/drawing/2014/main" id="{73741D5B-1709-4CDB-963A-CC3C749412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475488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B92C8723-CC91-E04D-9503-EA3C2107EEC8}"/>
              </a:ext>
            </a:extLst>
          </p:cNvPr>
          <p:cNvPicPr>
            <a:picLocks noChangeAspect="1"/>
          </p:cNvPicPr>
          <p:nvPr/>
        </p:nvPicPr>
        <p:blipFill>
          <a:blip r:embed="rId3"/>
          <a:stretch>
            <a:fillRect/>
          </a:stretch>
        </p:blipFill>
        <p:spPr>
          <a:xfrm>
            <a:off x="6092952" y="713651"/>
            <a:ext cx="5458968" cy="5431673"/>
          </a:xfrm>
          <a:prstGeom prst="rect">
            <a:avLst/>
          </a:prstGeom>
        </p:spPr>
      </p:pic>
      <p:sp>
        <p:nvSpPr>
          <p:cNvPr id="7" name="CuadroTexto 6">
            <a:extLst>
              <a:ext uri="{FF2B5EF4-FFF2-40B4-BE49-F238E27FC236}">
                <a16:creationId xmlns:a16="http://schemas.microsoft.com/office/drawing/2014/main" id="{018DC0F8-FEB1-CB46-BEDA-051EFAAFB367}"/>
              </a:ext>
            </a:extLst>
          </p:cNvPr>
          <p:cNvSpPr txBox="1"/>
          <p:nvPr/>
        </p:nvSpPr>
        <p:spPr>
          <a:xfrm>
            <a:off x="1460450" y="4737466"/>
            <a:ext cx="4013471" cy="1200329"/>
          </a:xfrm>
          <a:prstGeom prst="rect">
            <a:avLst/>
          </a:prstGeom>
          <a:noFill/>
        </p:spPr>
        <p:txBody>
          <a:bodyPr wrap="none" rtlCol="0">
            <a:spAutoFit/>
          </a:bodyPr>
          <a:lstStyle/>
          <a:p>
            <a:pPr algn="r"/>
            <a:r>
              <a:rPr lang="es-CL" sz="2400" dirty="0">
                <a:solidFill>
                  <a:srgbClr val="66D9EF"/>
                </a:solidFill>
              </a:rPr>
              <a:t>Ayudante: Anastasiia Fedorova</a:t>
            </a:r>
          </a:p>
          <a:p>
            <a:pPr algn="r"/>
            <a:r>
              <a:rPr lang="es-CL" sz="2400" dirty="0">
                <a:solidFill>
                  <a:srgbClr val="66D9EF"/>
                </a:solidFill>
              </a:rPr>
              <a:t>Paralelo: 212</a:t>
            </a:r>
          </a:p>
          <a:p>
            <a:pPr algn="r"/>
            <a:r>
              <a:rPr lang="es-CL" sz="2400" dirty="0">
                <a:solidFill>
                  <a:srgbClr val="66D9EF"/>
                </a:solidFill>
              </a:rPr>
              <a:t>Fecha: 22.07.2020</a:t>
            </a:r>
          </a:p>
        </p:txBody>
      </p:sp>
      <p:pic>
        <p:nvPicPr>
          <p:cNvPr id="8" name="Imagen 7">
            <a:extLst>
              <a:ext uri="{FF2B5EF4-FFF2-40B4-BE49-F238E27FC236}">
                <a16:creationId xmlns:a16="http://schemas.microsoft.com/office/drawing/2014/main" id="{24F8444F-292C-EB43-8F6E-F6D1B49DD4F4}"/>
              </a:ext>
            </a:extLst>
          </p:cNvPr>
          <p:cNvPicPr>
            <a:picLocks noChangeAspect="1"/>
          </p:cNvPicPr>
          <p:nvPr/>
        </p:nvPicPr>
        <p:blipFill>
          <a:blip r:embed="rId4">
            <a:duotone>
              <a:schemeClr val="accent4">
                <a:shade val="45000"/>
                <a:satMod val="135000"/>
              </a:schemeClr>
              <a:prstClr val="white"/>
            </a:duotone>
          </a:blip>
          <a:stretch>
            <a:fillRect/>
          </a:stretch>
        </p:blipFill>
        <p:spPr>
          <a:xfrm>
            <a:off x="7450961" y="1959880"/>
            <a:ext cx="2742950" cy="2742950"/>
          </a:xfrm>
          <a:prstGeom prst="rect">
            <a:avLst/>
          </a:prstGeom>
        </p:spPr>
      </p:pic>
    </p:spTree>
    <p:extLst>
      <p:ext uri="{BB962C8B-B14F-4D97-AF65-F5344CB8AC3E}">
        <p14:creationId xmlns:p14="http://schemas.microsoft.com/office/powerpoint/2010/main" val="420016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E831DF-C1EC-4B4F-AC01-2EB4D94B3AF3}"/>
              </a:ext>
            </a:extLst>
          </p:cNvPr>
          <p:cNvSpPr>
            <a:spLocks noGrp="1"/>
          </p:cNvSpPr>
          <p:nvPr>
            <p:ph type="title"/>
          </p:nvPr>
        </p:nvSpPr>
        <p:spPr/>
        <p:txBody>
          <a:bodyPr/>
          <a:lstStyle/>
          <a:p>
            <a:r>
              <a:rPr lang="es-CL" dirty="0">
                <a:solidFill>
                  <a:srgbClr val="66D9EF"/>
                </a:solidFill>
              </a:rPr>
              <a:t>Trabajo con strings</a:t>
            </a:r>
          </a:p>
        </p:txBody>
      </p:sp>
      <p:sp>
        <p:nvSpPr>
          <p:cNvPr id="3" name="Marcador de contenido 2">
            <a:extLst>
              <a:ext uri="{FF2B5EF4-FFF2-40B4-BE49-F238E27FC236}">
                <a16:creationId xmlns:a16="http://schemas.microsoft.com/office/drawing/2014/main" id="{52D5F76F-6EDA-D541-BD07-970EC729F29B}"/>
              </a:ext>
            </a:extLst>
          </p:cNvPr>
          <p:cNvSpPr>
            <a:spLocks noGrp="1"/>
          </p:cNvSpPr>
          <p:nvPr>
            <p:ph idx="1"/>
          </p:nvPr>
        </p:nvSpPr>
        <p:spPr>
          <a:xfrm>
            <a:off x="677765" y="2084832"/>
            <a:ext cx="5418235" cy="4187952"/>
          </a:xfrm>
        </p:spPr>
        <p:txBody>
          <a:bodyPr>
            <a:normAutofit/>
          </a:bodyPr>
          <a:lstStyle/>
          <a:p>
            <a:r>
              <a:rPr lang="es-CL" sz="2800" dirty="0">
                <a:solidFill>
                  <a:schemeClr val="bg1"/>
                </a:solidFill>
              </a:rPr>
              <a:t>Ya hemos visto algunos de los operadores, que podemos aplicar sobre los strings – por ejemplo, la concatenación, la repetición, tomar un sub-string (slice), in, etc.</a:t>
            </a:r>
          </a:p>
          <a:p>
            <a:r>
              <a:rPr lang="es-CL" sz="2800" dirty="0">
                <a:solidFill>
                  <a:schemeClr val="bg1"/>
                </a:solidFill>
              </a:rPr>
              <a:t>Sin embargo, existen muchas más herramientas para trabajo con strings. Python, de hecho, es muy usado en text analytics (text mining), automatización y data science.</a:t>
            </a:r>
          </a:p>
        </p:txBody>
      </p:sp>
      <p:sp>
        <p:nvSpPr>
          <p:cNvPr id="4" name="Rectángulo 3">
            <a:extLst>
              <a:ext uri="{FF2B5EF4-FFF2-40B4-BE49-F238E27FC236}">
                <a16:creationId xmlns:a16="http://schemas.microsoft.com/office/drawing/2014/main" id="{D02D0ECB-2922-9849-9E36-0B53DA4F15BA}"/>
              </a:ext>
            </a:extLst>
          </p:cNvPr>
          <p:cNvSpPr/>
          <p:nvPr/>
        </p:nvSpPr>
        <p:spPr>
          <a:xfrm>
            <a:off x="6622474" y="2274792"/>
            <a:ext cx="5210416" cy="2862322"/>
          </a:xfrm>
          <a:prstGeom prst="rect">
            <a:avLst/>
          </a:prstGeom>
        </p:spPr>
        <p:txBody>
          <a:bodyPr wrap="square">
            <a:spAutoFit/>
          </a:bodyPr>
          <a:lstStyle/>
          <a:p>
            <a:r>
              <a:rPr lang="es-CL" dirty="0">
                <a:solidFill>
                  <a:srgbClr val="F8F8F2"/>
                </a:solidFill>
                <a:latin typeface="Menlo" panose="020B0609030804020204" pitchFamily="49" charset="0"/>
              </a:rPr>
              <a:t>[a] - acceso por índice</a:t>
            </a:r>
          </a:p>
          <a:p>
            <a:r>
              <a:rPr lang="es-CL" dirty="0">
                <a:solidFill>
                  <a:srgbClr val="F8F8F2"/>
                </a:solidFill>
                <a:latin typeface="Menlo" panose="020B0609030804020204" pitchFamily="49" charset="0"/>
              </a:rPr>
              <a:t>[a:b:c] – slice en rango con cierto paso</a:t>
            </a:r>
          </a:p>
          <a:p>
            <a:r>
              <a:rPr lang="es-CL" dirty="0">
                <a:solidFill>
                  <a:srgbClr val="F92672"/>
                </a:solidFill>
                <a:latin typeface="Menlo" panose="020B0609030804020204" pitchFamily="49" charset="0"/>
              </a:rPr>
              <a:t>in</a:t>
            </a:r>
            <a:r>
              <a:rPr lang="es-CL" dirty="0">
                <a:solidFill>
                  <a:schemeClr val="bg1"/>
                </a:solidFill>
                <a:latin typeface="Menlo" panose="020B0609030804020204" pitchFamily="49" charset="0"/>
              </a:rPr>
              <a:t> – True si elemento está en string, en otro caso False</a:t>
            </a:r>
            <a:endParaRPr lang="es-CL" dirty="0">
              <a:solidFill>
                <a:srgbClr val="F8F8F2"/>
              </a:solidFill>
              <a:latin typeface="Menlo" panose="020B0609030804020204" pitchFamily="49" charset="0"/>
            </a:endParaRPr>
          </a:p>
          <a:p>
            <a:r>
              <a:rPr lang="es-CL" dirty="0">
                <a:solidFill>
                  <a:srgbClr val="F92672"/>
                </a:solidFill>
                <a:latin typeface="Menlo" panose="020B0609030804020204" pitchFamily="49" charset="0"/>
              </a:rPr>
              <a:t>not</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in </a:t>
            </a:r>
            <a:r>
              <a:rPr lang="es-CL" dirty="0">
                <a:solidFill>
                  <a:schemeClr val="bg1"/>
                </a:solidFill>
                <a:latin typeface="Menlo" panose="020B0609030804020204" pitchFamily="49" charset="0"/>
              </a:rPr>
              <a:t>– True si elemento no está en string, en otro caso False</a:t>
            </a:r>
            <a:endParaRPr lang="es-CL" dirty="0">
              <a:solidFill>
                <a:srgbClr val="F8F8F2"/>
              </a:solidFill>
              <a:latin typeface="Menlo" panose="020B0609030804020204" pitchFamily="49" charset="0"/>
            </a:endParaRPr>
          </a:p>
          <a:p>
            <a:r>
              <a:rPr lang="es-CL" dirty="0">
                <a:solidFill>
                  <a:srgbClr val="F92672"/>
                </a:solidFill>
                <a:latin typeface="Menlo" panose="020B0609030804020204" pitchFamily="49" charset="0"/>
              </a:rPr>
              <a:t>+ </a:t>
            </a:r>
            <a:r>
              <a:rPr lang="es-CL" dirty="0">
                <a:solidFill>
                  <a:schemeClr val="bg1"/>
                </a:solidFill>
                <a:latin typeface="Menlo" panose="020B0609030804020204" pitchFamily="49" charset="0"/>
              </a:rPr>
              <a:t>- concatenación</a:t>
            </a:r>
            <a:endParaRPr lang="es-CL" dirty="0">
              <a:solidFill>
                <a:srgbClr val="F8F8F2"/>
              </a:solidFill>
              <a:latin typeface="Menlo" panose="020B0609030804020204" pitchFamily="49" charset="0"/>
            </a:endParaRPr>
          </a:p>
          <a:p>
            <a:r>
              <a:rPr lang="es-CL" dirty="0">
                <a:solidFill>
                  <a:srgbClr val="F92672"/>
                </a:solidFill>
                <a:latin typeface="Menlo" panose="020B0609030804020204" pitchFamily="49" charset="0"/>
              </a:rPr>
              <a:t>* </a:t>
            </a:r>
            <a:r>
              <a:rPr lang="es-CL" dirty="0">
                <a:solidFill>
                  <a:schemeClr val="bg1"/>
                </a:solidFill>
                <a:latin typeface="Menlo" panose="020B0609030804020204" pitchFamily="49" charset="0"/>
              </a:rPr>
              <a:t>- repetición (concatenación consigo mismo)</a:t>
            </a:r>
            <a:endParaRPr lang="es-CL" dirty="0">
              <a:solidFill>
                <a:srgbClr val="F8F8F2"/>
              </a:solidFill>
              <a:latin typeface="Menlo" panose="020B0609030804020204" pitchFamily="49" charset="0"/>
            </a:endParaRPr>
          </a:p>
        </p:txBody>
      </p:sp>
    </p:spTree>
    <p:extLst>
      <p:ext uri="{BB962C8B-B14F-4D97-AF65-F5344CB8AC3E}">
        <p14:creationId xmlns:p14="http://schemas.microsoft.com/office/powerpoint/2010/main" val="28805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F5EA62-1A64-6F46-92EF-7EC9448E352F}"/>
              </a:ext>
            </a:extLst>
          </p:cNvPr>
          <p:cNvSpPr>
            <a:spLocks noGrp="1"/>
          </p:cNvSpPr>
          <p:nvPr>
            <p:ph type="title"/>
          </p:nvPr>
        </p:nvSpPr>
        <p:spPr/>
        <p:txBody>
          <a:bodyPr/>
          <a:lstStyle/>
          <a:p>
            <a:r>
              <a:rPr lang="es-CL" dirty="0">
                <a:solidFill>
                  <a:srgbClr val="66D9EF"/>
                </a:solidFill>
              </a:rPr>
              <a:t>Replace()</a:t>
            </a:r>
          </a:p>
        </p:txBody>
      </p:sp>
      <p:sp>
        <p:nvSpPr>
          <p:cNvPr id="3" name="Marcador de contenido 2">
            <a:extLst>
              <a:ext uri="{FF2B5EF4-FFF2-40B4-BE49-F238E27FC236}">
                <a16:creationId xmlns:a16="http://schemas.microsoft.com/office/drawing/2014/main" id="{57584EE6-A59E-EB46-A93E-1E5ADC23905B}"/>
              </a:ext>
            </a:extLst>
          </p:cNvPr>
          <p:cNvSpPr>
            <a:spLocks noGrp="1"/>
          </p:cNvSpPr>
          <p:nvPr>
            <p:ph idx="1"/>
          </p:nvPr>
        </p:nvSpPr>
        <p:spPr>
          <a:xfrm>
            <a:off x="1024127" y="2249424"/>
            <a:ext cx="9720073" cy="4023360"/>
          </a:xfrm>
        </p:spPr>
        <p:txBody>
          <a:bodyPr>
            <a:normAutofit/>
          </a:bodyPr>
          <a:lstStyle/>
          <a:p>
            <a:r>
              <a:rPr lang="es-CL" sz="2800" dirty="0">
                <a:solidFill>
                  <a:schemeClr val="bg1"/>
                </a:solidFill>
              </a:rPr>
              <a:t>El método replace() retorna </a:t>
            </a:r>
            <a:r>
              <a:rPr lang="es-CL" sz="2800" b="1" dirty="0">
                <a:solidFill>
                  <a:srgbClr val="FD971F"/>
                </a:solidFill>
              </a:rPr>
              <a:t>una copia </a:t>
            </a:r>
            <a:r>
              <a:rPr lang="es-CL" sz="2800" dirty="0">
                <a:solidFill>
                  <a:schemeClr val="bg1"/>
                </a:solidFill>
              </a:rPr>
              <a:t>de string viejo, pero con substring sustituido.</a:t>
            </a:r>
          </a:p>
        </p:txBody>
      </p:sp>
      <p:sp>
        <p:nvSpPr>
          <p:cNvPr id="4" name="Rectángulo 3">
            <a:extLst>
              <a:ext uri="{FF2B5EF4-FFF2-40B4-BE49-F238E27FC236}">
                <a16:creationId xmlns:a16="http://schemas.microsoft.com/office/drawing/2014/main" id="{3DC89363-EA30-6F4D-87FE-9EF94340898C}"/>
              </a:ext>
            </a:extLst>
          </p:cNvPr>
          <p:cNvSpPr/>
          <p:nvPr/>
        </p:nvSpPr>
        <p:spPr>
          <a:xfrm>
            <a:off x="3034145" y="3854903"/>
            <a:ext cx="7370618" cy="1569660"/>
          </a:xfrm>
          <a:prstGeom prst="rect">
            <a:avLst/>
          </a:prstGeom>
        </p:spPr>
        <p:txBody>
          <a:bodyPr wrap="square">
            <a:spAutoFit/>
          </a:bodyPr>
          <a:lstStyle/>
          <a:p>
            <a:r>
              <a:rPr lang="es-CL" sz="2400" dirty="0">
                <a:solidFill>
                  <a:srgbClr val="F8F8F2"/>
                </a:solidFill>
                <a:latin typeface="Menlo" panose="020B0609030804020204" pitchFamily="49" charset="0"/>
              </a:rPr>
              <a:t>original </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"me gusta programar"</a:t>
            </a:r>
            <a:endParaRPr lang="es-CL" sz="2400" dirty="0">
              <a:solidFill>
                <a:srgbClr val="F8F8F2"/>
              </a:solidFill>
              <a:latin typeface="Menlo" panose="020B0609030804020204" pitchFamily="49" charset="0"/>
            </a:endParaRPr>
          </a:p>
          <a:p>
            <a:r>
              <a:rPr lang="es-CL" sz="2400" dirty="0">
                <a:solidFill>
                  <a:srgbClr val="F8F8F2"/>
                </a:solidFill>
                <a:latin typeface="Menlo" panose="020B0609030804020204" pitchFamily="49" charset="0"/>
              </a:rPr>
              <a:t>nuevo </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 original</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replace(</a:t>
            </a:r>
            <a:r>
              <a:rPr lang="es-CL" sz="2400" dirty="0">
                <a:solidFill>
                  <a:srgbClr val="E6DB74"/>
                </a:solidFill>
                <a:latin typeface="Menlo" panose="020B0609030804020204" pitchFamily="49" charset="0"/>
              </a:rPr>
              <a:t>" "</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"_"</a:t>
            </a:r>
            <a:r>
              <a:rPr lang="es-CL" sz="2400" dirty="0">
                <a:solidFill>
                  <a:srgbClr val="F8F8F2"/>
                </a:solidFill>
                <a:latin typeface="Menlo" panose="020B0609030804020204" pitchFamily="49" charset="0"/>
              </a:rPr>
              <a:t>)</a:t>
            </a:r>
          </a:p>
          <a:p>
            <a:r>
              <a:rPr lang="es-CL" sz="2400" dirty="0">
                <a:solidFill>
                  <a:srgbClr val="66D9EF"/>
                </a:solidFill>
                <a:latin typeface="Menlo" panose="020B0609030804020204" pitchFamily="49" charset="0"/>
              </a:rPr>
              <a:t>print</a:t>
            </a:r>
            <a:r>
              <a:rPr lang="es-CL" sz="2400" dirty="0">
                <a:solidFill>
                  <a:srgbClr val="F8F8F2"/>
                </a:solidFill>
                <a:latin typeface="Menlo" panose="020B0609030804020204" pitchFamily="49" charset="0"/>
              </a:rPr>
              <a:t>(nuevo)</a:t>
            </a:r>
          </a:p>
          <a:p>
            <a:r>
              <a:rPr lang="es-CL" sz="2400" dirty="0">
                <a:solidFill>
                  <a:srgbClr val="F92672"/>
                </a:solidFill>
                <a:latin typeface="Menlo" panose="020B0609030804020204" pitchFamily="49" charset="0"/>
              </a:rPr>
              <a:t>&gt;&gt;&gt;</a:t>
            </a:r>
            <a:r>
              <a:rPr lang="es-CL" sz="2400" dirty="0">
                <a:solidFill>
                  <a:srgbClr val="F8F8F2"/>
                </a:solidFill>
                <a:latin typeface="Menlo" panose="020B0609030804020204" pitchFamily="49" charset="0"/>
              </a:rPr>
              <a:t> me_gusta_programar</a:t>
            </a:r>
          </a:p>
        </p:txBody>
      </p:sp>
      <p:pic>
        <p:nvPicPr>
          <p:cNvPr id="5" name="Imagen 4">
            <a:extLst>
              <a:ext uri="{FF2B5EF4-FFF2-40B4-BE49-F238E27FC236}">
                <a16:creationId xmlns:a16="http://schemas.microsoft.com/office/drawing/2014/main" id="{44F79026-7191-A940-884B-ED8870EAD16B}"/>
              </a:ext>
            </a:extLst>
          </p:cNvPr>
          <p:cNvPicPr>
            <a:picLocks noChangeAspect="1"/>
          </p:cNvPicPr>
          <p:nvPr/>
        </p:nvPicPr>
        <p:blipFill>
          <a:blip r:embed="rId2"/>
          <a:stretch>
            <a:fillRect/>
          </a:stretch>
        </p:blipFill>
        <p:spPr>
          <a:xfrm>
            <a:off x="7412182" y="4691703"/>
            <a:ext cx="1745673" cy="1745673"/>
          </a:xfrm>
          <a:prstGeom prst="rect">
            <a:avLst/>
          </a:prstGeom>
        </p:spPr>
      </p:pic>
    </p:spTree>
    <p:extLst>
      <p:ext uri="{BB962C8B-B14F-4D97-AF65-F5344CB8AC3E}">
        <p14:creationId xmlns:p14="http://schemas.microsoft.com/office/powerpoint/2010/main" val="1358361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6B4402-4565-5B4A-B42D-BD8D3E46E1C3}"/>
              </a:ext>
            </a:extLst>
          </p:cNvPr>
          <p:cNvSpPr>
            <a:spLocks noGrp="1"/>
          </p:cNvSpPr>
          <p:nvPr>
            <p:ph type="title"/>
          </p:nvPr>
        </p:nvSpPr>
        <p:spPr/>
        <p:txBody>
          <a:bodyPr/>
          <a:lstStyle/>
          <a:p>
            <a:r>
              <a:rPr lang="es-CL" dirty="0">
                <a:solidFill>
                  <a:srgbClr val="66D9EF"/>
                </a:solidFill>
              </a:rPr>
              <a:t>.upper() y .lower()</a:t>
            </a:r>
          </a:p>
        </p:txBody>
      </p:sp>
      <p:sp>
        <p:nvSpPr>
          <p:cNvPr id="3" name="Marcador de contenido 2">
            <a:extLst>
              <a:ext uri="{FF2B5EF4-FFF2-40B4-BE49-F238E27FC236}">
                <a16:creationId xmlns:a16="http://schemas.microsoft.com/office/drawing/2014/main" id="{63446E63-DD02-A347-9A1A-D6B32DAF1A40}"/>
              </a:ext>
            </a:extLst>
          </p:cNvPr>
          <p:cNvSpPr>
            <a:spLocks noGrp="1"/>
          </p:cNvSpPr>
          <p:nvPr>
            <p:ph idx="1"/>
          </p:nvPr>
        </p:nvSpPr>
        <p:spPr>
          <a:xfrm>
            <a:off x="1024128" y="2084832"/>
            <a:ext cx="10143744" cy="4224528"/>
          </a:xfrm>
        </p:spPr>
        <p:txBody>
          <a:bodyPr>
            <a:normAutofit/>
          </a:bodyPr>
          <a:lstStyle/>
          <a:p>
            <a:r>
              <a:rPr lang="es-CL" sz="2800" dirty="0">
                <a:solidFill>
                  <a:schemeClr val="bg1"/>
                </a:solidFill>
              </a:rPr>
              <a:t>En Python, podemos cambiar el texto de modo que tenga todas las letras mayúsculas o todas minúsculas, utilizando el método </a:t>
            </a:r>
            <a:r>
              <a:rPr lang="es-CL" sz="2400" dirty="0">
                <a:solidFill>
                  <a:schemeClr val="bg1"/>
                </a:solidFill>
                <a:latin typeface="Consolas" panose="020B0609020204030204" pitchFamily="49" charset="0"/>
                <a:cs typeface="Consolas" panose="020B0609020204030204" pitchFamily="49" charset="0"/>
              </a:rPr>
              <a:t>.upper() </a:t>
            </a:r>
            <a:r>
              <a:rPr lang="es-CL" sz="2800" dirty="0">
                <a:solidFill>
                  <a:schemeClr val="bg1"/>
                </a:solidFill>
              </a:rPr>
              <a:t>o </a:t>
            </a:r>
            <a:r>
              <a:rPr lang="es-CL" sz="2400" dirty="0">
                <a:solidFill>
                  <a:schemeClr val="bg1"/>
                </a:solidFill>
                <a:latin typeface="Consolas" panose="020B0609020204030204" pitchFamily="49" charset="0"/>
                <a:cs typeface="Consolas" panose="020B0609020204030204" pitchFamily="49" charset="0"/>
              </a:rPr>
              <a:t>.lower(), </a:t>
            </a:r>
            <a:r>
              <a:rPr lang="es-CL" sz="2800" dirty="0">
                <a:solidFill>
                  <a:schemeClr val="bg1"/>
                </a:solidFill>
              </a:rPr>
              <a:t>respectivamente.</a:t>
            </a:r>
          </a:p>
        </p:txBody>
      </p:sp>
      <p:sp>
        <p:nvSpPr>
          <p:cNvPr id="5" name="Rectángulo 4">
            <a:extLst>
              <a:ext uri="{FF2B5EF4-FFF2-40B4-BE49-F238E27FC236}">
                <a16:creationId xmlns:a16="http://schemas.microsoft.com/office/drawing/2014/main" id="{DBE7D310-C7A0-CD47-AA43-BB99B817FCD1}"/>
              </a:ext>
            </a:extLst>
          </p:cNvPr>
          <p:cNvSpPr/>
          <p:nvPr/>
        </p:nvSpPr>
        <p:spPr>
          <a:xfrm>
            <a:off x="1482437" y="3936830"/>
            <a:ext cx="6096000" cy="1015663"/>
          </a:xfrm>
          <a:prstGeom prst="rect">
            <a:avLst/>
          </a:prstGeom>
        </p:spPr>
        <p:txBody>
          <a:bodyPr>
            <a:spAutoFit/>
          </a:bodyPr>
          <a:lstStyle/>
          <a:p>
            <a:r>
              <a:rPr lang="es-CL" sz="2000" dirty="0">
                <a:solidFill>
                  <a:srgbClr val="F8F8F2"/>
                </a:solidFill>
                <a:latin typeface="Menlo" panose="020B0609030804020204" pitchFamily="49" charset="0"/>
              </a:rPr>
              <a:t>string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"Programacion"</a:t>
            </a:r>
            <a:endParaRPr lang="es-CL" sz="2000" dirty="0">
              <a:solidFill>
                <a:srgbClr val="F8F8F2"/>
              </a:solidFill>
              <a:latin typeface="Menlo" panose="020B0609030804020204" pitchFamily="49" charset="0"/>
            </a:endParaRPr>
          </a:p>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(string</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upper())</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PROGRAMACION</a:t>
            </a:r>
          </a:p>
        </p:txBody>
      </p:sp>
      <p:sp>
        <p:nvSpPr>
          <p:cNvPr id="6" name="Rectángulo 5">
            <a:extLst>
              <a:ext uri="{FF2B5EF4-FFF2-40B4-BE49-F238E27FC236}">
                <a16:creationId xmlns:a16="http://schemas.microsoft.com/office/drawing/2014/main" id="{BA7CC078-C36E-224D-9E48-6508705A175F}"/>
              </a:ext>
            </a:extLst>
          </p:cNvPr>
          <p:cNvSpPr/>
          <p:nvPr/>
        </p:nvSpPr>
        <p:spPr>
          <a:xfrm>
            <a:off x="6784711" y="3936831"/>
            <a:ext cx="6096000" cy="1015663"/>
          </a:xfrm>
          <a:prstGeom prst="rect">
            <a:avLst/>
          </a:prstGeom>
        </p:spPr>
        <p:txBody>
          <a:bodyPr>
            <a:spAutoFit/>
          </a:bodyPr>
          <a:lstStyle/>
          <a:p>
            <a:r>
              <a:rPr lang="es-CL" sz="2000" dirty="0">
                <a:solidFill>
                  <a:srgbClr val="F8F8F2"/>
                </a:solidFill>
                <a:latin typeface="Menlo" panose="020B0609030804020204" pitchFamily="49" charset="0"/>
              </a:rPr>
              <a:t>string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"Programacion"</a:t>
            </a:r>
            <a:endParaRPr lang="es-CL" sz="2000" dirty="0">
              <a:solidFill>
                <a:srgbClr val="F8F8F2"/>
              </a:solidFill>
              <a:latin typeface="Menlo" panose="020B0609030804020204" pitchFamily="49" charset="0"/>
            </a:endParaRPr>
          </a:p>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(string</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lower())</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programacion</a:t>
            </a:r>
          </a:p>
        </p:txBody>
      </p:sp>
    </p:spTree>
    <p:extLst>
      <p:ext uri="{BB962C8B-B14F-4D97-AF65-F5344CB8AC3E}">
        <p14:creationId xmlns:p14="http://schemas.microsoft.com/office/powerpoint/2010/main" val="2192602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BC6F3F-6D7F-6C42-873F-948E8BEF4657}"/>
              </a:ext>
            </a:extLst>
          </p:cNvPr>
          <p:cNvSpPr>
            <a:spLocks noGrp="1"/>
          </p:cNvSpPr>
          <p:nvPr>
            <p:ph type="title"/>
          </p:nvPr>
        </p:nvSpPr>
        <p:spPr/>
        <p:txBody>
          <a:bodyPr/>
          <a:lstStyle/>
          <a:p>
            <a:r>
              <a:rPr lang="es-CL" dirty="0">
                <a:solidFill>
                  <a:srgbClr val="66D9EF"/>
                </a:solidFill>
              </a:rPr>
              <a:t>.join()</a:t>
            </a:r>
          </a:p>
        </p:txBody>
      </p:sp>
      <p:sp>
        <p:nvSpPr>
          <p:cNvPr id="3" name="Marcador de contenido 2">
            <a:extLst>
              <a:ext uri="{FF2B5EF4-FFF2-40B4-BE49-F238E27FC236}">
                <a16:creationId xmlns:a16="http://schemas.microsoft.com/office/drawing/2014/main" id="{9977D5C2-AA10-6148-BD35-529829B33E67}"/>
              </a:ext>
            </a:extLst>
          </p:cNvPr>
          <p:cNvSpPr>
            <a:spLocks noGrp="1"/>
          </p:cNvSpPr>
          <p:nvPr>
            <p:ph idx="1"/>
          </p:nvPr>
        </p:nvSpPr>
        <p:spPr>
          <a:xfrm>
            <a:off x="1003900" y="2084832"/>
            <a:ext cx="10184199" cy="4023360"/>
          </a:xfrm>
        </p:spPr>
        <p:txBody>
          <a:bodyPr>
            <a:normAutofit/>
          </a:bodyPr>
          <a:lstStyle/>
          <a:p>
            <a:r>
              <a:rPr lang="es-CL" sz="2400" dirty="0">
                <a:solidFill>
                  <a:schemeClr val="bg1"/>
                </a:solidFill>
                <a:latin typeface="Consolas" panose="020B0609020204030204" pitchFamily="49" charset="0"/>
                <a:cs typeface="Consolas" panose="020B0609020204030204" pitchFamily="49" charset="0"/>
              </a:rPr>
              <a:t>s.join(lista_de_strings) </a:t>
            </a:r>
            <a:r>
              <a:rPr lang="es-CL" sz="2800" dirty="0">
                <a:solidFill>
                  <a:schemeClr val="bg1"/>
                </a:solidFill>
              </a:rPr>
              <a:t>permite unir la lista de string, usando el </a:t>
            </a:r>
            <a:r>
              <a:rPr lang="es-CL" sz="2400" dirty="0">
                <a:solidFill>
                  <a:schemeClr val="bg1"/>
                </a:solidFill>
                <a:latin typeface="Consolas" panose="020B0609020204030204" pitchFamily="49" charset="0"/>
                <a:cs typeface="Consolas" panose="020B0609020204030204" pitchFamily="49" charset="0"/>
              </a:rPr>
              <a:t>s</a:t>
            </a:r>
            <a:r>
              <a:rPr lang="es-CL" sz="2800" dirty="0">
                <a:solidFill>
                  <a:schemeClr val="bg1"/>
                </a:solidFill>
              </a:rPr>
              <a:t> como “pegamento”.</a:t>
            </a:r>
          </a:p>
        </p:txBody>
      </p:sp>
      <p:sp>
        <p:nvSpPr>
          <p:cNvPr id="4" name="Rectángulo 3">
            <a:extLst>
              <a:ext uri="{FF2B5EF4-FFF2-40B4-BE49-F238E27FC236}">
                <a16:creationId xmlns:a16="http://schemas.microsoft.com/office/drawing/2014/main" id="{10BB60F1-2063-254F-9D8C-D56E2C59A16F}"/>
              </a:ext>
            </a:extLst>
          </p:cNvPr>
          <p:cNvSpPr/>
          <p:nvPr/>
        </p:nvSpPr>
        <p:spPr>
          <a:xfrm>
            <a:off x="3545655" y="3422220"/>
            <a:ext cx="6096000" cy="1015663"/>
          </a:xfrm>
          <a:prstGeom prst="rect">
            <a:avLst/>
          </a:prstGeom>
        </p:spPr>
        <p:txBody>
          <a:bodyPr>
            <a:spAutoFit/>
          </a:bodyPr>
          <a:lstStyle/>
          <a:p>
            <a:r>
              <a:rPr lang="es-CL" sz="2000" dirty="0">
                <a:solidFill>
                  <a:srgbClr val="F8F8F2"/>
                </a:solidFill>
                <a:latin typeface="Menlo" panose="020B0609030804020204" pitchFamily="49" charset="0"/>
              </a:rPr>
              <a:t>lista1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"iwi"</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"1"</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"3"</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"1"</a:t>
            </a:r>
            <a:r>
              <a:rPr lang="es-CL" sz="2000" dirty="0">
                <a:solidFill>
                  <a:srgbClr val="F8F8F2"/>
                </a:solidFill>
                <a:latin typeface="Menlo" panose="020B0609030804020204" pitchFamily="49" charset="0"/>
              </a:rPr>
              <a:t>]</a:t>
            </a:r>
          </a:p>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a:t>
            </a:r>
            <a:r>
              <a:rPr lang="es-CL" sz="2000" dirty="0">
                <a:solidFill>
                  <a:srgbClr val="E6DB74"/>
                </a:solidFill>
                <a:latin typeface="Menlo" panose="020B0609030804020204" pitchFamily="49" charset="0"/>
              </a:rPr>
              <a:t>""</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join(lista1))</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iwi131 </a:t>
            </a:r>
          </a:p>
        </p:txBody>
      </p:sp>
      <p:sp>
        <p:nvSpPr>
          <p:cNvPr id="5" name="Rectángulo 4">
            <a:extLst>
              <a:ext uri="{FF2B5EF4-FFF2-40B4-BE49-F238E27FC236}">
                <a16:creationId xmlns:a16="http://schemas.microsoft.com/office/drawing/2014/main" id="{F415099A-10E3-2D44-B655-8FC14D438C94}"/>
              </a:ext>
            </a:extLst>
          </p:cNvPr>
          <p:cNvSpPr/>
          <p:nvPr/>
        </p:nvSpPr>
        <p:spPr>
          <a:xfrm>
            <a:off x="3545655" y="4758850"/>
            <a:ext cx="6096000" cy="1015663"/>
          </a:xfrm>
          <a:prstGeom prst="rect">
            <a:avLst/>
          </a:prstGeom>
        </p:spPr>
        <p:txBody>
          <a:bodyPr>
            <a:spAutoFit/>
          </a:bodyPr>
          <a:lstStyle/>
          <a:p>
            <a:r>
              <a:rPr lang="es-CL" sz="2000" dirty="0">
                <a:solidFill>
                  <a:srgbClr val="F8F8F2"/>
                </a:solidFill>
                <a:latin typeface="Menlo" panose="020B0609030804020204" pitchFamily="49" charset="0"/>
              </a:rPr>
              <a:t>lista2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a:t>
            </a:r>
            <a:r>
              <a:rPr lang="es-CL" sz="2000" dirty="0">
                <a:solidFill>
                  <a:srgbClr val="E6DB74"/>
                </a:solidFill>
                <a:latin typeface="Menlo" panose="020B0609030804020204" pitchFamily="49" charset="0"/>
              </a:rPr>
              <a:t>"1"</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"2"</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"3"</a:t>
            </a:r>
            <a:r>
              <a:rPr lang="es-CL" sz="2000" dirty="0">
                <a:solidFill>
                  <a:srgbClr val="F8F8F2"/>
                </a:solidFill>
                <a:latin typeface="Menlo" panose="020B0609030804020204" pitchFamily="49" charset="0"/>
              </a:rPr>
              <a:t>]</a:t>
            </a:r>
          </a:p>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a:t>
            </a:r>
            <a:r>
              <a:rPr lang="es-CL" sz="2000" dirty="0">
                <a:solidFill>
                  <a:srgbClr val="E6DB74"/>
                </a:solidFill>
                <a:latin typeface="Menlo" panose="020B0609030804020204" pitchFamily="49" charset="0"/>
              </a:rPr>
              <a:t>"--&gt;"</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join(lista2))</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1</a:t>
            </a:r>
            <a:r>
              <a:rPr lang="es-CL" sz="2000" dirty="0">
                <a:solidFill>
                  <a:srgbClr val="F92672"/>
                </a:solidFill>
                <a:latin typeface="Menlo" panose="020B0609030804020204" pitchFamily="49" charset="0"/>
              </a:rPr>
              <a:t>--&gt;</a:t>
            </a:r>
            <a:r>
              <a:rPr lang="es-CL" sz="2000" dirty="0">
                <a:solidFill>
                  <a:srgbClr val="AE81FF"/>
                </a:solidFill>
                <a:latin typeface="Menlo" panose="020B0609030804020204" pitchFamily="49" charset="0"/>
              </a:rPr>
              <a:t>2</a:t>
            </a:r>
            <a:r>
              <a:rPr lang="es-CL" sz="2000" dirty="0">
                <a:solidFill>
                  <a:srgbClr val="F92672"/>
                </a:solidFill>
                <a:latin typeface="Menlo" panose="020B0609030804020204" pitchFamily="49" charset="0"/>
              </a:rPr>
              <a:t>--&gt;</a:t>
            </a:r>
            <a:r>
              <a:rPr lang="es-CL" sz="2000" dirty="0">
                <a:solidFill>
                  <a:srgbClr val="AE81FF"/>
                </a:solidFill>
                <a:latin typeface="Menlo" panose="020B0609030804020204" pitchFamily="49" charset="0"/>
              </a:rPr>
              <a:t>3</a:t>
            </a:r>
            <a:endParaRPr lang="es-CL" sz="2000" dirty="0">
              <a:solidFill>
                <a:srgbClr val="F8F8F2"/>
              </a:solidFill>
              <a:latin typeface="Menlo" panose="020B0609030804020204" pitchFamily="49" charset="0"/>
            </a:endParaRPr>
          </a:p>
        </p:txBody>
      </p:sp>
    </p:spTree>
    <p:extLst>
      <p:ext uri="{BB962C8B-B14F-4D97-AF65-F5344CB8AC3E}">
        <p14:creationId xmlns:p14="http://schemas.microsoft.com/office/powerpoint/2010/main" val="3720562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9FE7D7-6D33-5F45-86E0-A46F23B0B5D0}"/>
              </a:ext>
            </a:extLst>
          </p:cNvPr>
          <p:cNvSpPr>
            <a:spLocks noGrp="1"/>
          </p:cNvSpPr>
          <p:nvPr>
            <p:ph type="title"/>
          </p:nvPr>
        </p:nvSpPr>
        <p:spPr/>
        <p:txBody>
          <a:bodyPr/>
          <a:lstStyle/>
          <a:p>
            <a:r>
              <a:rPr lang="es-CL" dirty="0">
                <a:solidFill>
                  <a:srgbClr val="66D9EF"/>
                </a:solidFill>
              </a:rPr>
              <a:t>.split()</a:t>
            </a:r>
          </a:p>
        </p:txBody>
      </p:sp>
      <p:sp>
        <p:nvSpPr>
          <p:cNvPr id="3" name="Marcador de contenido 2">
            <a:extLst>
              <a:ext uri="{FF2B5EF4-FFF2-40B4-BE49-F238E27FC236}">
                <a16:creationId xmlns:a16="http://schemas.microsoft.com/office/drawing/2014/main" id="{1ADFF251-B1E5-3C4B-89F0-879FCB48AFBF}"/>
              </a:ext>
            </a:extLst>
          </p:cNvPr>
          <p:cNvSpPr>
            <a:spLocks noGrp="1"/>
          </p:cNvSpPr>
          <p:nvPr>
            <p:ph idx="1"/>
          </p:nvPr>
        </p:nvSpPr>
        <p:spPr>
          <a:xfrm>
            <a:off x="1024128" y="1911926"/>
            <a:ext cx="10502854" cy="4849091"/>
          </a:xfrm>
        </p:spPr>
        <p:txBody>
          <a:bodyPr>
            <a:normAutofit/>
          </a:bodyPr>
          <a:lstStyle/>
          <a:p>
            <a:r>
              <a:rPr lang="es-CL" sz="2400" dirty="0">
                <a:solidFill>
                  <a:schemeClr val="bg1"/>
                </a:solidFill>
                <a:latin typeface="Consolas" panose="020B0609020204030204" pitchFamily="49" charset="0"/>
                <a:cs typeface="Consolas" panose="020B0609020204030204" pitchFamily="49" charset="0"/>
              </a:rPr>
              <a:t>s.split() </a:t>
            </a:r>
            <a:r>
              <a:rPr lang="es-CL" sz="2800" dirty="0">
                <a:solidFill>
                  <a:schemeClr val="bg1"/>
                </a:solidFill>
              </a:rPr>
              <a:t>separa el strings en varios strings, usando los espacios en blanco como separador. El valor retornado es </a:t>
            </a:r>
            <a:r>
              <a:rPr lang="es-CL" sz="2800" b="1" dirty="0">
                <a:solidFill>
                  <a:srgbClr val="FD971F"/>
                </a:solidFill>
              </a:rPr>
              <a:t>una lista </a:t>
            </a:r>
            <a:r>
              <a:rPr lang="es-CL" sz="2800" dirty="0">
                <a:solidFill>
                  <a:schemeClr val="bg1"/>
                </a:solidFill>
              </a:rPr>
              <a:t>de strings.</a:t>
            </a: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r>
              <a:rPr lang="es-CL" sz="2800" dirty="0">
                <a:solidFill>
                  <a:schemeClr val="bg1"/>
                </a:solidFill>
              </a:rPr>
              <a:t>Además, es posible pasar un parámetro al método </a:t>
            </a:r>
            <a:r>
              <a:rPr lang="es-CL" sz="2400" dirty="0">
                <a:solidFill>
                  <a:schemeClr val="bg1"/>
                </a:solidFill>
                <a:latin typeface="Consolas" panose="020B0609020204030204" pitchFamily="49" charset="0"/>
                <a:cs typeface="Consolas" panose="020B0609020204030204" pitchFamily="49" charset="0"/>
              </a:rPr>
              <a:t>split</a:t>
            </a:r>
            <a:r>
              <a:rPr lang="es-CL" sz="2800" dirty="0">
                <a:solidFill>
                  <a:schemeClr val="bg1"/>
                </a:solidFill>
              </a:rPr>
              <a:t> que indica cuál será </a:t>
            </a:r>
            <a:r>
              <a:rPr lang="es-CL" sz="3200" dirty="0">
                <a:solidFill>
                  <a:srgbClr val="A6E22E"/>
                </a:solidFill>
              </a:rPr>
              <a:t>el separador </a:t>
            </a:r>
            <a:r>
              <a:rPr lang="es-CL" sz="2800" dirty="0">
                <a:solidFill>
                  <a:schemeClr val="bg1"/>
                </a:solidFill>
              </a:rPr>
              <a:t>a usar (en vez de los espacios en blanco)</a:t>
            </a:r>
          </a:p>
        </p:txBody>
      </p:sp>
      <p:sp>
        <p:nvSpPr>
          <p:cNvPr id="4" name="Rectángulo 3">
            <a:extLst>
              <a:ext uri="{FF2B5EF4-FFF2-40B4-BE49-F238E27FC236}">
                <a16:creationId xmlns:a16="http://schemas.microsoft.com/office/drawing/2014/main" id="{750CDCCD-21B9-A445-9099-BF3A7125187D}"/>
              </a:ext>
            </a:extLst>
          </p:cNvPr>
          <p:cNvSpPr/>
          <p:nvPr/>
        </p:nvSpPr>
        <p:spPr>
          <a:xfrm>
            <a:off x="1793055" y="3050554"/>
            <a:ext cx="8965000" cy="1015663"/>
          </a:xfrm>
          <a:prstGeom prst="rect">
            <a:avLst/>
          </a:prstGeom>
        </p:spPr>
        <p:txBody>
          <a:bodyPr wrap="square">
            <a:spAutoFit/>
          </a:bodyPr>
          <a:lstStyle/>
          <a:p>
            <a:r>
              <a:rPr lang="es-CL" sz="2000" dirty="0">
                <a:solidFill>
                  <a:srgbClr val="F8F8F2"/>
                </a:solidFill>
                <a:latin typeface="Menlo" panose="020B0609030804020204" pitchFamily="49" charset="0"/>
              </a:rPr>
              <a:t>oracion1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"Me gusta Python, pero prefiero C++"</a:t>
            </a:r>
            <a:endParaRPr lang="es-CL" sz="2000" dirty="0">
              <a:solidFill>
                <a:srgbClr val="F8F8F2"/>
              </a:solidFill>
              <a:latin typeface="Menlo" panose="020B0609030804020204" pitchFamily="49" charset="0"/>
            </a:endParaRPr>
          </a:p>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(oracion1</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"Me"</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"gusta"</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"Python,"</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"pero"</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"prefiero"</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"C++"</a:t>
            </a:r>
            <a:r>
              <a:rPr lang="es-CL" sz="2000" dirty="0">
                <a:solidFill>
                  <a:srgbClr val="F8F8F2"/>
                </a:solidFill>
                <a:latin typeface="Menlo" panose="020B0609030804020204" pitchFamily="49" charset="0"/>
              </a:rPr>
              <a:t>]</a:t>
            </a:r>
          </a:p>
        </p:txBody>
      </p:sp>
      <p:sp>
        <p:nvSpPr>
          <p:cNvPr id="5" name="Rectángulo 4">
            <a:extLst>
              <a:ext uri="{FF2B5EF4-FFF2-40B4-BE49-F238E27FC236}">
                <a16:creationId xmlns:a16="http://schemas.microsoft.com/office/drawing/2014/main" id="{CDFD4844-B818-924C-AD92-1437848E3465}"/>
              </a:ext>
            </a:extLst>
          </p:cNvPr>
          <p:cNvSpPr/>
          <p:nvPr/>
        </p:nvSpPr>
        <p:spPr>
          <a:xfrm>
            <a:off x="2792245" y="5564898"/>
            <a:ext cx="7799555" cy="707886"/>
          </a:xfrm>
          <a:prstGeom prst="rect">
            <a:avLst/>
          </a:prstGeom>
        </p:spPr>
        <p:txBody>
          <a:bodyPr wrap="square">
            <a:spAutoFit/>
          </a:bodyPr>
          <a:lstStyle/>
          <a:p>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(oracion1</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a:t>
            </a:r>
            <a:r>
              <a:rPr lang="es-CL" sz="2000" dirty="0">
                <a:solidFill>
                  <a:srgbClr val="F8F8F2"/>
                </a:solidFill>
                <a:latin typeface="Menlo" panose="020B0609030804020204" pitchFamily="49" charset="0"/>
              </a:rPr>
              <a:t>))</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"Me gusta Python"</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"pero prefiero C++"</a:t>
            </a:r>
            <a:r>
              <a:rPr lang="es-CL" sz="2000" dirty="0">
                <a:solidFill>
                  <a:srgbClr val="F8F8F2"/>
                </a:solidFill>
                <a:latin typeface="Menlo" panose="020B0609030804020204" pitchFamily="49" charset="0"/>
              </a:rPr>
              <a:t>]</a:t>
            </a:r>
          </a:p>
        </p:txBody>
      </p:sp>
    </p:spTree>
    <p:extLst>
      <p:ext uri="{BB962C8B-B14F-4D97-AF65-F5344CB8AC3E}">
        <p14:creationId xmlns:p14="http://schemas.microsoft.com/office/powerpoint/2010/main" val="3148856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C5AE43-D045-FA43-800B-E3CB02C3F80F}"/>
              </a:ext>
            </a:extLst>
          </p:cNvPr>
          <p:cNvSpPr>
            <a:spLocks noGrp="1"/>
          </p:cNvSpPr>
          <p:nvPr>
            <p:ph type="title"/>
          </p:nvPr>
        </p:nvSpPr>
        <p:spPr/>
        <p:txBody>
          <a:bodyPr/>
          <a:lstStyle/>
          <a:p>
            <a:r>
              <a:rPr lang="es-CL" dirty="0">
                <a:solidFill>
                  <a:srgbClr val="66D9EF"/>
                </a:solidFill>
              </a:rPr>
              <a:t>list()</a:t>
            </a:r>
          </a:p>
        </p:txBody>
      </p:sp>
      <p:sp>
        <p:nvSpPr>
          <p:cNvPr id="3" name="Marcador de contenido 2">
            <a:extLst>
              <a:ext uri="{FF2B5EF4-FFF2-40B4-BE49-F238E27FC236}">
                <a16:creationId xmlns:a16="http://schemas.microsoft.com/office/drawing/2014/main" id="{1D0E37D4-2934-4140-B88D-5B133CFAA8E1}"/>
              </a:ext>
            </a:extLst>
          </p:cNvPr>
          <p:cNvSpPr>
            <a:spLocks noGrp="1"/>
          </p:cNvSpPr>
          <p:nvPr>
            <p:ph idx="1"/>
          </p:nvPr>
        </p:nvSpPr>
        <p:spPr>
          <a:xfrm>
            <a:off x="1024128" y="2084832"/>
            <a:ext cx="9720073" cy="4023360"/>
          </a:xfrm>
        </p:spPr>
        <p:txBody>
          <a:bodyPr>
            <a:normAutofit/>
          </a:bodyPr>
          <a:lstStyle/>
          <a:p>
            <a:r>
              <a:rPr lang="es-CL" sz="2800" dirty="0">
                <a:solidFill>
                  <a:schemeClr val="bg1"/>
                </a:solidFill>
              </a:rPr>
              <a:t>Al aplicar </a:t>
            </a:r>
            <a:r>
              <a:rPr lang="es-CL" sz="2400" dirty="0">
                <a:solidFill>
                  <a:schemeClr val="bg1"/>
                </a:solidFill>
                <a:latin typeface="Consolas" panose="020B0609020204030204" pitchFamily="49" charset="0"/>
                <a:cs typeface="Consolas" panose="020B0609020204030204" pitchFamily="49" charset="0"/>
              </a:rPr>
              <a:t>list() </a:t>
            </a:r>
            <a:r>
              <a:rPr lang="es-CL" sz="2800" dirty="0">
                <a:solidFill>
                  <a:schemeClr val="bg1"/>
                </a:solidFill>
              </a:rPr>
              <a:t>sobre un string, obtenemos el conjunto de las letras y todos los simbolos especiales, que forman parte del string.</a:t>
            </a:r>
          </a:p>
        </p:txBody>
      </p:sp>
      <p:sp>
        <p:nvSpPr>
          <p:cNvPr id="4" name="Rectángulo 3">
            <a:extLst>
              <a:ext uri="{FF2B5EF4-FFF2-40B4-BE49-F238E27FC236}">
                <a16:creationId xmlns:a16="http://schemas.microsoft.com/office/drawing/2014/main" id="{EE11B1B9-818E-0C40-89A9-A9EB6724F16D}"/>
              </a:ext>
            </a:extLst>
          </p:cNvPr>
          <p:cNvSpPr/>
          <p:nvPr/>
        </p:nvSpPr>
        <p:spPr>
          <a:xfrm>
            <a:off x="2590799" y="3584448"/>
            <a:ext cx="10390910" cy="1569660"/>
          </a:xfrm>
          <a:prstGeom prst="rect">
            <a:avLst/>
          </a:prstGeom>
        </p:spPr>
        <p:txBody>
          <a:bodyPr wrap="square">
            <a:spAutoFit/>
          </a:bodyPr>
          <a:lstStyle/>
          <a:p>
            <a:r>
              <a:rPr lang="es-CL" sz="2400" dirty="0">
                <a:solidFill>
                  <a:srgbClr val="66D9EF"/>
                </a:solidFill>
                <a:latin typeface="Menlo" panose="020B0609030804020204" pitchFamily="49" charset="0"/>
              </a:rPr>
              <a:t>print</a:t>
            </a:r>
            <a:r>
              <a:rPr lang="es-CL" sz="2400" dirty="0">
                <a:solidFill>
                  <a:srgbClr val="F8F8F2"/>
                </a:solidFill>
                <a:latin typeface="Menlo" panose="020B0609030804020204" pitchFamily="49" charset="0"/>
              </a:rPr>
              <a:t>(list(</a:t>
            </a:r>
            <a:r>
              <a:rPr lang="es-CL" sz="2400" dirty="0">
                <a:solidFill>
                  <a:srgbClr val="E6DB74"/>
                </a:solidFill>
                <a:latin typeface="Menlo" panose="020B0609030804020204" pitchFamily="49" charset="0"/>
              </a:rPr>
              <a:t>"Python es facil"</a:t>
            </a:r>
            <a:r>
              <a:rPr lang="es-CL" sz="2400" dirty="0">
                <a:solidFill>
                  <a:srgbClr val="F8F8F2"/>
                </a:solidFill>
                <a:latin typeface="Menlo" panose="020B0609030804020204" pitchFamily="49" charset="0"/>
              </a:rPr>
              <a:t>))</a:t>
            </a:r>
          </a:p>
          <a:p>
            <a:r>
              <a:rPr lang="es-CL" sz="2400" dirty="0">
                <a:solidFill>
                  <a:srgbClr val="F92672"/>
                </a:solidFill>
                <a:latin typeface="Menlo" panose="020B0609030804020204" pitchFamily="49" charset="0"/>
              </a:rPr>
              <a:t>&gt;&gt;</a:t>
            </a:r>
            <a:r>
              <a:rPr lang="es-CL" sz="2400" dirty="0">
                <a:solidFill>
                  <a:srgbClr val="F8F8F2"/>
                </a:solidFill>
                <a:latin typeface="Menlo" panose="020B0609030804020204" pitchFamily="49" charset="0"/>
              </a:rPr>
              <a:t> </a:t>
            </a:r>
            <a:r>
              <a:rPr lang="es-CL" sz="2400" dirty="0">
                <a:solidFill>
                  <a:srgbClr val="F92672"/>
                </a:solidFill>
                <a:latin typeface="Menlo" panose="020B0609030804020204" pitchFamily="49" charset="0"/>
              </a:rPr>
              <a:t>&gt;</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"P"</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"y"</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"t"</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"h"</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"o"</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"n"</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 "</a:t>
            </a:r>
            <a:r>
              <a:rPr lang="es-CL" sz="2400" dirty="0">
                <a:solidFill>
                  <a:srgbClr val="F8F8F2"/>
                </a:solidFill>
                <a:latin typeface="Menlo" panose="020B0609030804020204" pitchFamily="49" charset="0"/>
              </a:rPr>
              <a:t>,</a:t>
            </a:r>
          </a:p>
          <a:p>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"e"</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"s"</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 "</a:t>
            </a:r>
            <a:r>
              <a:rPr lang="es-CL" sz="2400" dirty="0">
                <a:solidFill>
                  <a:srgbClr val="F8F8F2"/>
                </a:solidFill>
                <a:latin typeface="Menlo" panose="020B0609030804020204" pitchFamily="49" charset="0"/>
              </a:rPr>
              <a:t>,</a:t>
            </a:r>
          </a:p>
          <a:p>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"f"</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"a"</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"c"</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"i"</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"l"</a:t>
            </a:r>
            <a:r>
              <a:rPr lang="es-CL" sz="2400" dirty="0">
                <a:solidFill>
                  <a:srgbClr val="F8F8F2"/>
                </a:solidFill>
                <a:latin typeface="Menlo" panose="020B0609030804020204" pitchFamily="49" charset="0"/>
              </a:rPr>
              <a:t>]</a:t>
            </a:r>
          </a:p>
        </p:txBody>
      </p:sp>
    </p:spTree>
    <p:extLst>
      <p:ext uri="{BB962C8B-B14F-4D97-AF65-F5344CB8AC3E}">
        <p14:creationId xmlns:p14="http://schemas.microsoft.com/office/powerpoint/2010/main" val="1774633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1C5270-2C08-7542-8843-D55D2FDB9A63}"/>
              </a:ext>
            </a:extLst>
          </p:cNvPr>
          <p:cNvSpPr>
            <a:spLocks noGrp="1"/>
          </p:cNvSpPr>
          <p:nvPr>
            <p:ph type="title"/>
          </p:nvPr>
        </p:nvSpPr>
        <p:spPr/>
        <p:txBody>
          <a:bodyPr/>
          <a:lstStyle/>
          <a:p>
            <a:r>
              <a:rPr lang="es-CL" dirty="0">
                <a:solidFill>
                  <a:srgbClr val="66D9EF"/>
                </a:solidFill>
              </a:rPr>
              <a:t>Saltos de Línea</a:t>
            </a:r>
          </a:p>
        </p:txBody>
      </p:sp>
      <p:sp>
        <p:nvSpPr>
          <p:cNvPr id="3" name="Marcador de contenido 2">
            <a:extLst>
              <a:ext uri="{FF2B5EF4-FFF2-40B4-BE49-F238E27FC236}">
                <a16:creationId xmlns:a16="http://schemas.microsoft.com/office/drawing/2014/main" id="{7100F8D9-D893-C646-81BC-82F439A723C7}"/>
              </a:ext>
            </a:extLst>
          </p:cNvPr>
          <p:cNvSpPr>
            <a:spLocks noGrp="1"/>
          </p:cNvSpPr>
          <p:nvPr>
            <p:ph idx="1"/>
          </p:nvPr>
        </p:nvSpPr>
        <p:spPr>
          <a:xfrm>
            <a:off x="1024127" y="2084832"/>
            <a:ext cx="9720073" cy="4023360"/>
          </a:xfrm>
        </p:spPr>
        <p:txBody>
          <a:bodyPr>
            <a:normAutofit/>
          </a:bodyPr>
          <a:lstStyle/>
          <a:p>
            <a:r>
              <a:rPr lang="es-CL" sz="2800" dirty="0">
                <a:solidFill>
                  <a:schemeClr val="bg1"/>
                </a:solidFill>
              </a:rPr>
              <a:t>Un string puede contener caracteres de </a:t>
            </a:r>
            <a:r>
              <a:rPr lang="es-CL" sz="2800" b="1" dirty="0">
                <a:solidFill>
                  <a:schemeClr val="bg1"/>
                </a:solidFill>
              </a:rPr>
              <a:t>salto de línea</a:t>
            </a:r>
            <a:r>
              <a:rPr lang="es-CL" sz="2800" dirty="0">
                <a:solidFill>
                  <a:schemeClr val="bg1"/>
                </a:solidFill>
              </a:rPr>
              <a:t>, que tienen el efecto equivalente al de presionar la tecla Enter. El carácter de salto de línea se representa con \n. Los saltos de linea </a:t>
            </a:r>
            <a:r>
              <a:rPr lang="es-CL" sz="2800" b="1" dirty="0">
                <a:solidFill>
                  <a:srgbClr val="A6E22E"/>
                </a:solidFill>
              </a:rPr>
              <a:t>se cuentan </a:t>
            </a:r>
            <a:r>
              <a:rPr lang="es-CL" sz="2800" dirty="0">
                <a:solidFill>
                  <a:schemeClr val="bg1"/>
                </a:solidFill>
              </a:rPr>
              <a:t>en el largo de string, como 1 solo carácter.</a:t>
            </a:r>
          </a:p>
        </p:txBody>
      </p:sp>
      <p:sp>
        <p:nvSpPr>
          <p:cNvPr id="5" name="Rectángulo 4">
            <a:extLst>
              <a:ext uri="{FF2B5EF4-FFF2-40B4-BE49-F238E27FC236}">
                <a16:creationId xmlns:a16="http://schemas.microsoft.com/office/drawing/2014/main" id="{BA4A3ED3-729B-6240-BEEE-B7C4F4F7310B}"/>
              </a:ext>
            </a:extLst>
          </p:cNvPr>
          <p:cNvSpPr/>
          <p:nvPr/>
        </p:nvSpPr>
        <p:spPr>
          <a:xfrm>
            <a:off x="3186545" y="4214291"/>
            <a:ext cx="6096000" cy="1631216"/>
          </a:xfrm>
          <a:prstGeom prst="rect">
            <a:avLst/>
          </a:prstGeom>
        </p:spPr>
        <p:txBody>
          <a:bodyPr>
            <a:spAutoFit/>
          </a:bodyPr>
          <a:lstStyle/>
          <a:p>
            <a:r>
              <a:rPr lang="es-CL" sz="2000" dirty="0">
                <a:solidFill>
                  <a:srgbClr val="F8F8F2"/>
                </a:solidFill>
                <a:latin typeface="Menlo" panose="020B0609030804020204" pitchFamily="49" charset="0"/>
              </a:rPr>
              <a:t>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"hurones</a:t>
            </a:r>
            <a:r>
              <a:rPr lang="es-CL" sz="2000" dirty="0">
                <a:solidFill>
                  <a:srgbClr val="AE81FF"/>
                </a:solidFill>
                <a:latin typeface="Menlo" panose="020B0609030804020204" pitchFamily="49" charset="0"/>
              </a:rPr>
              <a:t>\n</a:t>
            </a:r>
            <a:r>
              <a:rPr lang="es-CL" sz="2000" dirty="0">
                <a:solidFill>
                  <a:srgbClr val="E6DB74"/>
                </a:solidFill>
                <a:latin typeface="Menlo" panose="020B0609030804020204" pitchFamily="49" charset="0"/>
              </a:rPr>
              <a:t>gatitos</a:t>
            </a:r>
            <a:r>
              <a:rPr lang="es-CL" sz="2000" dirty="0">
                <a:solidFill>
                  <a:srgbClr val="AE81FF"/>
                </a:solidFill>
                <a:latin typeface="Menlo" panose="020B0609030804020204" pitchFamily="49" charset="0"/>
              </a:rPr>
              <a:t>\n</a:t>
            </a:r>
            <a:r>
              <a:rPr lang="es-CL" sz="2000" dirty="0">
                <a:solidFill>
                  <a:srgbClr val="E6DB74"/>
                </a:solidFill>
                <a:latin typeface="Menlo" panose="020B0609030804020204" pitchFamily="49" charset="0"/>
              </a:rPr>
              <a:t>perritos"</a:t>
            </a:r>
            <a:endParaRPr lang="es-CL" sz="2000" dirty="0">
              <a:solidFill>
                <a:srgbClr val="F8F8F2"/>
              </a:solidFill>
              <a:latin typeface="Menlo" panose="020B0609030804020204" pitchFamily="49" charset="0"/>
            </a:endParaRP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hurones</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gatitos</a:t>
            </a: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perritos</a:t>
            </a:r>
          </a:p>
          <a:p>
            <a:endParaRPr lang="es-CL" sz="2000" dirty="0">
              <a:solidFill>
                <a:srgbClr val="F8F8F2"/>
              </a:solidFill>
              <a:latin typeface="Menlo" panose="020B0609030804020204" pitchFamily="49" charset="0"/>
            </a:endParaRPr>
          </a:p>
        </p:txBody>
      </p:sp>
    </p:spTree>
    <p:extLst>
      <p:ext uri="{BB962C8B-B14F-4D97-AF65-F5344CB8AC3E}">
        <p14:creationId xmlns:p14="http://schemas.microsoft.com/office/powerpoint/2010/main" val="3780547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AFB365-F8EA-B845-9D58-0AFA5A576D07}"/>
              </a:ext>
            </a:extLst>
          </p:cNvPr>
          <p:cNvSpPr>
            <a:spLocks noGrp="1"/>
          </p:cNvSpPr>
          <p:nvPr>
            <p:ph type="title"/>
          </p:nvPr>
        </p:nvSpPr>
        <p:spPr>
          <a:xfrm>
            <a:off x="1024128" y="585216"/>
            <a:ext cx="9720072" cy="1499616"/>
          </a:xfrm>
        </p:spPr>
        <p:txBody>
          <a:bodyPr/>
          <a:lstStyle/>
          <a:p>
            <a:r>
              <a:rPr lang="es-CL">
                <a:solidFill>
                  <a:srgbClr val="66D9EF"/>
                </a:solidFill>
              </a:rPr>
              <a:t>Archivos</a:t>
            </a:r>
            <a:endParaRPr lang="es-CL" dirty="0">
              <a:solidFill>
                <a:srgbClr val="66D9EF"/>
              </a:solidFill>
            </a:endParaRPr>
          </a:p>
        </p:txBody>
      </p:sp>
      <p:sp>
        <p:nvSpPr>
          <p:cNvPr id="3" name="Marcador de contenido 2">
            <a:extLst>
              <a:ext uri="{FF2B5EF4-FFF2-40B4-BE49-F238E27FC236}">
                <a16:creationId xmlns:a16="http://schemas.microsoft.com/office/drawing/2014/main" id="{7F7B049C-1038-584B-8B31-1483909D6B23}"/>
              </a:ext>
            </a:extLst>
          </p:cNvPr>
          <p:cNvSpPr>
            <a:spLocks noGrp="1"/>
          </p:cNvSpPr>
          <p:nvPr>
            <p:ph idx="1"/>
          </p:nvPr>
        </p:nvSpPr>
        <p:spPr>
          <a:xfrm>
            <a:off x="677765" y="2084832"/>
            <a:ext cx="5418235" cy="4328160"/>
          </a:xfrm>
        </p:spPr>
        <p:txBody>
          <a:bodyPr>
            <a:normAutofit/>
          </a:bodyPr>
          <a:lstStyle/>
          <a:p>
            <a:r>
              <a:rPr lang="es-CL" sz="2800" dirty="0">
                <a:solidFill>
                  <a:schemeClr val="bg1"/>
                </a:solidFill>
              </a:rPr>
              <a:t>Ahora que vimos que strings tienen muchas operaciones útiles, tenemos que preguntarnos: ¿habrá alguna manera de procesar el texto de la fuente externa (no un input de consola)?</a:t>
            </a:r>
          </a:p>
          <a:p>
            <a:r>
              <a:rPr lang="es-CL" sz="2800" dirty="0">
                <a:solidFill>
                  <a:schemeClr val="bg1"/>
                </a:solidFill>
              </a:rPr>
              <a:t>En efecto, Python provee varias heramientas de lectura de archivos.</a:t>
            </a:r>
          </a:p>
          <a:p>
            <a:endParaRPr lang="es-CL" sz="2800" dirty="0">
              <a:solidFill>
                <a:schemeClr val="bg1"/>
              </a:solidFill>
            </a:endParaRPr>
          </a:p>
        </p:txBody>
      </p:sp>
      <p:pic>
        <p:nvPicPr>
          <p:cNvPr id="4" name="Imagen 3">
            <a:extLst>
              <a:ext uri="{FF2B5EF4-FFF2-40B4-BE49-F238E27FC236}">
                <a16:creationId xmlns:a16="http://schemas.microsoft.com/office/drawing/2014/main" id="{6DEB93B3-FD49-E448-AA7D-43559C599EF6}"/>
              </a:ext>
            </a:extLst>
          </p:cNvPr>
          <p:cNvPicPr>
            <a:picLocks noChangeAspect="1"/>
          </p:cNvPicPr>
          <p:nvPr/>
        </p:nvPicPr>
        <p:blipFill>
          <a:blip r:embed="rId2"/>
          <a:stretch>
            <a:fillRect/>
          </a:stretch>
        </p:blipFill>
        <p:spPr>
          <a:xfrm>
            <a:off x="6442363" y="1361189"/>
            <a:ext cx="5388841" cy="4135622"/>
          </a:xfrm>
          <a:prstGeom prst="rect">
            <a:avLst/>
          </a:prstGeom>
        </p:spPr>
      </p:pic>
      <p:sp>
        <p:nvSpPr>
          <p:cNvPr id="5" name="Marcador de contenido 2">
            <a:extLst>
              <a:ext uri="{FF2B5EF4-FFF2-40B4-BE49-F238E27FC236}">
                <a16:creationId xmlns:a16="http://schemas.microsoft.com/office/drawing/2014/main" id="{AB620BD0-EF6B-6743-962B-E8E3E7161580}"/>
              </a:ext>
            </a:extLst>
          </p:cNvPr>
          <p:cNvSpPr txBox="1">
            <a:spLocks/>
          </p:cNvSpPr>
          <p:nvPr/>
        </p:nvSpPr>
        <p:spPr>
          <a:xfrm>
            <a:off x="6576892" y="5647114"/>
            <a:ext cx="5418235" cy="43281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ctr"/>
            <a:r>
              <a:rPr lang="es-CL" sz="2400" dirty="0">
                <a:solidFill>
                  <a:schemeClr val="bg1"/>
                </a:solidFill>
              </a:rPr>
              <a:t>5 pasos en lectura de archivos usando Python.</a:t>
            </a:r>
          </a:p>
          <a:p>
            <a:pPr algn="ctr"/>
            <a:endParaRPr lang="es-CL" sz="2400" dirty="0">
              <a:solidFill>
                <a:schemeClr val="bg1"/>
              </a:solidFill>
            </a:endParaRPr>
          </a:p>
        </p:txBody>
      </p:sp>
    </p:spTree>
    <p:extLst>
      <p:ext uri="{BB962C8B-B14F-4D97-AF65-F5344CB8AC3E}">
        <p14:creationId xmlns:p14="http://schemas.microsoft.com/office/powerpoint/2010/main" val="589622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348363-C342-CC47-AF65-BE4426A005C8}"/>
              </a:ext>
            </a:extLst>
          </p:cNvPr>
          <p:cNvSpPr>
            <a:spLocks noGrp="1"/>
          </p:cNvSpPr>
          <p:nvPr>
            <p:ph type="title"/>
          </p:nvPr>
        </p:nvSpPr>
        <p:spPr/>
        <p:txBody>
          <a:bodyPr/>
          <a:lstStyle/>
          <a:p>
            <a:r>
              <a:rPr lang="es-CL" dirty="0">
                <a:solidFill>
                  <a:srgbClr val="66D9EF"/>
                </a:solidFill>
              </a:rPr>
              <a:t>Lectura de archivos</a:t>
            </a:r>
          </a:p>
        </p:txBody>
      </p:sp>
      <p:sp>
        <p:nvSpPr>
          <p:cNvPr id="3" name="Marcador de contenido 2">
            <a:extLst>
              <a:ext uri="{FF2B5EF4-FFF2-40B4-BE49-F238E27FC236}">
                <a16:creationId xmlns:a16="http://schemas.microsoft.com/office/drawing/2014/main" id="{0B50E747-EAC9-474E-AFE2-6CCF121B53FA}"/>
              </a:ext>
            </a:extLst>
          </p:cNvPr>
          <p:cNvSpPr>
            <a:spLocks noGrp="1"/>
          </p:cNvSpPr>
          <p:nvPr>
            <p:ph idx="1"/>
          </p:nvPr>
        </p:nvSpPr>
        <p:spPr>
          <a:xfrm>
            <a:off x="762001" y="2286000"/>
            <a:ext cx="11042072" cy="3986784"/>
          </a:xfrm>
        </p:spPr>
        <p:txBody>
          <a:bodyPr>
            <a:normAutofit/>
          </a:bodyPr>
          <a:lstStyle/>
          <a:p>
            <a:r>
              <a:rPr lang="es-CL" sz="2800" dirty="0">
                <a:solidFill>
                  <a:schemeClr val="bg1"/>
                </a:solidFill>
              </a:rPr>
              <a:t>Para leer datos de un archivo, hay que abrirlo de la siguiente manera:</a:t>
            </a:r>
          </a:p>
          <a:p>
            <a:r>
              <a:rPr lang="es-CL" sz="2800" dirty="0">
                <a:solidFill>
                  <a:schemeClr val="bg1"/>
                </a:solidFill>
                <a:latin typeface="Consolas" panose="020B0609020204030204" pitchFamily="49" charset="0"/>
                <a:cs typeface="Consolas" panose="020B0609020204030204" pitchFamily="49" charset="0"/>
              </a:rPr>
              <a:t>               archivo = </a:t>
            </a:r>
            <a:r>
              <a:rPr lang="es-CL" sz="2800" dirty="0">
                <a:solidFill>
                  <a:srgbClr val="66D9EF"/>
                </a:solidFill>
                <a:latin typeface="Consolas" panose="020B0609020204030204" pitchFamily="49" charset="0"/>
                <a:cs typeface="Consolas" panose="020B0609020204030204" pitchFamily="49" charset="0"/>
              </a:rPr>
              <a:t>open</a:t>
            </a:r>
            <a:r>
              <a:rPr lang="es-CL" sz="2800" dirty="0">
                <a:solidFill>
                  <a:schemeClr val="bg1"/>
                </a:solidFill>
                <a:latin typeface="Consolas" panose="020B0609020204030204" pitchFamily="49" charset="0"/>
                <a:cs typeface="Consolas" panose="020B0609020204030204" pitchFamily="49" charset="0"/>
              </a:rPr>
              <a:t>(nombre) </a:t>
            </a:r>
          </a:p>
          <a:p>
            <a:r>
              <a:rPr lang="es-CL" sz="2800" b="1" dirty="0">
                <a:solidFill>
                  <a:schemeClr val="bg1"/>
                </a:solidFill>
              </a:rPr>
              <a:t>nombre</a:t>
            </a:r>
            <a:r>
              <a:rPr lang="es-CL" sz="2800" dirty="0">
                <a:solidFill>
                  <a:schemeClr val="bg1"/>
                </a:solidFill>
              </a:rPr>
              <a:t> es un string que tiene el </a:t>
            </a:r>
            <a:r>
              <a:rPr lang="es-CL" sz="2800" b="1" dirty="0">
                <a:solidFill>
                  <a:schemeClr val="bg1"/>
                </a:solidFill>
              </a:rPr>
              <a:t>nombre del archivo</a:t>
            </a:r>
            <a:r>
              <a:rPr lang="es-CL" sz="2800" dirty="0">
                <a:solidFill>
                  <a:schemeClr val="bg1"/>
                </a:solidFill>
              </a:rPr>
              <a:t>. archivo es el archivo lógico a través del que se manipulará el archivo real.</a:t>
            </a:r>
          </a:p>
          <a:p>
            <a:r>
              <a:rPr lang="es-CL" sz="2800" dirty="0">
                <a:solidFill>
                  <a:schemeClr val="bg1"/>
                </a:solidFill>
              </a:rPr>
              <a:t>Si el archivo no existe, ocurrirá un </a:t>
            </a:r>
            <a:r>
              <a:rPr lang="es-CL" sz="2800" b="1" dirty="0">
                <a:solidFill>
                  <a:schemeClr val="bg1"/>
                </a:solidFill>
              </a:rPr>
              <a:t>error de entrada y salida</a:t>
            </a:r>
            <a:r>
              <a:rPr lang="es-CL" sz="2800" dirty="0">
                <a:solidFill>
                  <a:schemeClr val="bg1"/>
                </a:solidFill>
              </a:rPr>
              <a:t> (</a:t>
            </a:r>
            <a:r>
              <a:rPr lang="es-CL" sz="2800" b="1" dirty="0">
                <a:solidFill>
                  <a:srgbClr val="A6E22E"/>
                </a:solidFill>
              </a:rPr>
              <a:t>IOError</a:t>
            </a:r>
            <a:r>
              <a:rPr lang="es-CL" sz="2800" dirty="0">
                <a:solidFill>
                  <a:schemeClr val="bg1"/>
                </a:solidFill>
              </a:rPr>
              <a:t>).</a:t>
            </a:r>
          </a:p>
          <a:p>
            <a:r>
              <a:rPr lang="es-CL" sz="2800" dirty="0">
                <a:solidFill>
                  <a:schemeClr val="bg1"/>
                </a:solidFill>
              </a:rPr>
              <a:t>Es importante recordar que la variable archivo es una representación abstracta del archivo, y no los contenidos del mismo.</a:t>
            </a:r>
          </a:p>
          <a:p>
            <a:endParaRPr lang="es-CL" sz="2800" dirty="0">
              <a:solidFill>
                <a:schemeClr val="bg1"/>
              </a:solidFill>
            </a:endParaRPr>
          </a:p>
        </p:txBody>
      </p:sp>
    </p:spTree>
    <p:extLst>
      <p:ext uri="{BB962C8B-B14F-4D97-AF65-F5344CB8AC3E}">
        <p14:creationId xmlns:p14="http://schemas.microsoft.com/office/powerpoint/2010/main" val="397383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560ABC-2D4C-EC43-A8AE-CE6BF1BFF0BF}"/>
              </a:ext>
            </a:extLst>
          </p:cNvPr>
          <p:cNvSpPr>
            <a:spLocks noGrp="1"/>
          </p:cNvSpPr>
          <p:nvPr>
            <p:ph type="title"/>
          </p:nvPr>
        </p:nvSpPr>
        <p:spPr/>
        <p:txBody>
          <a:bodyPr/>
          <a:lstStyle/>
          <a:p>
            <a:r>
              <a:rPr lang="es-CL" dirty="0">
                <a:solidFill>
                  <a:srgbClr val="66D9EF"/>
                </a:solidFill>
              </a:rPr>
              <a:t>Lectura de archivos</a:t>
            </a:r>
          </a:p>
        </p:txBody>
      </p:sp>
      <p:sp>
        <p:nvSpPr>
          <p:cNvPr id="3" name="Marcador de contenido 2">
            <a:extLst>
              <a:ext uri="{FF2B5EF4-FFF2-40B4-BE49-F238E27FC236}">
                <a16:creationId xmlns:a16="http://schemas.microsoft.com/office/drawing/2014/main" id="{67BF84AE-28AF-6342-8B12-D32845712501}"/>
              </a:ext>
            </a:extLst>
          </p:cNvPr>
          <p:cNvSpPr>
            <a:spLocks noGrp="1"/>
          </p:cNvSpPr>
          <p:nvPr>
            <p:ph idx="1"/>
          </p:nvPr>
        </p:nvSpPr>
        <p:spPr>
          <a:xfrm>
            <a:off x="1024128" y="2084832"/>
            <a:ext cx="9720073" cy="4224528"/>
          </a:xfrm>
        </p:spPr>
        <p:txBody>
          <a:bodyPr>
            <a:normAutofit/>
          </a:bodyPr>
          <a:lstStyle/>
          <a:p>
            <a:r>
              <a:rPr lang="es-CL" sz="2800" dirty="0">
                <a:solidFill>
                  <a:schemeClr val="bg1"/>
                </a:solidFill>
              </a:rPr>
              <a:t>La manera más simple de leer el contenido es hacerlo línea por línea. Para esto, basta con poner el archivo lógico en un ciclo for:</a:t>
            </a: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r>
              <a:rPr lang="es-CL" sz="2800" dirty="0">
                <a:solidFill>
                  <a:schemeClr val="bg1"/>
                </a:solidFill>
              </a:rPr>
              <a:t>Una vez que los datos han sido leídos del archivo, hay que cerrarlo:</a:t>
            </a:r>
          </a:p>
        </p:txBody>
      </p:sp>
      <p:sp>
        <p:nvSpPr>
          <p:cNvPr id="4" name="Rectángulo 3">
            <a:extLst>
              <a:ext uri="{FF2B5EF4-FFF2-40B4-BE49-F238E27FC236}">
                <a16:creationId xmlns:a16="http://schemas.microsoft.com/office/drawing/2014/main" id="{08D97ECD-067A-6047-8D77-F25AB512BAA5}"/>
              </a:ext>
            </a:extLst>
          </p:cNvPr>
          <p:cNvSpPr/>
          <p:nvPr/>
        </p:nvSpPr>
        <p:spPr>
          <a:xfrm>
            <a:off x="3699164" y="3244380"/>
            <a:ext cx="6096000" cy="830997"/>
          </a:xfrm>
          <a:prstGeom prst="rect">
            <a:avLst/>
          </a:prstGeom>
        </p:spPr>
        <p:txBody>
          <a:bodyPr>
            <a:spAutoFit/>
          </a:bodyPr>
          <a:lstStyle/>
          <a:p>
            <a:r>
              <a:rPr lang="es-CL" sz="2400" dirty="0">
                <a:solidFill>
                  <a:srgbClr val="66D9EF"/>
                </a:solidFill>
                <a:latin typeface="Menlo" panose="020B0609030804020204" pitchFamily="49" charset="0"/>
              </a:rPr>
              <a:t>for</a:t>
            </a:r>
            <a:r>
              <a:rPr lang="es-CL" sz="2400" dirty="0">
                <a:solidFill>
                  <a:srgbClr val="F8F8F2"/>
                </a:solidFill>
                <a:latin typeface="Menlo" panose="020B0609030804020204" pitchFamily="49" charset="0"/>
              </a:rPr>
              <a:t> linea </a:t>
            </a:r>
            <a:r>
              <a:rPr lang="es-CL" sz="2400" dirty="0">
                <a:solidFill>
                  <a:srgbClr val="F92672"/>
                </a:solidFill>
                <a:latin typeface="Menlo" panose="020B0609030804020204" pitchFamily="49" charset="0"/>
              </a:rPr>
              <a:t>in</a:t>
            </a:r>
            <a:r>
              <a:rPr lang="es-CL" sz="2400" dirty="0">
                <a:solidFill>
                  <a:srgbClr val="F8F8F2"/>
                </a:solidFill>
                <a:latin typeface="Menlo" panose="020B0609030804020204" pitchFamily="49" charset="0"/>
              </a:rPr>
              <a:t> archivo:</a:t>
            </a:r>
          </a:p>
          <a:p>
            <a:r>
              <a:rPr lang="es-CL" sz="2400" dirty="0">
                <a:solidFill>
                  <a:srgbClr val="F8F8F2"/>
                </a:solidFill>
                <a:latin typeface="Menlo" panose="020B0609030804020204" pitchFamily="49" charset="0"/>
              </a:rPr>
              <a:t>    </a:t>
            </a:r>
            <a:r>
              <a:rPr lang="es-CL" sz="2400" dirty="0">
                <a:solidFill>
                  <a:srgbClr val="75715E"/>
                </a:solidFill>
                <a:latin typeface="Menlo" panose="020B0609030804020204" pitchFamily="49" charset="0"/>
              </a:rPr>
              <a:t># hacer algo</a:t>
            </a:r>
            <a:endParaRPr lang="es-CL" sz="2400" dirty="0">
              <a:solidFill>
                <a:srgbClr val="F8F8F2"/>
              </a:solidFill>
              <a:latin typeface="Menlo" panose="020B0609030804020204" pitchFamily="49" charset="0"/>
            </a:endParaRPr>
          </a:p>
        </p:txBody>
      </p:sp>
      <p:sp>
        <p:nvSpPr>
          <p:cNvPr id="5" name="Rectángulo 4">
            <a:extLst>
              <a:ext uri="{FF2B5EF4-FFF2-40B4-BE49-F238E27FC236}">
                <a16:creationId xmlns:a16="http://schemas.microsoft.com/office/drawing/2014/main" id="{E4108FF6-CF43-EE45-B1B0-E6D038B73C2B}"/>
              </a:ext>
            </a:extLst>
          </p:cNvPr>
          <p:cNvSpPr/>
          <p:nvPr/>
        </p:nvSpPr>
        <p:spPr>
          <a:xfrm>
            <a:off x="4397218" y="5574993"/>
            <a:ext cx="2973891" cy="461665"/>
          </a:xfrm>
          <a:prstGeom prst="rect">
            <a:avLst/>
          </a:prstGeom>
        </p:spPr>
        <p:txBody>
          <a:bodyPr wrap="none">
            <a:spAutoFit/>
          </a:bodyPr>
          <a:lstStyle/>
          <a:p>
            <a:r>
              <a:rPr lang="es-CL" sz="2400" dirty="0">
                <a:solidFill>
                  <a:srgbClr val="F8F8F2"/>
                </a:solidFill>
                <a:latin typeface="Menlo" panose="020B0609030804020204" pitchFamily="49" charset="0"/>
              </a:rPr>
              <a:t>archivo</a:t>
            </a:r>
            <a:r>
              <a:rPr lang="es-CL" sz="2400" dirty="0">
                <a:solidFill>
                  <a:srgbClr val="F92672"/>
                </a:solidFill>
                <a:latin typeface="Menlo" panose="020B0609030804020204" pitchFamily="49" charset="0"/>
              </a:rPr>
              <a:t>.</a:t>
            </a:r>
            <a:r>
              <a:rPr lang="es-CL" sz="2400" dirty="0">
                <a:solidFill>
                  <a:srgbClr val="66D9EF"/>
                </a:solidFill>
                <a:latin typeface="Menlo" panose="020B0609030804020204" pitchFamily="49" charset="0"/>
              </a:rPr>
              <a:t>close</a:t>
            </a:r>
            <a:r>
              <a:rPr lang="es-CL" sz="2400" dirty="0">
                <a:solidFill>
                  <a:srgbClr val="F8F8F2"/>
                </a:solidFill>
                <a:latin typeface="Menlo" panose="020B0609030804020204" pitchFamily="49" charset="0"/>
              </a:rPr>
              <a:t>()</a:t>
            </a:r>
          </a:p>
        </p:txBody>
      </p:sp>
    </p:spTree>
    <p:extLst>
      <p:ext uri="{BB962C8B-B14F-4D97-AF65-F5344CB8AC3E}">
        <p14:creationId xmlns:p14="http://schemas.microsoft.com/office/powerpoint/2010/main" val="1305723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13202D-FD17-DC47-BDEE-E52E72F3A3C5}"/>
              </a:ext>
            </a:extLst>
          </p:cNvPr>
          <p:cNvSpPr>
            <a:spLocks noGrp="1"/>
          </p:cNvSpPr>
          <p:nvPr>
            <p:ph type="title"/>
          </p:nvPr>
        </p:nvSpPr>
        <p:spPr/>
        <p:txBody>
          <a:bodyPr/>
          <a:lstStyle/>
          <a:p>
            <a:r>
              <a:rPr lang="es-CL" dirty="0">
                <a:solidFill>
                  <a:srgbClr val="66D9EF"/>
                </a:solidFill>
              </a:rPr>
              <a:t>Lectura de archivos</a:t>
            </a:r>
          </a:p>
        </p:txBody>
      </p:sp>
      <p:sp>
        <p:nvSpPr>
          <p:cNvPr id="3" name="Marcador de contenido 2">
            <a:extLst>
              <a:ext uri="{FF2B5EF4-FFF2-40B4-BE49-F238E27FC236}">
                <a16:creationId xmlns:a16="http://schemas.microsoft.com/office/drawing/2014/main" id="{A74A9AE3-3C67-884D-9226-B9759C0AE62E}"/>
              </a:ext>
            </a:extLst>
          </p:cNvPr>
          <p:cNvSpPr>
            <a:spLocks noGrp="1"/>
          </p:cNvSpPr>
          <p:nvPr>
            <p:ph idx="1"/>
          </p:nvPr>
        </p:nvSpPr>
        <p:spPr>
          <a:xfrm>
            <a:off x="960675" y="2022209"/>
            <a:ext cx="4462272" cy="4120341"/>
          </a:xfrm>
        </p:spPr>
        <p:txBody>
          <a:bodyPr>
            <a:normAutofit/>
          </a:bodyPr>
          <a:lstStyle/>
          <a:p>
            <a:r>
              <a:rPr lang="es-CL" sz="2800" dirty="0">
                <a:solidFill>
                  <a:schemeClr val="bg1"/>
                </a:solidFill>
              </a:rPr>
              <a:t>Por ejemplo, supongamos que tenemos el archivo ramos.txt que tiene el siguiente contenido:</a:t>
            </a:r>
          </a:p>
          <a:p>
            <a:pPr algn="ctr"/>
            <a:r>
              <a:rPr lang="es-CL" sz="2000" dirty="0">
                <a:solidFill>
                  <a:schemeClr val="bg2"/>
                </a:solidFill>
                <a:latin typeface="Consolas" panose="020B0609020204030204" pitchFamily="49" charset="0"/>
                <a:cs typeface="Consolas" panose="020B0609020204030204" pitchFamily="49" charset="0"/>
              </a:rPr>
              <a:t>iwi131</a:t>
            </a:r>
          </a:p>
          <a:p>
            <a:pPr algn="ctr"/>
            <a:r>
              <a:rPr lang="es-CL" sz="2000" dirty="0">
                <a:solidFill>
                  <a:schemeClr val="bg2"/>
                </a:solidFill>
                <a:latin typeface="Consolas" panose="020B0609020204030204" pitchFamily="49" charset="0"/>
                <a:cs typeface="Consolas" panose="020B0609020204030204" pitchFamily="49" charset="0"/>
              </a:rPr>
              <a:t>mat21</a:t>
            </a:r>
          </a:p>
          <a:p>
            <a:pPr algn="ctr"/>
            <a:r>
              <a:rPr lang="es-CL" sz="2000" dirty="0">
                <a:solidFill>
                  <a:schemeClr val="bg2"/>
                </a:solidFill>
                <a:latin typeface="Consolas" panose="020B0609020204030204" pitchFamily="49" charset="0"/>
                <a:cs typeface="Consolas" panose="020B0609020204030204" pitchFamily="49" charset="0"/>
              </a:rPr>
              <a:t>efi100</a:t>
            </a:r>
          </a:p>
          <a:p>
            <a:pPr algn="ctr"/>
            <a:r>
              <a:rPr lang="es-CL" sz="2000" dirty="0">
                <a:solidFill>
                  <a:schemeClr val="bg2"/>
                </a:solidFill>
                <a:latin typeface="Consolas" panose="020B0609020204030204" pitchFamily="49" charset="0"/>
                <a:cs typeface="Consolas" panose="020B0609020204030204" pitchFamily="49" charset="0"/>
              </a:rPr>
              <a:t>hrw131</a:t>
            </a:r>
          </a:p>
          <a:p>
            <a:endParaRPr lang="es-CL" sz="2800" dirty="0">
              <a:solidFill>
                <a:schemeClr val="bg1"/>
              </a:solidFill>
            </a:endParaRPr>
          </a:p>
        </p:txBody>
      </p:sp>
      <p:sp>
        <p:nvSpPr>
          <p:cNvPr id="5" name="Marcador de contenido 2">
            <a:extLst>
              <a:ext uri="{FF2B5EF4-FFF2-40B4-BE49-F238E27FC236}">
                <a16:creationId xmlns:a16="http://schemas.microsoft.com/office/drawing/2014/main" id="{198F6F99-B69A-4549-847D-69D202113F95}"/>
              </a:ext>
            </a:extLst>
          </p:cNvPr>
          <p:cNvSpPr txBox="1">
            <a:spLocks/>
          </p:cNvSpPr>
          <p:nvPr/>
        </p:nvSpPr>
        <p:spPr>
          <a:xfrm>
            <a:off x="6096000" y="622012"/>
            <a:ext cx="5515217" cy="853994"/>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s-CL" sz="2800" dirty="0">
                <a:solidFill>
                  <a:schemeClr val="bg1"/>
                </a:solidFill>
              </a:rPr>
              <a:t>El siguiente programa imprime cuántos símbolos hay en cada línea:</a:t>
            </a:r>
            <a:endParaRPr lang="es-CL" sz="3600" dirty="0">
              <a:solidFill>
                <a:schemeClr val="bg1"/>
              </a:solidFill>
            </a:endParaRPr>
          </a:p>
        </p:txBody>
      </p:sp>
      <p:sp>
        <p:nvSpPr>
          <p:cNvPr id="7" name="Rectángulo 6">
            <a:extLst>
              <a:ext uri="{FF2B5EF4-FFF2-40B4-BE49-F238E27FC236}">
                <a16:creationId xmlns:a16="http://schemas.microsoft.com/office/drawing/2014/main" id="{D25C9C4E-2024-A649-9967-9FA5F2A6A99E}"/>
              </a:ext>
            </a:extLst>
          </p:cNvPr>
          <p:cNvSpPr/>
          <p:nvPr/>
        </p:nvSpPr>
        <p:spPr>
          <a:xfrm>
            <a:off x="6262255" y="1579595"/>
            <a:ext cx="6096000" cy="2862322"/>
          </a:xfrm>
          <a:prstGeom prst="rect">
            <a:avLst/>
          </a:prstGeom>
        </p:spPr>
        <p:txBody>
          <a:bodyPr>
            <a:spAutoFit/>
          </a:bodyPr>
          <a:lstStyle/>
          <a:p>
            <a:r>
              <a:rPr lang="es-CL" sz="2000" dirty="0">
                <a:solidFill>
                  <a:srgbClr val="F8F8F2"/>
                </a:solidFill>
                <a:latin typeface="Menlo" panose="020B0609030804020204" pitchFamily="49" charset="0"/>
              </a:rPr>
              <a:t>archivo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'ramos.txt'</a:t>
            </a:r>
            <a:r>
              <a:rPr lang="es-CL" sz="2000" dirty="0">
                <a:solidFill>
                  <a:srgbClr val="F8F8F2"/>
                </a:solidFill>
                <a:latin typeface="Menlo" panose="020B0609030804020204" pitchFamily="49" charset="0"/>
              </a:rPr>
              <a:t>)</a:t>
            </a:r>
          </a:p>
          <a:p>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archivo:</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print</a:t>
            </a:r>
            <a:r>
              <a:rPr lang="es-CL" sz="2000" dirty="0">
                <a:solidFill>
                  <a:srgbClr val="F8F8F2"/>
                </a:solidFill>
                <a:latin typeface="Menlo" panose="020B0609030804020204" pitchFamily="49" charset="0"/>
              </a:rPr>
              <a:t> len(linea)</a:t>
            </a:r>
          </a:p>
          <a:p>
            <a:r>
              <a:rPr lang="es-CL" sz="2000" dirty="0">
                <a:solidFill>
                  <a:srgbClr val="F8F8F2"/>
                </a:solidFill>
                <a:latin typeface="Menlo" panose="020B0609030804020204" pitchFamily="49" charset="0"/>
              </a:rPr>
              <a:t>archivo</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endParaRPr lang="es-CL" sz="2000" dirty="0">
              <a:solidFill>
                <a:srgbClr val="F8F8F2"/>
              </a:solidFill>
              <a:latin typeface="Menlo" panose="020B0609030804020204" pitchFamily="49" charset="0"/>
            </a:endParaRP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7</a:t>
            </a:r>
            <a:endParaRPr lang="es-CL" sz="2000" dirty="0">
              <a:solidFill>
                <a:srgbClr val="F8F8F2"/>
              </a:solidFill>
              <a:latin typeface="Menlo" panose="020B0609030804020204" pitchFamily="49" charset="0"/>
            </a:endParaRP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7</a:t>
            </a:r>
            <a:endParaRPr lang="es-CL" sz="2000" dirty="0">
              <a:solidFill>
                <a:srgbClr val="F8F8F2"/>
              </a:solidFill>
              <a:latin typeface="Menlo" panose="020B0609030804020204" pitchFamily="49" charset="0"/>
            </a:endParaRP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7</a:t>
            </a:r>
            <a:endParaRPr lang="es-CL" sz="2000" dirty="0">
              <a:solidFill>
                <a:srgbClr val="F8F8F2"/>
              </a:solidFill>
              <a:latin typeface="Menlo" panose="020B0609030804020204" pitchFamily="49" charset="0"/>
            </a:endParaRPr>
          </a:p>
          <a:p>
            <a:r>
              <a:rPr lang="es-CL" sz="2000" dirty="0">
                <a:solidFill>
                  <a:srgbClr val="F92672"/>
                </a:solidFill>
                <a:latin typeface="Menlo" panose="020B0609030804020204" pitchFamily="49" charset="0"/>
              </a:rPr>
              <a:t>&gt;&gt;&gt;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7</a:t>
            </a:r>
            <a:endParaRPr lang="es-CL" sz="2000" dirty="0">
              <a:solidFill>
                <a:srgbClr val="F8F8F2"/>
              </a:solidFill>
              <a:latin typeface="Menlo" panose="020B0609030804020204" pitchFamily="49" charset="0"/>
            </a:endParaRPr>
          </a:p>
        </p:txBody>
      </p:sp>
      <p:sp>
        <p:nvSpPr>
          <p:cNvPr id="8" name="Marcador de contenido 2">
            <a:extLst>
              <a:ext uri="{FF2B5EF4-FFF2-40B4-BE49-F238E27FC236}">
                <a16:creationId xmlns:a16="http://schemas.microsoft.com/office/drawing/2014/main" id="{A4CA9750-8DB5-FA44-9C61-E4286CE83AE9}"/>
              </a:ext>
            </a:extLst>
          </p:cNvPr>
          <p:cNvSpPr txBox="1">
            <a:spLocks/>
          </p:cNvSpPr>
          <p:nvPr/>
        </p:nvSpPr>
        <p:spPr>
          <a:xfrm>
            <a:off x="6095999" y="4466951"/>
            <a:ext cx="5515217" cy="853994"/>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s-CL" sz="2800" dirty="0">
                <a:solidFill>
                  <a:schemeClr val="bg1"/>
                </a:solidFill>
              </a:rPr>
              <a:t>Note que el salto de línea (el “enter”) es considerado en la cuenta.</a:t>
            </a:r>
            <a:endParaRPr lang="es-CL" sz="4400" dirty="0">
              <a:solidFill>
                <a:schemeClr val="bg1"/>
              </a:solidFill>
            </a:endParaRPr>
          </a:p>
        </p:txBody>
      </p:sp>
      <p:sp>
        <p:nvSpPr>
          <p:cNvPr id="9" name="Rectángulo 8">
            <a:extLst>
              <a:ext uri="{FF2B5EF4-FFF2-40B4-BE49-F238E27FC236}">
                <a16:creationId xmlns:a16="http://schemas.microsoft.com/office/drawing/2014/main" id="{35E49FF6-A1A9-9A45-9516-74A9A485339B}"/>
              </a:ext>
            </a:extLst>
          </p:cNvPr>
          <p:cNvSpPr/>
          <p:nvPr/>
        </p:nvSpPr>
        <p:spPr>
          <a:xfrm>
            <a:off x="5884164" y="5349454"/>
            <a:ext cx="6096000" cy="923330"/>
          </a:xfrm>
          <a:prstGeom prst="rect">
            <a:avLst/>
          </a:prstGeom>
        </p:spPr>
        <p:txBody>
          <a:bodyPr>
            <a:spAutoFit/>
          </a:bodyPr>
          <a:lstStyle/>
          <a:p>
            <a:r>
              <a:rPr lang="es-CL" dirty="0">
                <a:solidFill>
                  <a:srgbClr val="F92672"/>
                </a:solidFill>
                <a:latin typeface="Menlo" panose="020B0609030804020204" pitchFamily="49" charset="0"/>
              </a:rPr>
              <a:t>+---+---+---+---+---+---+---+</a:t>
            </a:r>
            <a:endParaRPr lang="es-CL" dirty="0">
              <a:solidFill>
                <a:srgbClr val="F8F8F2"/>
              </a:solidFill>
              <a:latin typeface="Menlo" panose="020B0609030804020204" pitchFamily="49" charset="0"/>
            </a:endParaRPr>
          </a:p>
          <a:p>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w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3</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\n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7</a:t>
            </a:r>
            <a:r>
              <a:rPr lang="es-CL" dirty="0">
                <a:solidFill>
                  <a:srgbClr val="F8F8F2"/>
                </a:solidFill>
                <a:latin typeface="Menlo" panose="020B0609030804020204" pitchFamily="49" charset="0"/>
              </a:rPr>
              <a:t> simbolos</a:t>
            </a:r>
          </a:p>
          <a:p>
            <a:r>
              <a:rPr lang="es-CL" dirty="0">
                <a:solidFill>
                  <a:srgbClr val="F92672"/>
                </a:solidFill>
                <a:latin typeface="Menlo" panose="020B0609030804020204" pitchFamily="49" charset="0"/>
              </a:rPr>
              <a:t>+---+---+---+---+---+---+---+</a:t>
            </a:r>
            <a:endParaRPr lang="es-CL" dirty="0">
              <a:solidFill>
                <a:srgbClr val="F8F8F2"/>
              </a:solidFill>
              <a:latin typeface="Menlo" panose="020B0609030804020204" pitchFamily="49" charset="0"/>
            </a:endParaRPr>
          </a:p>
        </p:txBody>
      </p:sp>
    </p:spTree>
    <p:extLst>
      <p:ext uri="{BB962C8B-B14F-4D97-AF65-F5344CB8AC3E}">
        <p14:creationId xmlns:p14="http://schemas.microsoft.com/office/powerpoint/2010/main" val="55853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7245F-F582-8D4E-8B83-C9564D573B11}"/>
              </a:ext>
            </a:extLst>
          </p:cNvPr>
          <p:cNvSpPr>
            <a:spLocks noGrp="1"/>
          </p:cNvSpPr>
          <p:nvPr>
            <p:ph type="title"/>
          </p:nvPr>
        </p:nvSpPr>
        <p:spPr/>
        <p:txBody>
          <a:bodyPr/>
          <a:lstStyle/>
          <a:p>
            <a:r>
              <a:rPr lang="es-CL" dirty="0">
                <a:solidFill>
                  <a:srgbClr val="66D9EF"/>
                </a:solidFill>
              </a:rPr>
              <a:t>.strip()</a:t>
            </a:r>
          </a:p>
        </p:txBody>
      </p:sp>
      <p:sp>
        <p:nvSpPr>
          <p:cNvPr id="3" name="Marcador de contenido 2">
            <a:extLst>
              <a:ext uri="{FF2B5EF4-FFF2-40B4-BE49-F238E27FC236}">
                <a16:creationId xmlns:a16="http://schemas.microsoft.com/office/drawing/2014/main" id="{7268B319-9E83-204C-B363-EA3888665ED3}"/>
              </a:ext>
            </a:extLst>
          </p:cNvPr>
          <p:cNvSpPr>
            <a:spLocks noGrp="1"/>
          </p:cNvSpPr>
          <p:nvPr>
            <p:ph idx="1"/>
          </p:nvPr>
        </p:nvSpPr>
        <p:spPr>
          <a:xfrm>
            <a:off x="1302327" y="2133046"/>
            <a:ext cx="9836727" cy="4224528"/>
          </a:xfrm>
        </p:spPr>
        <p:txBody>
          <a:bodyPr>
            <a:normAutofit/>
          </a:bodyPr>
          <a:lstStyle/>
          <a:p>
            <a:r>
              <a:rPr lang="es-CL" sz="2800" dirty="0">
                <a:solidFill>
                  <a:schemeClr val="bg1"/>
                </a:solidFill>
              </a:rPr>
              <a:t>Para obtener el string sin el salto de línea, se puede usar el método strip, que elimina todos los símbolos de espaciado al principio y al final del string:</a:t>
            </a:r>
          </a:p>
          <a:p>
            <a:endParaRPr lang="es-CL" sz="2800" dirty="0">
              <a:solidFill>
                <a:schemeClr val="bg1"/>
              </a:solidFill>
            </a:endParaRPr>
          </a:p>
          <a:p>
            <a:pPr marL="0" indent="0">
              <a:buNone/>
            </a:pPr>
            <a:endParaRPr lang="es-CL" sz="2800" dirty="0">
              <a:solidFill>
                <a:schemeClr val="bg1"/>
              </a:solidFill>
            </a:endParaRPr>
          </a:p>
          <a:p>
            <a:pPr marL="0" indent="0">
              <a:buNone/>
            </a:pPr>
            <a:r>
              <a:rPr lang="es-CL" sz="2800" dirty="0">
                <a:solidFill>
                  <a:schemeClr val="bg1"/>
                </a:solidFill>
              </a:rPr>
              <a:t> </a:t>
            </a:r>
          </a:p>
        </p:txBody>
      </p:sp>
      <p:sp>
        <p:nvSpPr>
          <p:cNvPr id="6" name="Rectángulo 5">
            <a:extLst>
              <a:ext uri="{FF2B5EF4-FFF2-40B4-BE49-F238E27FC236}">
                <a16:creationId xmlns:a16="http://schemas.microsoft.com/office/drawing/2014/main" id="{BFD8694B-E751-5E4F-BD27-104E8EC000FE}"/>
              </a:ext>
            </a:extLst>
          </p:cNvPr>
          <p:cNvSpPr/>
          <p:nvPr/>
        </p:nvSpPr>
        <p:spPr>
          <a:xfrm>
            <a:off x="4246418" y="3971141"/>
            <a:ext cx="6096000" cy="1200329"/>
          </a:xfrm>
          <a:prstGeom prst="rect">
            <a:avLst/>
          </a:prstGeom>
        </p:spPr>
        <p:txBody>
          <a:bodyPr>
            <a:spAutoFit/>
          </a:bodyPr>
          <a:lstStyle/>
          <a:p>
            <a:r>
              <a:rPr lang="es-CL" sz="2400" dirty="0">
                <a:solidFill>
                  <a:srgbClr val="F8F8F2"/>
                </a:solidFill>
                <a:latin typeface="Menlo" panose="020B0609030804020204" pitchFamily="49" charset="0"/>
              </a:rPr>
              <a:t>s </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   iwi131</a:t>
            </a:r>
            <a:r>
              <a:rPr lang="es-CL" sz="2400" dirty="0">
                <a:solidFill>
                  <a:srgbClr val="AE81FF"/>
                </a:solidFill>
                <a:latin typeface="Menlo" panose="020B0609030804020204" pitchFamily="49" charset="0"/>
              </a:rPr>
              <a:t>\n</a:t>
            </a:r>
            <a:r>
              <a:rPr lang="es-CL" sz="2400" dirty="0">
                <a:solidFill>
                  <a:srgbClr val="E6DB74"/>
                </a:solidFill>
                <a:latin typeface="Menlo" panose="020B0609030804020204" pitchFamily="49" charset="0"/>
              </a:rPr>
              <a:t>'</a:t>
            </a:r>
            <a:endParaRPr lang="es-CL" sz="2400" dirty="0">
              <a:solidFill>
                <a:srgbClr val="F8F8F2"/>
              </a:solidFill>
              <a:latin typeface="Menlo" panose="020B0609030804020204" pitchFamily="49" charset="0"/>
            </a:endParaRPr>
          </a:p>
          <a:p>
            <a:r>
              <a:rPr lang="es-CL" sz="2400" dirty="0">
                <a:solidFill>
                  <a:srgbClr val="66D9EF"/>
                </a:solidFill>
                <a:latin typeface="Menlo" panose="020B0609030804020204" pitchFamily="49" charset="0"/>
              </a:rPr>
              <a:t>print</a:t>
            </a:r>
            <a:r>
              <a:rPr lang="es-CL" sz="2400" dirty="0">
                <a:solidFill>
                  <a:srgbClr val="F8F8F2"/>
                </a:solidFill>
                <a:latin typeface="Menlo" panose="020B0609030804020204" pitchFamily="49" charset="0"/>
              </a:rPr>
              <a:t>(s</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strip())</a:t>
            </a:r>
          </a:p>
          <a:p>
            <a:r>
              <a:rPr lang="es-CL" sz="2400" dirty="0">
                <a:solidFill>
                  <a:srgbClr val="F92672"/>
                </a:solidFill>
                <a:latin typeface="Menlo" panose="020B0609030804020204" pitchFamily="49" charset="0"/>
              </a:rPr>
              <a:t>&gt;&gt;&gt;</a:t>
            </a:r>
            <a:r>
              <a:rPr lang="es-CL" sz="2400" dirty="0">
                <a:solidFill>
                  <a:srgbClr val="E6DB74"/>
                </a:solidFill>
                <a:latin typeface="Menlo" panose="020B0609030804020204" pitchFamily="49" charset="0"/>
              </a:rPr>
              <a:t>'iwi131'</a:t>
            </a:r>
            <a:endParaRPr lang="es-CL" sz="2400" dirty="0">
              <a:solidFill>
                <a:srgbClr val="F8F8F2"/>
              </a:solidFill>
              <a:latin typeface="Menlo" panose="020B0609030804020204" pitchFamily="49" charset="0"/>
            </a:endParaRPr>
          </a:p>
        </p:txBody>
      </p:sp>
    </p:spTree>
    <p:extLst>
      <p:ext uri="{BB962C8B-B14F-4D97-AF65-F5344CB8AC3E}">
        <p14:creationId xmlns:p14="http://schemas.microsoft.com/office/powerpoint/2010/main" val="819767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E8219-F049-4140-A911-205BFF7E2F05}"/>
              </a:ext>
            </a:extLst>
          </p:cNvPr>
          <p:cNvSpPr>
            <a:spLocks noGrp="1"/>
          </p:cNvSpPr>
          <p:nvPr>
            <p:ph type="title"/>
          </p:nvPr>
        </p:nvSpPr>
        <p:spPr/>
        <p:txBody>
          <a:bodyPr/>
          <a:lstStyle/>
          <a:p>
            <a:r>
              <a:rPr lang="es-CL" dirty="0">
                <a:solidFill>
                  <a:srgbClr val="66D9EF"/>
                </a:solidFill>
              </a:rPr>
              <a:t>Modos de lectura</a:t>
            </a:r>
          </a:p>
        </p:txBody>
      </p:sp>
      <p:sp>
        <p:nvSpPr>
          <p:cNvPr id="3" name="Marcador de contenido 2">
            <a:extLst>
              <a:ext uri="{FF2B5EF4-FFF2-40B4-BE49-F238E27FC236}">
                <a16:creationId xmlns:a16="http://schemas.microsoft.com/office/drawing/2014/main" id="{9387D2B4-7559-EE48-AB80-E2C2E18EC12E}"/>
              </a:ext>
            </a:extLst>
          </p:cNvPr>
          <p:cNvSpPr>
            <a:spLocks noGrp="1"/>
          </p:cNvSpPr>
          <p:nvPr>
            <p:ph idx="1"/>
          </p:nvPr>
        </p:nvSpPr>
        <p:spPr>
          <a:xfrm>
            <a:off x="788601" y="2249424"/>
            <a:ext cx="10863072" cy="4023360"/>
          </a:xfrm>
        </p:spPr>
        <p:txBody>
          <a:bodyPr>
            <a:normAutofit/>
          </a:bodyPr>
          <a:lstStyle/>
          <a:p>
            <a:pPr algn="ctr"/>
            <a:r>
              <a:rPr lang="es-CL" sz="3200" dirty="0">
                <a:solidFill>
                  <a:schemeClr val="bg1"/>
                </a:solidFill>
              </a:rPr>
              <a:t>Los ejemplos anteriores suponen que el archivo por leer existe, y está listo para ser abierto y leído.  Sin embargo, es posible especificar que es necesario crear un archivo nuevo para re-escribir el anterior, que se desea solo leer los contentidos o inlcluso que deseamos agregar nuevo contenido al final de nuestro archivo original.</a:t>
            </a:r>
          </a:p>
        </p:txBody>
      </p:sp>
    </p:spTree>
    <p:extLst>
      <p:ext uri="{BB962C8B-B14F-4D97-AF65-F5344CB8AC3E}">
        <p14:creationId xmlns:p14="http://schemas.microsoft.com/office/powerpoint/2010/main" val="200245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0AB37A-6543-9A46-97F0-39933CDB2E61}"/>
              </a:ext>
            </a:extLst>
          </p:cNvPr>
          <p:cNvSpPr>
            <a:spLocks noGrp="1"/>
          </p:cNvSpPr>
          <p:nvPr>
            <p:ph type="title"/>
          </p:nvPr>
        </p:nvSpPr>
        <p:spPr/>
        <p:txBody>
          <a:bodyPr/>
          <a:lstStyle/>
          <a:p>
            <a:r>
              <a:rPr lang="es-CL" dirty="0">
                <a:solidFill>
                  <a:srgbClr val="66D9EF"/>
                </a:solidFill>
              </a:rPr>
              <a:t>Modos de lectura</a:t>
            </a:r>
          </a:p>
        </p:txBody>
      </p:sp>
      <p:graphicFrame>
        <p:nvGraphicFramePr>
          <p:cNvPr id="4" name="Marcador de contenido 3">
            <a:extLst>
              <a:ext uri="{FF2B5EF4-FFF2-40B4-BE49-F238E27FC236}">
                <a16:creationId xmlns:a16="http://schemas.microsoft.com/office/drawing/2014/main" id="{F5102A86-4A72-204F-A17A-A1C9146936A0}"/>
              </a:ext>
            </a:extLst>
          </p:cNvPr>
          <p:cNvGraphicFramePr>
            <a:graphicFrameLocks noGrp="1"/>
          </p:cNvGraphicFramePr>
          <p:nvPr>
            <p:ph idx="1"/>
            <p:extLst>
              <p:ext uri="{D42A27DB-BD31-4B8C-83A1-F6EECF244321}">
                <p14:modId xmlns:p14="http://schemas.microsoft.com/office/powerpoint/2010/main" val="3848163721"/>
              </p:ext>
            </p:extLst>
          </p:nvPr>
        </p:nvGraphicFramePr>
        <p:xfrm>
          <a:off x="1457542" y="3263392"/>
          <a:ext cx="9720262" cy="2844800"/>
        </p:xfrm>
        <a:graphic>
          <a:graphicData uri="http://schemas.openxmlformats.org/drawingml/2006/table">
            <a:tbl>
              <a:tblPr firstRow="1" bandRow="1">
                <a:tableStyleId>{073A0DAA-6AF3-43AB-8588-CEC1D06C72B9}</a:tableStyleId>
              </a:tblPr>
              <a:tblGrid>
                <a:gridCol w="4860131">
                  <a:extLst>
                    <a:ext uri="{9D8B030D-6E8A-4147-A177-3AD203B41FA5}">
                      <a16:colId xmlns:a16="http://schemas.microsoft.com/office/drawing/2014/main" val="2568931910"/>
                    </a:ext>
                  </a:extLst>
                </a:gridCol>
                <a:gridCol w="4860131">
                  <a:extLst>
                    <a:ext uri="{9D8B030D-6E8A-4147-A177-3AD203B41FA5}">
                      <a16:colId xmlns:a16="http://schemas.microsoft.com/office/drawing/2014/main" val="3296525692"/>
                    </a:ext>
                  </a:extLst>
                </a:gridCol>
              </a:tblGrid>
              <a:tr h="370840">
                <a:tc>
                  <a:txBody>
                    <a:bodyPr/>
                    <a:lstStyle/>
                    <a:p>
                      <a:r>
                        <a:rPr lang="es-CL" dirty="0"/>
                        <a:t>Modo</a:t>
                      </a:r>
                    </a:p>
                  </a:txBody>
                  <a:tcPr/>
                </a:tc>
                <a:tc>
                  <a:txBody>
                    <a:bodyPr/>
                    <a:lstStyle/>
                    <a:p>
                      <a:r>
                        <a:rPr lang="es-CL" dirty="0"/>
                        <a:t>Descripción</a:t>
                      </a:r>
                    </a:p>
                  </a:txBody>
                  <a:tcPr/>
                </a:tc>
                <a:extLst>
                  <a:ext uri="{0D108BD9-81ED-4DB2-BD59-A6C34878D82A}">
                    <a16:rowId xmlns:a16="http://schemas.microsoft.com/office/drawing/2014/main" val="3946578921"/>
                  </a:ext>
                </a:extLst>
              </a:tr>
              <a:tr h="370840">
                <a:tc>
                  <a:txBody>
                    <a:bodyPr/>
                    <a:lstStyle/>
                    <a:p>
                      <a:r>
                        <a:rPr lang="es-CL" dirty="0"/>
                        <a:t>r</a:t>
                      </a:r>
                    </a:p>
                  </a:txBody>
                  <a:tcPr/>
                </a:tc>
                <a:tc>
                  <a:txBody>
                    <a:bodyPr/>
                    <a:lstStyle/>
                    <a:p>
                      <a:r>
                        <a:rPr lang="es-CL" sz="1800" b="1" i="0" u="none" strike="noStrike" kern="1200" dirty="0">
                          <a:solidFill>
                            <a:schemeClr val="dk1"/>
                          </a:solidFill>
                          <a:effectLst/>
                          <a:latin typeface="+mn-lt"/>
                          <a:ea typeface="+mn-ea"/>
                          <a:cs typeface="+mn-cs"/>
                        </a:rPr>
                        <a:t>Abre un archivo solo para lectura</a:t>
                      </a:r>
                      <a:endParaRPr lang="es-CL" dirty="0"/>
                    </a:p>
                  </a:txBody>
                  <a:tcPr/>
                </a:tc>
                <a:extLst>
                  <a:ext uri="{0D108BD9-81ED-4DB2-BD59-A6C34878D82A}">
                    <a16:rowId xmlns:a16="http://schemas.microsoft.com/office/drawing/2014/main" val="2571977864"/>
                  </a:ext>
                </a:extLst>
              </a:tr>
              <a:tr h="370840">
                <a:tc>
                  <a:txBody>
                    <a:bodyPr/>
                    <a:lstStyle/>
                    <a:p>
                      <a:r>
                        <a:rPr lang="es-CL" dirty="0"/>
                        <a:t>w</a:t>
                      </a:r>
                    </a:p>
                  </a:txBody>
                  <a:tcPr/>
                </a:tc>
                <a:tc>
                  <a:txBody>
                    <a:bodyPr/>
                    <a:lstStyle/>
                    <a:p>
                      <a:r>
                        <a:rPr lang="es-CL" sz="1800" b="1" i="0" u="none" strike="noStrike" kern="1200" dirty="0">
                          <a:solidFill>
                            <a:schemeClr val="dk1"/>
                          </a:solidFill>
                          <a:effectLst/>
                          <a:latin typeface="+mn-lt"/>
                          <a:ea typeface="+mn-ea"/>
                          <a:cs typeface="+mn-cs"/>
                        </a:rPr>
                        <a:t>Abre un archivo solo para escritura</a:t>
                      </a:r>
                      <a:r>
                        <a:rPr lang="es-CL" sz="1800" b="0" i="0" u="none" strike="noStrike" kern="1200" dirty="0">
                          <a:solidFill>
                            <a:schemeClr val="dk1"/>
                          </a:solidFill>
                          <a:effectLst/>
                          <a:latin typeface="+mn-lt"/>
                          <a:ea typeface="+mn-ea"/>
                          <a:cs typeface="+mn-cs"/>
                        </a:rPr>
                        <a:t>. Sobreescribe el archivo si este ya existe. Si el archivo no existe, crea un nuevo archivo para escritura.</a:t>
                      </a:r>
                      <a:endParaRPr lang="es-CL" dirty="0"/>
                    </a:p>
                  </a:txBody>
                  <a:tcPr/>
                </a:tc>
                <a:extLst>
                  <a:ext uri="{0D108BD9-81ED-4DB2-BD59-A6C34878D82A}">
                    <a16:rowId xmlns:a16="http://schemas.microsoft.com/office/drawing/2014/main" val="3740590844"/>
                  </a:ext>
                </a:extLst>
              </a:tr>
              <a:tr h="370840">
                <a:tc>
                  <a:txBody>
                    <a:bodyPr/>
                    <a:lstStyle/>
                    <a:p>
                      <a:r>
                        <a:rPr lang="es-CL" dirty="0"/>
                        <a:t>a</a:t>
                      </a:r>
                    </a:p>
                  </a:txBody>
                  <a:tcPr/>
                </a:tc>
                <a:tc>
                  <a:txBody>
                    <a:bodyPr/>
                    <a:lstStyle/>
                    <a:p>
                      <a:r>
                        <a:rPr lang="es-CL" sz="1800" b="1" i="0" u="none" strike="noStrike" kern="1200" dirty="0">
                          <a:solidFill>
                            <a:schemeClr val="dk1"/>
                          </a:solidFill>
                          <a:effectLst/>
                          <a:latin typeface="+mn-lt"/>
                          <a:ea typeface="+mn-ea"/>
                          <a:cs typeface="+mn-cs"/>
                        </a:rPr>
                        <a:t>Abre un archivo para anexo</a:t>
                      </a:r>
                      <a:r>
                        <a:rPr lang="es-CL" sz="1800" b="0" i="0" u="none" strike="noStrike" kern="1200" dirty="0">
                          <a:solidFill>
                            <a:schemeClr val="dk1"/>
                          </a:solidFill>
                          <a:effectLst/>
                          <a:latin typeface="+mn-lt"/>
                          <a:ea typeface="+mn-ea"/>
                          <a:cs typeface="+mn-cs"/>
                        </a:rPr>
                        <a:t>. El puntero del archivo esta al final del archivo si este existe. Es decir, el archivo está en modo anexo. Si el archivo no existe, crea un nuevo archivo para escritura.</a:t>
                      </a:r>
                      <a:endParaRPr lang="es-CL" dirty="0"/>
                    </a:p>
                  </a:txBody>
                  <a:tcPr/>
                </a:tc>
                <a:extLst>
                  <a:ext uri="{0D108BD9-81ED-4DB2-BD59-A6C34878D82A}">
                    <a16:rowId xmlns:a16="http://schemas.microsoft.com/office/drawing/2014/main" val="3656337010"/>
                  </a:ext>
                </a:extLst>
              </a:tr>
            </a:tbl>
          </a:graphicData>
        </a:graphic>
      </p:graphicFrame>
      <p:sp>
        <p:nvSpPr>
          <p:cNvPr id="5" name="Marcador de contenido 2">
            <a:extLst>
              <a:ext uri="{FF2B5EF4-FFF2-40B4-BE49-F238E27FC236}">
                <a16:creationId xmlns:a16="http://schemas.microsoft.com/office/drawing/2014/main" id="{EC9E4F13-5603-0D45-8BD1-DC6592633963}"/>
              </a:ext>
            </a:extLst>
          </p:cNvPr>
          <p:cNvSpPr txBox="1">
            <a:spLocks/>
          </p:cNvSpPr>
          <p:nvPr/>
        </p:nvSpPr>
        <p:spPr>
          <a:xfrm>
            <a:off x="774746" y="2084832"/>
            <a:ext cx="10863072"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s-CL" sz="3200" dirty="0">
                <a:solidFill>
                  <a:schemeClr val="bg1"/>
                </a:solidFill>
              </a:rPr>
              <a:t>Existen más modos de lectura, pero en el curso nos importan los siguientes 3:</a:t>
            </a:r>
          </a:p>
        </p:txBody>
      </p:sp>
    </p:spTree>
    <p:extLst>
      <p:ext uri="{BB962C8B-B14F-4D97-AF65-F5344CB8AC3E}">
        <p14:creationId xmlns:p14="http://schemas.microsoft.com/office/powerpoint/2010/main" val="3345202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0F2DDB-D017-394B-A90C-AE8A5B2F3FB2}"/>
              </a:ext>
            </a:extLst>
          </p:cNvPr>
          <p:cNvSpPr>
            <a:spLocks noGrp="1"/>
          </p:cNvSpPr>
          <p:nvPr>
            <p:ph type="title"/>
          </p:nvPr>
        </p:nvSpPr>
        <p:spPr/>
        <p:txBody>
          <a:bodyPr/>
          <a:lstStyle/>
          <a:p>
            <a:r>
              <a:rPr lang="es-CL" dirty="0">
                <a:solidFill>
                  <a:srgbClr val="66D9EF"/>
                </a:solidFill>
              </a:rPr>
              <a:t>Escritura de archivos</a:t>
            </a:r>
          </a:p>
        </p:txBody>
      </p:sp>
      <p:sp>
        <p:nvSpPr>
          <p:cNvPr id="3" name="Marcador de contenido 2">
            <a:extLst>
              <a:ext uri="{FF2B5EF4-FFF2-40B4-BE49-F238E27FC236}">
                <a16:creationId xmlns:a16="http://schemas.microsoft.com/office/drawing/2014/main" id="{936CC475-A00C-EC41-81F7-4059E2967BFA}"/>
              </a:ext>
            </a:extLst>
          </p:cNvPr>
          <p:cNvSpPr>
            <a:spLocks noGrp="1"/>
          </p:cNvSpPr>
          <p:nvPr>
            <p:ph idx="1"/>
          </p:nvPr>
        </p:nvSpPr>
        <p:spPr/>
        <p:txBody>
          <a:bodyPr>
            <a:normAutofit/>
          </a:bodyPr>
          <a:lstStyle/>
          <a:p>
            <a:r>
              <a:rPr lang="es-CL" sz="2800" dirty="0">
                <a:solidFill>
                  <a:schemeClr val="bg1"/>
                </a:solidFill>
              </a:rPr>
              <a:t>Para escribir en un archivo, este debe ser abierto en modo “a” o “w”. Una vez abierto el archivo, uno puede escribir datos en él usando el método </a:t>
            </a:r>
            <a:r>
              <a:rPr lang="es-CL" sz="2400" dirty="0">
                <a:solidFill>
                  <a:schemeClr val="bg1"/>
                </a:solidFill>
                <a:latin typeface="Consolas" panose="020B0609020204030204" pitchFamily="49" charset="0"/>
                <a:cs typeface="Consolas" panose="020B0609020204030204" pitchFamily="49" charset="0"/>
              </a:rPr>
              <a:t>write</a:t>
            </a:r>
            <a:r>
              <a:rPr lang="es-CL" sz="2800" dirty="0">
                <a:solidFill>
                  <a:schemeClr val="bg1"/>
                </a:solidFill>
              </a:rPr>
              <a:t>:</a:t>
            </a:r>
          </a:p>
        </p:txBody>
      </p:sp>
      <p:sp>
        <p:nvSpPr>
          <p:cNvPr id="4" name="Rectángulo 3">
            <a:extLst>
              <a:ext uri="{FF2B5EF4-FFF2-40B4-BE49-F238E27FC236}">
                <a16:creationId xmlns:a16="http://schemas.microsoft.com/office/drawing/2014/main" id="{594B35C2-2F33-5049-A903-EBF2E4C9E19A}"/>
              </a:ext>
            </a:extLst>
          </p:cNvPr>
          <p:cNvSpPr/>
          <p:nvPr/>
        </p:nvSpPr>
        <p:spPr>
          <a:xfrm>
            <a:off x="3311236" y="3715527"/>
            <a:ext cx="6096000" cy="1569660"/>
          </a:xfrm>
          <a:prstGeom prst="rect">
            <a:avLst/>
          </a:prstGeom>
        </p:spPr>
        <p:txBody>
          <a:bodyPr>
            <a:spAutoFit/>
          </a:bodyPr>
          <a:lstStyle/>
          <a:p>
            <a:r>
              <a:rPr lang="es-CL" sz="2400" dirty="0">
                <a:solidFill>
                  <a:srgbClr val="F8F8F2"/>
                </a:solidFill>
                <a:latin typeface="Menlo" panose="020B0609030804020204" pitchFamily="49" charset="0"/>
              </a:rPr>
              <a:t>a </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 open(</a:t>
            </a:r>
            <a:r>
              <a:rPr lang="es-CL" sz="2400" dirty="0">
                <a:solidFill>
                  <a:srgbClr val="E6DB74"/>
                </a:solidFill>
                <a:latin typeface="Menlo" panose="020B0609030804020204" pitchFamily="49" charset="0"/>
              </a:rPr>
              <a:t>'prueba.txt'</a:t>
            </a:r>
            <a:r>
              <a:rPr lang="es-CL" sz="2400" dirty="0">
                <a:solidFill>
                  <a:srgbClr val="F8F8F2"/>
                </a:solidFill>
                <a:latin typeface="Menlo" panose="020B0609030804020204" pitchFamily="49" charset="0"/>
              </a:rPr>
              <a:t>, </a:t>
            </a:r>
            <a:r>
              <a:rPr lang="es-CL" sz="2400" dirty="0">
                <a:solidFill>
                  <a:srgbClr val="E6DB74"/>
                </a:solidFill>
                <a:latin typeface="Menlo" panose="020B0609030804020204" pitchFamily="49" charset="0"/>
              </a:rPr>
              <a:t>'w'</a:t>
            </a:r>
            <a:r>
              <a:rPr lang="es-CL" sz="2400" dirty="0">
                <a:solidFill>
                  <a:srgbClr val="F8F8F2"/>
                </a:solidFill>
                <a:latin typeface="Menlo" panose="020B0609030804020204" pitchFamily="49" charset="0"/>
              </a:rPr>
              <a:t>)</a:t>
            </a:r>
          </a:p>
          <a:p>
            <a:r>
              <a:rPr lang="es-CL" sz="2400" dirty="0">
                <a:solidFill>
                  <a:srgbClr val="F8F8F2"/>
                </a:solidFill>
                <a:latin typeface="Menlo" panose="020B0609030804020204" pitchFamily="49" charset="0"/>
              </a:rPr>
              <a:t>a</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write(</a:t>
            </a:r>
            <a:r>
              <a:rPr lang="es-CL" sz="2400" dirty="0">
                <a:solidFill>
                  <a:srgbClr val="E6DB74"/>
                </a:solidFill>
                <a:latin typeface="Menlo" panose="020B0609030804020204" pitchFamily="49" charset="0"/>
              </a:rPr>
              <a:t>'Hola '</a:t>
            </a:r>
            <a:r>
              <a:rPr lang="es-CL" sz="2400" dirty="0">
                <a:solidFill>
                  <a:srgbClr val="F8F8F2"/>
                </a:solidFill>
                <a:latin typeface="Menlo" panose="020B0609030804020204" pitchFamily="49" charset="0"/>
              </a:rPr>
              <a:t>)</a:t>
            </a:r>
          </a:p>
          <a:p>
            <a:r>
              <a:rPr lang="es-CL" sz="2400" dirty="0">
                <a:solidFill>
                  <a:srgbClr val="F8F8F2"/>
                </a:solidFill>
                <a:latin typeface="Menlo" panose="020B0609030804020204" pitchFamily="49" charset="0"/>
              </a:rPr>
              <a:t>a</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write(</a:t>
            </a:r>
            <a:r>
              <a:rPr lang="es-CL" sz="2400" dirty="0">
                <a:solidFill>
                  <a:srgbClr val="E6DB74"/>
                </a:solidFill>
                <a:latin typeface="Menlo" panose="020B0609030804020204" pitchFamily="49" charset="0"/>
              </a:rPr>
              <a:t>'mundo.'</a:t>
            </a:r>
            <a:r>
              <a:rPr lang="es-CL" sz="2400" dirty="0">
                <a:solidFill>
                  <a:srgbClr val="F8F8F2"/>
                </a:solidFill>
                <a:latin typeface="Menlo" panose="020B0609030804020204" pitchFamily="49" charset="0"/>
              </a:rPr>
              <a:t>)</a:t>
            </a:r>
          </a:p>
          <a:p>
            <a:r>
              <a:rPr lang="es-CL" sz="2400" dirty="0">
                <a:solidFill>
                  <a:srgbClr val="F8F8F2"/>
                </a:solidFill>
                <a:latin typeface="Menlo" panose="020B0609030804020204" pitchFamily="49" charset="0"/>
              </a:rPr>
              <a:t>a</a:t>
            </a:r>
            <a:r>
              <a:rPr lang="es-CL" sz="2400" dirty="0">
                <a:solidFill>
                  <a:srgbClr val="F92672"/>
                </a:solidFill>
                <a:latin typeface="Menlo" panose="020B0609030804020204" pitchFamily="49" charset="0"/>
              </a:rPr>
              <a:t>.</a:t>
            </a:r>
            <a:r>
              <a:rPr lang="es-CL" sz="2400" dirty="0">
                <a:solidFill>
                  <a:srgbClr val="F8F8F2"/>
                </a:solidFill>
                <a:latin typeface="Menlo" panose="020B0609030804020204" pitchFamily="49" charset="0"/>
              </a:rPr>
              <a:t>close()</a:t>
            </a:r>
          </a:p>
        </p:txBody>
      </p:sp>
      <p:pic>
        <p:nvPicPr>
          <p:cNvPr id="6" name="Imagen 5">
            <a:extLst>
              <a:ext uri="{FF2B5EF4-FFF2-40B4-BE49-F238E27FC236}">
                <a16:creationId xmlns:a16="http://schemas.microsoft.com/office/drawing/2014/main" id="{9A46EE2B-4538-4246-9286-14A711F912D2}"/>
              </a:ext>
            </a:extLst>
          </p:cNvPr>
          <p:cNvPicPr>
            <a:picLocks noChangeAspect="1"/>
          </p:cNvPicPr>
          <p:nvPr/>
        </p:nvPicPr>
        <p:blipFill>
          <a:blip r:embed="rId2"/>
          <a:stretch>
            <a:fillRect/>
          </a:stretch>
        </p:blipFill>
        <p:spPr>
          <a:xfrm>
            <a:off x="1586345" y="5583337"/>
            <a:ext cx="9296400" cy="673100"/>
          </a:xfrm>
          <a:prstGeom prst="rect">
            <a:avLst/>
          </a:prstGeom>
        </p:spPr>
      </p:pic>
    </p:spTree>
    <p:extLst>
      <p:ext uri="{BB962C8B-B14F-4D97-AF65-F5344CB8AC3E}">
        <p14:creationId xmlns:p14="http://schemas.microsoft.com/office/powerpoint/2010/main" val="151830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7A770E-07E7-1D48-89FE-DDF51967DDF6}"/>
              </a:ext>
            </a:extLst>
          </p:cNvPr>
          <p:cNvSpPr>
            <a:spLocks noGrp="1"/>
          </p:cNvSpPr>
          <p:nvPr>
            <p:ph type="title"/>
          </p:nvPr>
        </p:nvSpPr>
        <p:spPr/>
        <p:txBody>
          <a:bodyPr/>
          <a:lstStyle/>
          <a:p>
            <a:r>
              <a:rPr lang="es-CL" dirty="0">
                <a:solidFill>
                  <a:srgbClr val="66D9EF"/>
                </a:solidFill>
              </a:rPr>
              <a:t>Ejercicio 1</a:t>
            </a:r>
          </a:p>
        </p:txBody>
      </p:sp>
      <p:sp>
        <p:nvSpPr>
          <p:cNvPr id="3" name="Marcador de contenido 2">
            <a:extLst>
              <a:ext uri="{FF2B5EF4-FFF2-40B4-BE49-F238E27FC236}">
                <a16:creationId xmlns:a16="http://schemas.microsoft.com/office/drawing/2014/main" id="{487D187B-5078-2D42-9239-AC1917D84C11}"/>
              </a:ext>
            </a:extLst>
          </p:cNvPr>
          <p:cNvSpPr>
            <a:spLocks noGrp="1"/>
          </p:cNvSpPr>
          <p:nvPr>
            <p:ph idx="1"/>
          </p:nvPr>
        </p:nvSpPr>
        <p:spPr>
          <a:xfrm>
            <a:off x="1024127" y="1967345"/>
            <a:ext cx="10143745" cy="4017819"/>
          </a:xfrm>
        </p:spPr>
        <p:txBody>
          <a:bodyPr>
            <a:normAutofit/>
          </a:bodyPr>
          <a:lstStyle/>
          <a:p>
            <a:r>
              <a:rPr lang="es-CL" sz="2800" dirty="0">
                <a:solidFill>
                  <a:schemeClr val="bg1"/>
                </a:solidFill>
              </a:rPr>
              <a:t>El archivo datos1.txt tiene tres números enteros en cada línea:</a:t>
            </a: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r>
              <a:rPr lang="es-CL" sz="2800" dirty="0">
                <a:solidFill>
                  <a:schemeClr val="bg1"/>
                </a:solidFill>
              </a:rPr>
              <a:t>A)Escriba la función suma_lineas(nombre_archivo) que entregue una lista con las sumas de todas las líneas del archivo</a:t>
            </a:r>
          </a:p>
        </p:txBody>
      </p:sp>
      <p:pic>
        <p:nvPicPr>
          <p:cNvPr id="5" name="Imagen 4" descr="Imagen que contiene captura de pantalla&#10;&#10;Descripción generada automáticamente">
            <a:extLst>
              <a:ext uri="{FF2B5EF4-FFF2-40B4-BE49-F238E27FC236}">
                <a16:creationId xmlns:a16="http://schemas.microsoft.com/office/drawing/2014/main" id="{4D2127EC-4FA7-4841-93AA-4B5E552C06D6}"/>
              </a:ext>
            </a:extLst>
          </p:cNvPr>
          <p:cNvPicPr>
            <a:picLocks noChangeAspect="1"/>
          </p:cNvPicPr>
          <p:nvPr/>
        </p:nvPicPr>
        <p:blipFill>
          <a:blip r:embed="rId2"/>
          <a:stretch>
            <a:fillRect/>
          </a:stretch>
        </p:blipFill>
        <p:spPr>
          <a:xfrm>
            <a:off x="1333501" y="2622550"/>
            <a:ext cx="9410700" cy="1612900"/>
          </a:xfrm>
          <a:prstGeom prst="rect">
            <a:avLst/>
          </a:prstGeom>
        </p:spPr>
      </p:pic>
      <p:sp>
        <p:nvSpPr>
          <p:cNvPr id="6" name="Rectángulo 5">
            <a:extLst>
              <a:ext uri="{FF2B5EF4-FFF2-40B4-BE49-F238E27FC236}">
                <a16:creationId xmlns:a16="http://schemas.microsoft.com/office/drawing/2014/main" id="{1764CFFA-C32C-6D44-9ADA-5950317F7D69}"/>
              </a:ext>
            </a:extLst>
          </p:cNvPr>
          <p:cNvSpPr/>
          <p:nvPr/>
        </p:nvSpPr>
        <p:spPr>
          <a:xfrm>
            <a:off x="4059382" y="5765908"/>
            <a:ext cx="6096000" cy="646331"/>
          </a:xfrm>
          <a:prstGeom prst="rect">
            <a:avLst/>
          </a:prstGeom>
        </p:spPr>
        <p:txBody>
          <a:bodyPr>
            <a:spAutoFit/>
          </a:bodyPr>
          <a:lstStyle/>
          <a:p>
            <a:r>
              <a:rPr lang="es-CL" dirty="0">
                <a:solidFill>
                  <a:srgbClr val="F8F8F2"/>
                </a:solidFill>
                <a:latin typeface="Menlo" panose="020B0609030804020204" pitchFamily="49" charset="0"/>
              </a:rPr>
              <a:t>suma_lineas(</a:t>
            </a:r>
            <a:r>
              <a:rPr lang="es-CL" dirty="0">
                <a:solidFill>
                  <a:srgbClr val="E6DB74"/>
                </a:solidFill>
                <a:latin typeface="Menlo" panose="020B0609030804020204" pitchFamily="49" charset="0"/>
              </a:rPr>
              <a:t>'datos1.txt'</a:t>
            </a:r>
            <a:r>
              <a:rPr lang="es-CL" dirty="0">
                <a:solidFill>
                  <a:srgbClr val="F8F8F2"/>
                </a:solidFill>
                <a:latin typeface="Menlo" panose="020B0609030804020204" pitchFamily="49" charset="0"/>
              </a:rPr>
              <a:t>)</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a:t>
            </a:r>
            <a:r>
              <a:rPr lang="es-CL" dirty="0">
                <a:solidFill>
                  <a:srgbClr val="AE81FF"/>
                </a:solidFill>
                <a:latin typeface="Menlo" panose="020B0609030804020204" pitchFamily="49" charset="0"/>
              </a:rPr>
              <a:t>155</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78</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98</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78</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151</a:t>
            </a:r>
            <a:r>
              <a:rPr lang="es-CL" dirty="0">
                <a:solidFill>
                  <a:srgbClr val="F8F8F2"/>
                </a:solidFill>
                <a:latin typeface="Menlo" panose="020B0609030804020204" pitchFamily="49" charset="0"/>
              </a:rPr>
              <a:t>]</a:t>
            </a:r>
          </a:p>
        </p:txBody>
      </p:sp>
      <p:sp>
        <p:nvSpPr>
          <p:cNvPr id="7" name="Rectángulo 6">
            <a:hlinkClick r:id="rId3"/>
            <a:extLst>
              <a:ext uri="{FF2B5EF4-FFF2-40B4-BE49-F238E27FC236}">
                <a16:creationId xmlns:a16="http://schemas.microsoft.com/office/drawing/2014/main" id="{A831BBBF-DE65-EB4E-972D-EE7709A813AB}"/>
              </a:ext>
            </a:extLst>
          </p:cNvPr>
          <p:cNvSpPr/>
          <p:nvPr/>
        </p:nvSpPr>
        <p:spPr>
          <a:xfrm>
            <a:off x="9371807" y="565142"/>
            <a:ext cx="1400896" cy="369332"/>
          </a:xfrm>
          <a:prstGeom prst="rect">
            <a:avLst/>
          </a:prstGeom>
        </p:spPr>
        <p:txBody>
          <a:bodyPr wrap="none">
            <a:spAutoFit/>
          </a:bodyPr>
          <a:lstStyle/>
          <a:p>
            <a:r>
              <a:rPr lang="es-CL" dirty="0">
                <a:solidFill>
                  <a:srgbClr val="F92672"/>
                </a:solidFill>
                <a:hlinkClick r:id="rId4">
                  <a:extLst>
                    <a:ext uri="{A12FA001-AC4F-418D-AE19-62706E023703}">
                      <ahyp:hlinkClr xmlns:ahyp="http://schemas.microsoft.com/office/drawing/2018/hyperlinkcolor" val="tx"/>
                    </a:ext>
                  </a:extLst>
                </a:hlinkClick>
              </a:rPr>
              <a:t>progra.usm.cl</a:t>
            </a:r>
            <a:endParaRPr lang="es-CL" dirty="0">
              <a:solidFill>
                <a:srgbClr val="F92672"/>
              </a:solidFill>
            </a:endParaRPr>
          </a:p>
        </p:txBody>
      </p:sp>
    </p:spTree>
    <p:extLst>
      <p:ext uri="{BB962C8B-B14F-4D97-AF65-F5344CB8AC3E}">
        <p14:creationId xmlns:p14="http://schemas.microsoft.com/office/powerpoint/2010/main" val="27878824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4" name="Rectángulo 3">
            <a:extLst>
              <a:ext uri="{FF2B5EF4-FFF2-40B4-BE49-F238E27FC236}">
                <a16:creationId xmlns:a16="http://schemas.microsoft.com/office/drawing/2014/main" id="{C4C89F2B-72DB-E54C-A3E6-6A3C89E1B96D}"/>
              </a:ext>
            </a:extLst>
          </p:cNvPr>
          <p:cNvSpPr/>
          <p:nvPr/>
        </p:nvSpPr>
        <p:spPr>
          <a:xfrm>
            <a:off x="2722418" y="2244437"/>
            <a:ext cx="8021782" cy="3477875"/>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suma_lineas</a:t>
            </a:r>
            <a:r>
              <a:rPr lang="es-CL" sz="2000" dirty="0">
                <a:solidFill>
                  <a:srgbClr val="F8F8F2"/>
                </a:solidFill>
                <a:latin typeface="Menlo" panose="020B0609030804020204" pitchFamily="49" charset="0"/>
              </a:rPr>
              <a:t>(archivo):</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open(archivo,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lista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valores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 "</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aux_sum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0</a:t>
            </a:r>
            <a:endParaRPr lang="es-CL" sz="2000" dirty="0">
              <a:solidFill>
                <a:srgbClr val="F8F8F2"/>
              </a:solidFill>
              <a:latin typeface="Menlo" panose="020B0609030804020204" pitchFamily="49" charset="0"/>
            </a:endParaRP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i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valores:</a:t>
            </a:r>
          </a:p>
          <a:p>
            <a:r>
              <a:rPr lang="es-CL" sz="2000" dirty="0">
                <a:solidFill>
                  <a:srgbClr val="F8F8F2"/>
                </a:solidFill>
                <a:latin typeface="Menlo" panose="020B0609030804020204" pitchFamily="49" charset="0"/>
              </a:rPr>
              <a:t>            aux_sum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int(i)</a:t>
            </a:r>
          </a:p>
          <a:p>
            <a:r>
              <a:rPr lang="es-CL" sz="2000" dirty="0">
                <a:solidFill>
                  <a:srgbClr val="F8F8F2"/>
                </a:solidFill>
                <a:latin typeface="Menlo" panose="020B0609030804020204" pitchFamily="49" charset="0"/>
              </a:rPr>
              <a:t>        lista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append(aux_sum)</a:t>
            </a:r>
          </a:p>
          <a:p>
            <a:r>
              <a:rPr lang="es-CL" sz="2000" dirty="0">
                <a:solidFill>
                  <a:srgbClr val="F8F8F2"/>
                </a:solidFill>
                <a:latin typeface="Menlo" panose="020B0609030804020204" pitchFamily="49" charset="0"/>
              </a:rPr>
              <a:t>    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return</a:t>
            </a:r>
            <a:r>
              <a:rPr lang="es-CL" sz="2000" dirty="0">
                <a:solidFill>
                  <a:srgbClr val="F8F8F2"/>
                </a:solidFill>
                <a:latin typeface="Menlo" panose="020B0609030804020204" pitchFamily="49" charset="0"/>
              </a:rPr>
              <a:t> lista</a:t>
            </a:r>
          </a:p>
        </p:txBody>
      </p:sp>
    </p:spTree>
    <p:extLst>
      <p:ext uri="{BB962C8B-B14F-4D97-AF65-F5344CB8AC3E}">
        <p14:creationId xmlns:p14="http://schemas.microsoft.com/office/powerpoint/2010/main" val="1355400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7A770E-07E7-1D48-89FE-DDF51967DDF6}"/>
              </a:ext>
            </a:extLst>
          </p:cNvPr>
          <p:cNvSpPr>
            <a:spLocks noGrp="1"/>
          </p:cNvSpPr>
          <p:nvPr>
            <p:ph type="title"/>
          </p:nvPr>
        </p:nvSpPr>
        <p:spPr/>
        <p:txBody>
          <a:bodyPr/>
          <a:lstStyle/>
          <a:p>
            <a:r>
              <a:rPr lang="es-CL" dirty="0">
                <a:solidFill>
                  <a:srgbClr val="66D9EF"/>
                </a:solidFill>
              </a:rPr>
              <a:t>Ejercicio 1</a:t>
            </a:r>
          </a:p>
        </p:txBody>
      </p:sp>
      <p:sp>
        <p:nvSpPr>
          <p:cNvPr id="3" name="Marcador de contenido 2">
            <a:extLst>
              <a:ext uri="{FF2B5EF4-FFF2-40B4-BE49-F238E27FC236}">
                <a16:creationId xmlns:a16="http://schemas.microsoft.com/office/drawing/2014/main" id="{487D187B-5078-2D42-9239-AC1917D84C11}"/>
              </a:ext>
            </a:extLst>
          </p:cNvPr>
          <p:cNvSpPr>
            <a:spLocks noGrp="1"/>
          </p:cNvSpPr>
          <p:nvPr>
            <p:ph idx="1"/>
          </p:nvPr>
        </p:nvSpPr>
        <p:spPr>
          <a:xfrm>
            <a:off x="1024127" y="1967345"/>
            <a:ext cx="10143745" cy="4017819"/>
          </a:xfrm>
        </p:spPr>
        <p:txBody>
          <a:bodyPr>
            <a:normAutofit/>
          </a:bodyPr>
          <a:lstStyle/>
          <a:p>
            <a:r>
              <a:rPr lang="es-CL" sz="2800" dirty="0">
                <a:solidFill>
                  <a:schemeClr val="bg1"/>
                </a:solidFill>
              </a:rPr>
              <a:t>El archivo datos1.txt tiene tres números enteros en cada línea:</a:t>
            </a: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endParaRPr lang="es-CL" sz="2800" dirty="0">
              <a:solidFill>
                <a:schemeClr val="bg1"/>
              </a:solidFill>
            </a:endParaRPr>
          </a:p>
          <a:p>
            <a:r>
              <a:rPr lang="es-CL" sz="2800" dirty="0">
                <a:solidFill>
                  <a:schemeClr val="bg1"/>
                </a:solidFill>
              </a:rPr>
              <a:t>B)Escriba la función suma_columnas(nombre_archivo) que entregue una lista con las sumas de las tres columnas del archivo:</a:t>
            </a:r>
          </a:p>
        </p:txBody>
      </p:sp>
      <p:pic>
        <p:nvPicPr>
          <p:cNvPr id="5" name="Imagen 4" descr="Imagen que contiene captura de pantalla&#10;&#10;Descripción generada automáticamente">
            <a:extLst>
              <a:ext uri="{FF2B5EF4-FFF2-40B4-BE49-F238E27FC236}">
                <a16:creationId xmlns:a16="http://schemas.microsoft.com/office/drawing/2014/main" id="{4D2127EC-4FA7-4841-93AA-4B5E552C06D6}"/>
              </a:ext>
            </a:extLst>
          </p:cNvPr>
          <p:cNvPicPr>
            <a:picLocks noChangeAspect="1"/>
          </p:cNvPicPr>
          <p:nvPr/>
        </p:nvPicPr>
        <p:blipFill>
          <a:blip r:embed="rId2"/>
          <a:stretch>
            <a:fillRect/>
          </a:stretch>
        </p:blipFill>
        <p:spPr>
          <a:xfrm>
            <a:off x="1333501" y="2622550"/>
            <a:ext cx="9410700" cy="1612900"/>
          </a:xfrm>
          <a:prstGeom prst="rect">
            <a:avLst/>
          </a:prstGeom>
        </p:spPr>
      </p:pic>
      <p:sp>
        <p:nvSpPr>
          <p:cNvPr id="4" name="Rectángulo 3">
            <a:extLst>
              <a:ext uri="{FF2B5EF4-FFF2-40B4-BE49-F238E27FC236}">
                <a16:creationId xmlns:a16="http://schemas.microsoft.com/office/drawing/2014/main" id="{EF5CEFC6-E6AE-D04B-8A80-08CF7AA6AECB}"/>
              </a:ext>
            </a:extLst>
          </p:cNvPr>
          <p:cNvSpPr/>
          <p:nvPr/>
        </p:nvSpPr>
        <p:spPr>
          <a:xfrm>
            <a:off x="4087091" y="5765908"/>
            <a:ext cx="6096000" cy="646331"/>
          </a:xfrm>
          <a:prstGeom prst="rect">
            <a:avLst/>
          </a:prstGeom>
        </p:spPr>
        <p:txBody>
          <a:bodyPr>
            <a:spAutoFit/>
          </a:bodyPr>
          <a:lstStyle/>
          <a:p>
            <a:r>
              <a:rPr lang="es-CL" dirty="0">
                <a:solidFill>
                  <a:srgbClr val="F8F8F2"/>
                </a:solidFill>
                <a:latin typeface="Menlo" panose="020B0609030804020204" pitchFamily="49" charset="0"/>
              </a:rPr>
              <a:t>suma_columnas(</a:t>
            </a:r>
            <a:r>
              <a:rPr lang="es-CL" dirty="0">
                <a:solidFill>
                  <a:srgbClr val="E6DB74"/>
                </a:solidFill>
                <a:latin typeface="Menlo" panose="020B0609030804020204" pitchFamily="49" charset="0"/>
              </a:rPr>
              <a:t>'datos1.txt'</a:t>
            </a:r>
            <a:r>
              <a:rPr lang="es-CL" dirty="0">
                <a:solidFill>
                  <a:srgbClr val="F8F8F2"/>
                </a:solidFill>
                <a:latin typeface="Menlo" panose="020B0609030804020204" pitchFamily="49" charset="0"/>
              </a:rPr>
              <a:t>)</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a:t>
            </a:r>
            <a:r>
              <a:rPr lang="es-CL" dirty="0">
                <a:solidFill>
                  <a:srgbClr val="AE81FF"/>
                </a:solidFill>
                <a:latin typeface="Menlo" panose="020B0609030804020204" pitchFamily="49" charset="0"/>
              </a:rPr>
              <a:t>172</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64</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324</a:t>
            </a:r>
            <a:r>
              <a:rPr lang="es-CL" dirty="0">
                <a:solidFill>
                  <a:srgbClr val="F8F8F2"/>
                </a:solidFill>
                <a:latin typeface="Menlo" panose="020B0609030804020204" pitchFamily="49" charset="0"/>
              </a:rPr>
              <a:t>]</a:t>
            </a:r>
          </a:p>
        </p:txBody>
      </p:sp>
    </p:spTree>
    <p:extLst>
      <p:ext uri="{BB962C8B-B14F-4D97-AF65-F5344CB8AC3E}">
        <p14:creationId xmlns:p14="http://schemas.microsoft.com/office/powerpoint/2010/main" val="1418813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4" name="Rectángulo 3">
            <a:extLst>
              <a:ext uri="{FF2B5EF4-FFF2-40B4-BE49-F238E27FC236}">
                <a16:creationId xmlns:a16="http://schemas.microsoft.com/office/drawing/2014/main" id="{DD1D36A2-DCFF-AE4B-B32C-E7F6167EF11F}"/>
              </a:ext>
            </a:extLst>
          </p:cNvPr>
          <p:cNvSpPr/>
          <p:nvPr/>
        </p:nvSpPr>
        <p:spPr>
          <a:xfrm>
            <a:off x="2854037" y="2084832"/>
            <a:ext cx="9608127" cy="3754874"/>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suma_columnas</a:t>
            </a:r>
            <a:r>
              <a:rPr lang="es-CL" sz="2000" dirty="0">
                <a:solidFill>
                  <a:srgbClr val="F8F8F2"/>
                </a:solidFill>
                <a:latin typeface="Menlo" panose="020B0609030804020204" pitchFamily="49" charset="0"/>
              </a:rPr>
              <a:t>(archivo):</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open(archivo,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75715E"/>
                </a:solidFill>
                <a:latin typeface="Menlo" panose="020B0609030804020204" pitchFamily="49" charset="0"/>
              </a:rPr>
              <a:t># Nota: archivo de 3 columnas.</a:t>
            </a:r>
            <a:endParaRPr lang="es-CL" sz="2000" dirty="0">
              <a:solidFill>
                <a:srgbClr val="F8F8F2"/>
              </a:solidFill>
              <a:latin typeface="Menlo" panose="020B0609030804020204" pitchFamily="49" charset="0"/>
            </a:endParaRPr>
          </a:p>
          <a:p>
            <a:r>
              <a:rPr lang="es-CL" sz="2000" dirty="0">
                <a:solidFill>
                  <a:srgbClr val="F8F8F2"/>
                </a:solidFill>
                <a:latin typeface="Menlo" panose="020B0609030804020204" pitchFamily="49" charset="0"/>
              </a:rPr>
              <a:t>    </a:t>
            </a:r>
            <a:r>
              <a:rPr lang="es-CL" sz="2000" dirty="0">
                <a:solidFill>
                  <a:srgbClr val="75715E"/>
                </a:solidFill>
                <a:latin typeface="Menlo" panose="020B0609030804020204" pitchFamily="49" charset="0"/>
              </a:rPr>
              <a:t># La suma-por-columna mas general tiene otra implementacion.</a:t>
            </a:r>
            <a:endParaRPr lang="es-CL" sz="2000" dirty="0">
              <a:solidFill>
                <a:srgbClr val="F8F8F2"/>
              </a:solidFill>
              <a:latin typeface="Menlo" panose="020B0609030804020204" pitchFamily="49" charset="0"/>
            </a:endParaRPr>
          </a:p>
          <a:p>
            <a:r>
              <a:rPr lang="es-CL" sz="2000" dirty="0">
                <a:solidFill>
                  <a:srgbClr val="F8F8F2"/>
                </a:solidFill>
                <a:latin typeface="Menlo" panose="020B0609030804020204" pitchFamily="49" charset="0"/>
              </a:rPr>
              <a:t>    lista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0</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0</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0</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valores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 "</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i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range(</a:t>
            </a:r>
            <a:r>
              <a:rPr lang="es-CL" sz="2000" dirty="0">
                <a:solidFill>
                  <a:srgbClr val="AE81FF"/>
                </a:solidFill>
                <a:latin typeface="Menlo" panose="020B0609030804020204" pitchFamily="49" charset="0"/>
              </a:rPr>
              <a:t>0</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3</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lista[i]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int(valores[i])</a:t>
            </a:r>
          </a:p>
          <a:p>
            <a:r>
              <a:rPr lang="es-CL" sz="2000" dirty="0">
                <a:solidFill>
                  <a:srgbClr val="F8F8F2"/>
                </a:solidFill>
                <a:latin typeface="Menlo" panose="020B0609030804020204" pitchFamily="49" charset="0"/>
              </a:rPr>
              <a:t>    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return</a:t>
            </a:r>
            <a:r>
              <a:rPr lang="es-CL" sz="2000" dirty="0">
                <a:solidFill>
                  <a:srgbClr val="F8F8F2"/>
                </a:solidFill>
                <a:latin typeface="Menlo" panose="020B0609030804020204" pitchFamily="49" charset="0"/>
              </a:rPr>
              <a:t> lista</a:t>
            </a:r>
          </a:p>
        </p:txBody>
      </p:sp>
    </p:spTree>
    <p:extLst>
      <p:ext uri="{BB962C8B-B14F-4D97-AF65-F5344CB8AC3E}">
        <p14:creationId xmlns:p14="http://schemas.microsoft.com/office/powerpoint/2010/main" val="12047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350CD-0001-0141-89E1-6E5591C87E23}"/>
              </a:ext>
            </a:extLst>
          </p:cNvPr>
          <p:cNvSpPr>
            <a:spLocks noGrp="1"/>
          </p:cNvSpPr>
          <p:nvPr>
            <p:ph type="title"/>
          </p:nvPr>
        </p:nvSpPr>
        <p:spPr/>
        <p:txBody>
          <a:bodyPr/>
          <a:lstStyle/>
          <a:p>
            <a:r>
              <a:rPr lang="es-CL" dirty="0">
                <a:solidFill>
                  <a:srgbClr val="66D9EF"/>
                </a:solidFill>
              </a:rPr>
              <a:t>Ejercicio 2</a:t>
            </a:r>
          </a:p>
        </p:txBody>
      </p:sp>
      <p:sp>
        <p:nvSpPr>
          <p:cNvPr id="3" name="Marcador de contenido 2">
            <a:extLst>
              <a:ext uri="{FF2B5EF4-FFF2-40B4-BE49-F238E27FC236}">
                <a16:creationId xmlns:a16="http://schemas.microsoft.com/office/drawing/2014/main" id="{80B61537-ED61-3A4F-8AD4-0110994268F2}"/>
              </a:ext>
            </a:extLst>
          </p:cNvPr>
          <p:cNvSpPr>
            <a:spLocks noGrp="1"/>
          </p:cNvSpPr>
          <p:nvPr>
            <p:ph idx="1"/>
          </p:nvPr>
        </p:nvSpPr>
        <p:spPr>
          <a:xfrm>
            <a:off x="471056" y="1925782"/>
            <a:ext cx="11263744" cy="4383578"/>
          </a:xfrm>
        </p:spPr>
        <p:txBody>
          <a:bodyPr>
            <a:normAutofit/>
          </a:bodyPr>
          <a:lstStyle/>
          <a:p>
            <a:r>
              <a:rPr lang="es-CL" sz="2800" dirty="0">
                <a:solidFill>
                  <a:schemeClr val="bg1"/>
                </a:solidFill>
              </a:rPr>
              <a:t>Una tienda tiene la información de sus productos en un archivo llamado productos.txt. Cada línea del archivo tiene tres datos: el código del producto (un número entero), el nombre del producto, y la cantidad de unidades del producto que quedan en bodega.</a:t>
            </a:r>
          </a:p>
          <a:p>
            <a:r>
              <a:rPr lang="es-CL" sz="2800" dirty="0">
                <a:solidFill>
                  <a:schemeClr val="bg1"/>
                </a:solidFill>
              </a:rPr>
              <a:t>Los datos están separados por un símbolo /. Por ejemplo, el siguiente puede ser el contenido del archivo:</a:t>
            </a:r>
          </a:p>
          <a:p>
            <a:endParaRPr lang="es-CL" sz="2800" dirty="0">
              <a:solidFill>
                <a:schemeClr val="bg1"/>
              </a:solidFill>
            </a:endParaRPr>
          </a:p>
        </p:txBody>
      </p:sp>
      <p:pic>
        <p:nvPicPr>
          <p:cNvPr id="5" name="Imagen 4" descr="Imagen que contiene tabla&#10;&#10;Descripción generada automáticamente">
            <a:extLst>
              <a:ext uri="{FF2B5EF4-FFF2-40B4-BE49-F238E27FC236}">
                <a16:creationId xmlns:a16="http://schemas.microsoft.com/office/drawing/2014/main" id="{E39C7B04-913E-FA48-9021-E3159FFA2604}"/>
              </a:ext>
            </a:extLst>
          </p:cNvPr>
          <p:cNvPicPr>
            <a:picLocks noChangeAspect="1"/>
          </p:cNvPicPr>
          <p:nvPr/>
        </p:nvPicPr>
        <p:blipFill>
          <a:blip r:embed="rId2"/>
          <a:stretch>
            <a:fillRect/>
          </a:stretch>
        </p:blipFill>
        <p:spPr>
          <a:xfrm>
            <a:off x="1448378" y="4761484"/>
            <a:ext cx="9309100" cy="1511300"/>
          </a:xfrm>
          <a:prstGeom prst="rect">
            <a:avLst/>
          </a:prstGeom>
        </p:spPr>
      </p:pic>
      <p:sp>
        <p:nvSpPr>
          <p:cNvPr id="6" name="Rectángulo 5">
            <a:hlinkClick r:id="rId3"/>
            <a:extLst>
              <a:ext uri="{FF2B5EF4-FFF2-40B4-BE49-F238E27FC236}">
                <a16:creationId xmlns:a16="http://schemas.microsoft.com/office/drawing/2014/main" id="{FA5DACC4-71B9-B14D-ABFC-F8B1B0EEE348}"/>
              </a:ext>
            </a:extLst>
          </p:cNvPr>
          <p:cNvSpPr/>
          <p:nvPr/>
        </p:nvSpPr>
        <p:spPr>
          <a:xfrm>
            <a:off x="9976810" y="385161"/>
            <a:ext cx="1534779" cy="400110"/>
          </a:xfrm>
          <a:prstGeom prst="rect">
            <a:avLst/>
          </a:prstGeom>
        </p:spPr>
        <p:txBody>
          <a:bodyPr wrap="none">
            <a:spAutoFit/>
          </a:bodyPr>
          <a:lstStyle/>
          <a:p>
            <a:r>
              <a:rPr lang="es-CL" sz="2000" u="sng" dirty="0">
                <a:solidFill>
                  <a:srgbClr val="F92672"/>
                </a:solidFill>
                <a:hlinkClick r:id="rId3">
                  <a:extLst>
                    <a:ext uri="{A12FA001-AC4F-418D-AE19-62706E023703}">
                      <ahyp:hlinkClr xmlns:ahyp="http://schemas.microsoft.com/office/drawing/2018/hyperlinkcolor" val="tx"/>
                    </a:ext>
                  </a:extLst>
                </a:hlinkClick>
              </a:rPr>
              <a:t>progra.usm.cl</a:t>
            </a:r>
            <a:endParaRPr lang="es-CL" sz="2000" u="sng" dirty="0">
              <a:solidFill>
                <a:srgbClr val="F92672"/>
              </a:solidFill>
            </a:endParaRPr>
          </a:p>
        </p:txBody>
      </p:sp>
    </p:spTree>
    <p:extLst>
      <p:ext uri="{BB962C8B-B14F-4D97-AF65-F5344CB8AC3E}">
        <p14:creationId xmlns:p14="http://schemas.microsoft.com/office/powerpoint/2010/main" val="527653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350CD-0001-0141-89E1-6E5591C87E23}"/>
              </a:ext>
            </a:extLst>
          </p:cNvPr>
          <p:cNvSpPr>
            <a:spLocks noGrp="1"/>
          </p:cNvSpPr>
          <p:nvPr>
            <p:ph type="title"/>
          </p:nvPr>
        </p:nvSpPr>
        <p:spPr/>
        <p:txBody>
          <a:bodyPr/>
          <a:lstStyle/>
          <a:p>
            <a:r>
              <a:rPr lang="es-CL" dirty="0">
                <a:solidFill>
                  <a:srgbClr val="66D9EF"/>
                </a:solidFill>
              </a:rPr>
              <a:t>Ejercicio 2</a:t>
            </a:r>
          </a:p>
        </p:txBody>
      </p:sp>
      <p:sp>
        <p:nvSpPr>
          <p:cNvPr id="3" name="Marcador de contenido 2">
            <a:extLst>
              <a:ext uri="{FF2B5EF4-FFF2-40B4-BE49-F238E27FC236}">
                <a16:creationId xmlns:a16="http://schemas.microsoft.com/office/drawing/2014/main" id="{80B61537-ED61-3A4F-8AD4-0110994268F2}"/>
              </a:ext>
            </a:extLst>
          </p:cNvPr>
          <p:cNvSpPr>
            <a:spLocks noGrp="1"/>
          </p:cNvSpPr>
          <p:nvPr>
            <p:ph idx="1"/>
          </p:nvPr>
        </p:nvSpPr>
        <p:spPr>
          <a:xfrm>
            <a:off x="471056" y="1925782"/>
            <a:ext cx="11263744" cy="4383578"/>
          </a:xfrm>
        </p:spPr>
        <p:txBody>
          <a:bodyPr>
            <a:normAutofit/>
          </a:bodyPr>
          <a:lstStyle/>
          <a:p>
            <a:r>
              <a:rPr lang="es-CL" sz="2800" dirty="0">
                <a:solidFill>
                  <a:schemeClr val="bg1"/>
                </a:solidFill>
              </a:rPr>
              <a:t>Escriba la función existe_producto(codigo) que indique si existe el producto con el código dado:</a:t>
            </a:r>
          </a:p>
        </p:txBody>
      </p:sp>
      <p:sp>
        <p:nvSpPr>
          <p:cNvPr id="4" name="Rectángulo 3">
            <a:extLst>
              <a:ext uri="{FF2B5EF4-FFF2-40B4-BE49-F238E27FC236}">
                <a16:creationId xmlns:a16="http://schemas.microsoft.com/office/drawing/2014/main" id="{00AA51BA-7B28-AE4A-8A25-D9F3EDA0AEC9}"/>
              </a:ext>
            </a:extLst>
          </p:cNvPr>
          <p:cNvSpPr/>
          <p:nvPr/>
        </p:nvSpPr>
        <p:spPr>
          <a:xfrm>
            <a:off x="4253346" y="3244656"/>
            <a:ext cx="6096000" cy="2308324"/>
          </a:xfrm>
          <a:prstGeom prst="rect">
            <a:avLst/>
          </a:prstGeom>
        </p:spPr>
        <p:txBody>
          <a:bodyPr>
            <a:spAutoFit/>
          </a:bodyPr>
          <a:lstStyle/>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existe_producto(</a:t>
            </a:r>
            <a:r>
              <a:rPr lang="es-CL" dirty="0">
                <a:solidFill>
                  <a:srgbClr val="AE81FF"/>
                </a:solidFill>
                <a:latin typeface="Menlo" panose="020B0609030804020204" pitchFamily="49" charset="0"/>
              </a:rPr>
              <a:t>1784</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False</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existe_producto(</a:t>
            </a:r>
            <a:r>
              <a:rPr lang="es-CL" dirty="0">
                <a:solidFill>
                  <a:srgbClr val="AE81FF"/>
                </a:solidFill>
                <a:latin typeface="Menlo" panose="020B0609030804020204" pitchFamily="49" charset="0"/>
              </a:rPr>
              <a:t>321</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True</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existe_producto(</a:t>
            </a:r>
            <a:r>
              <a:rPr lang="es-CL" dirty="0">
                <a:solidFill>
                  <a:srgbClr val="AE81FF"/>
                </a:solidFill>
                <a:latin typeface="Menlo" panose="020B0609030804020204" pitchFamily="49" charset="0"/>
              </a:rPr>
              <a:t>613</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True</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existe_producto(</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False</a:t>
            </a:r>
          </a:p>
        </p:txBody>
      </p:sp>
    </p:spTree>
    <p:extLst>
      <p:ext uri="{BB962C8B-B14F-4D97-AF65-F5344CB8AC3E}">
        <p14:creationId xmlns:p14="http://schemas.microsoft.com/office/powerpoint/2010/main" val="2047709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4" name="Rectángulo 3">
            <a:extLst>
              <a:ext uri="{FF2B5EF4-FFF2-40B4-BE49-F238E27FC236}">
                <a16:creationId xmlns:a16="http://schemas.microsoft.com/office/drawing/2014/main" id="{25A82D30-8484-3F44-BA3E-EB97E023E28B}"/>
              </a:ext>
            </a:extLst>
          </p:cNvPr>
          <p:cNvSpPr/>
          <p:nvPr/>
        </p:nvSpPr>
        <p:spPr>
          <a:xfrm>
            <a:off x="2784763" y="2427238"/>
            <a:ext cx="7696200" cy="2554545"/>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existe_producto</a:t>
            </a:r>
            <a:r>
              <a:rPr lang="es-CL" sz="2000" dirty="0">
                <a:solidFill>
                  <a:srgbClr val="F8F8F2"/>
                </a:solidFill>
                <a:latin typeface="Menlo" panose="020B0609030804020204" pitchFamily="49" charset="0"/>
              </a:rPr>
              <a:t>(codigo):</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"productos.txt"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cod, _, _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if</a:t>
            </a:r>
            <a:r>
              <a:rPr lang="es-CL" sz="2000" dirty="0">
                <a:solidFill>
                  <a:srgbClr val="F8F8F2"/>
                </a:solidFill>
                <a:latin typeface="Menlo" panose="020B0609030804020204" pitchFamily="49" charset="0"/>
              </a:rPr>
              <a:t> int(cod)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codigo:</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return</a:t>
            </a:r>
            <a:r>
              <a:rPr lang="es-CL" sz="2000" dirty="0">
                <a:solidFill>
                  <a:srgbClr val="F8F8F2"/>
                </a:solidFill>
                <a:latin typeface="Menlo" panose="020B0609030804020204" pitchFamily="49" charset="0"/>
              </a:rPr>
              <a:t> True</a:t>
            </a:r>
          </a:p>
          <a:p>
            <a:r>
              <a:rPr lang="es-CL" sz="2000" dirty="0">
                <a:solidFill>
                  <a:srgbClr val="F8F8F2"/>
                </a:solidFill>
                <a:latin typeface="Menlo" panose="020B0609030804020204" pitchFamily="49" charset="0"/>
              </a:rPr>
              <a:t>	 a.close()</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return</a:t>
            </a:r>
            <a:r>
              <a:rPr lang="es-CL" sz="2000" dirty="0">
                <a:solidFill>
                  <a:srgbClr val="F8F8F2"/>
                </a:solidFill>
                <a:latin typeface="Menlo" panose="020B0609030804020204" pitchFamily="49" charset="0"/>
              </a:rPr>
              <a:t> False</a:t>
            </a:r>
          </a:p>
        </p:txBody>
      </p:sp>
    </p:spTree>
    <p:extLst>
      <p:ext uri="{BB962C8B-B14F-4D97-AF65-F5344CB8AC3E}">
        <p14:creationId xmlns:p14="http://schemas.microsoft.com/office/powerpoint/2010/main" val="2486555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350CD-0001-0141-89E1-6E5591C87E23}"/>
              </a:ext>
            </a:extLst>
          </p:cNvPr>
          <p:cNvSpPr>
            <a:spLocks noGrp="1"/>
          </p:cNvSpPr>
          <p:nvPr>
            <p:ph type="title"/>
          </p:nvPr>
        </p:nvSpPr>
        <p:spPr/>
        <p:txBody>
          <a:bodyPr/>
          <a:lstStyle/>
          <a:p>
            <a:r>
              <a:rPr lang="es-CL" dirty="0">
                <a:solidFill>
                  <a:srgbClr val="66D9EF"/>
                </a:solidFill>
              </a:rPr>
              <a:t>Ejercicio 2</a:t>
            </a:r>
          </a:p>
        </p:txBody>
      </p:sp>
      <p:sp>
        <p:nvSpPr>
          <p:cNvPr id="3" name="Marcador de contenido 2">
            <a:extLst>
              <a:ext uri="{FF2B5EF4-FFF2-40B4-BE49-F238E27FC236}">
                <a16:creationId xmlns:a16="http://schemas.microsoft.com/office/drawing/2014/main" id="{80B61537-ED61-3A4F-8AD4-0110994268F2}"/>
              </a:ext>
            </a:extLst>
          </p:cNvPr>
          <p:cNvSpPr>
            <a:spLocks noGrp="1"/>
          </p:cNvSpPr>
          <p:nvPr>
            <p:ph idx="1"/>
          </p:nvPr>
        </p:nvSpPr>
        <p:spPr>
          <a:xfrm>
            <a:off x="471056" y="1925782"/>
            <a:ext cx="11263744" cy="4383578"/>
          </a:xfrm>
        </p:spPr>
        <p:txBody>
          <a:bodyPr>
            <a:normAutofit/>
          </a:bodyPr>
          <a:lstStyle/>
          <a:p>
            <a:r>
              <a:rPr lang="es-CL" sz="2800" dirty="0">
                <a:solidFill>
                  <a:schemeClr val="bg1"/>
                </a:solidFill>
              </a:rPr>
              <a:t>Escriba la función por_reabastecer() que cree un nuevo archivo llamado por_reabastecer.txt que contenga los datos de todos los productos de los que queden menos de 10 unidades.</a:t>
            </a:r>
          </a:p>
          <a:p>
            <a:r>
              <a:rPr lang="es-CL" sz="2800" dirty="0">
                <a:solidFill>
                  <a:schemeClr val="bg1"/>
                </a:solidFill>
              </a:rPr>
              <a:t>En este caso, el archivo por_reabastecer.txt debe quedar así:</a:t>
            </a:r>
          </a:p>
        </p:txBody>
      </p:sp>
      <p:pic>
        <p:nvPicPr>
          <p:cNvPr id="6" name="Imagen 5">
            <a:extLst>
              <a:ext uri="{FF2B5EF4-FFF2-40B4-BE49-F238E27FC236}">
                <a16:creationId xmlns:a16="http://schemas.microsoft.com/office/drawing/2014/main" id="{1D8B0F1D-6BA2-D741-BD63-A449756D6D1A}"/>
              </a:ext>
            </a:extLst>
          </p:cNvPr>
          <p:cNvPicPr>
            <a:picLocks noChangeAspect="1"/>
          </p:cNvPicPr>
          <p:nvPr/>
        </p:nvPicPr>
        <p:blipFill>
          <a:blip r:embed="rId2"/>
          <a:stretch>
            <a:fillRect/>
          </a:stretch>
        </p:blipFill>
        <p:spPr>
          <a:xfrm>
            <a:off x="1178814" y="4516967"/>
            <a:ext cx="9410700" cy="939800"/>
          </a:xfrm>
          <a:prstGeom prst="rect">
            <a:avLst/>
          </a:prstGeom>
        </p:spPr>
      </p:pic>
    </p:spTree>
    <p:extLst>
      <p:ext uri="{BB962C8B-B14F-4D97-AF65-F5344CB8AC3E}">
        <p14:creationId xmlns:p14="http://schemas.microsoft.com/office/powerpoint/2010/main" val="1535094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5" name="Rectángulo 4">
            <a:extLst>
              <a:ext uri="{FF2B5EF4-FFF2-40B4-BE49-F238E27FC236}">
                <a16:creationId xmlns:a16="http://schemas.microsoft.com/office/drawing/2014/main" id="{44AAEA8B-C638-B348-B724-F64A280283A2}"/>
              </a:ext>
            </a:extLst>
          </p:cNvPr>
          <p:cNvSpPr/>
          <p:nvPr/>
        </p:nvSpPr>
        <p:spPr>
          <a:xfrm>
            <a:off x="2008910" y="2385814"/>
            <a:ext cx="9123218" cy="2862322"/>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por_reabstecer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"productos.txt"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reabastecer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"por_reabstecer.txt"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"w"</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cod, nombre, unidad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if</a:t>
            </a:r>
            <a:r>
              <a:rPr lang="es-CL" sz="2000" dirty="0">
                <a:solidFill>
                  <a:srgbClr val="F8F8F2"/>
                </a:solidFill>
                <a:latin typeface="Menlo" panose="020B0609030804020204" pitchFamily="49" charset="0"/>
              </a:rPr>
              <a:t> int(unidad) </a:t>
            </a:r>
            <a:r>
              <a:rPr lang="es-CL" sz="2000" dirty="0">
                <a:solidFill>
                  <a:srgbClr val="F92672"/>
                </a:solidFill>
                <a:latin typeface="Menlo" panose="020B0609030804020204" pitchFamily="49" charset="0"/>
              </a:rPr>
              <a:t>&lt;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10</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reabastecer</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write(linea)</a:t>
            </a:r>
          </a:p>
          <a:p>
            <a:r>
              <a:rPr lang="es-CL" sz="2000" dirty="0">
                <a:solidFill>
                  <a:srgbClr val="F8F8F2"/>
                </a:solidFill>
                <a:latin typeface="Menlo" panose="020B0609030804020204" pitchFamily="49" charset="0"/>
              </a:rPr>
              <a:t>    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reabastecer</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p:txBody>
      </p:sp>
    </p:spTree>
    <p:extLst>
      <p:ext uri="{BB962C8B-B14F-4D97-AF65-F5344CB8AC3E}">
        <p14:creationId xmlns:p14="http://schemas.microsoft.com/office/powerpoint/2010/main" val="2831729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48C27-53CC-4243-AF15-E6F91DE65E1A}"/>
              </a:ext>
            </a:extLst>
          </p:cNvPr>
          <p:cNvSpPr>
            <a:spLocks noGrp="1"/>
          </p:cNvSpPr>
          <p:nvPr>
            <p:ph type="title"/>
          </p:nvPr>
        </p:nvSpPr>
        <p:spPr/>
        <p:txBody>
          <a:bodyPr/>
          <a:lstStyle/>
          <a:p>
            <a:r>
              <a:rPr lang="es-CL" dirty="0">
                <a:solidFill>
                  <a:srgbClr val="66D9EF"/>
                </a:solidFill>
              </a:rPr>
              <a:t>Ejercicio 3</a:t>
            </a:r>
          </a:p>
        </p:txBody>
      </p:sp>
      <p:sp>
        <p:nvSpPr>
          <p:cNvPr id="3" name="Marcador de contenido 2">
            <a:extLst>
              <a:ext uri="{FF2B5EF4-FFF2-40B4-BE49-F238E27FC236}">
                <a16:creationId xmlns:a16="http://schemas.microsoft.com/office/drawing/2014/main" id="{A93C0C29-1C0F-BB43-B0AF-A0163471690B}"/>
              </a:ext>
            </a:extLst>
          </p:cNvPr>
          <p:cNvSpPr>
            <a:spLocks noGrp="1"/>
          </p:cNvSpPr>
          <p:nvPr>
            <p:ph idx="1"/>
          </p:nvPr>
        </p:nvSpPr>
        <p:spPr>
          <a:xfrm>
            <a:off x="720437" y="2084832"/>
            <a:ext cx="11000508" cy="4023360"/>
          </a:xfrm>
        </p:spPr>
        <p:txBody>
          <a:bodyPr>
            <a:noAutofit/>
          </a:bodyPr>
          <a:lstStyle/>
          <a:p>
            <a:r>
              <a:rPr lang="es-CL" sz="2800" dirty="0">
                <a:solidFill>
                  <a:schemeClr val="bg1"/>
                </a:solidFill>
              </a:rPr>
              <a:t>Una consulta médica tiene un archivo pacientes.txt con los datos personales de sus pacientes. Cada línea del archivo tiene el rut, el nombre y la edad de un paciente, separados por un símbolo :. Así se ve el archivo:</a:t>
            </a:r>
          </a:p>
          <a:p>
            <a:pPr marL="0" indent="0">
              <a:buNone/>
            </a:pPr>
            <a:endParaRPr lang="es-CL" sz="2800" dirty="0">
              <a:solidFill>
                <a:schemeClr val="bg1"/>
              </a:solidFill>
            </a:endParaRPr>
          </a:p>
          <a:p>
            <a:pPr marL="0" indent="0">
              <a:buNone/>
            </a:pPr>
            <a:endParaRPr lang="es-CL" sz="2800" dirty="0">
              <a:solidFill>
                <a:schemeClr val="bg1"/>
              </a:solidFill>
            </a:endParaRPr>
          </a:p>
          <a:p>
            <a:pPr marL="0" indent="0">
              <a:buNone/>
            </a:pPr>
            <a:endParaRPr lang="es-CL" sz="2800" dirty="0">
              <a:solidFill>
                <a:schemeClr val="bg1"/>
              </a:solidFill>
            </a:endParaRPr>
          </a:p>
        </p:txBody>
      </p:sp>
      <p:sp>
        <p:nvSpPr>
          <p:cNvPr id="6" name="Rectángulo 5">
            <a:extLst>
              <a:ext uri="{FF2B5EF4-FFF2-40B4-BE49-F238E27FC236}">
                <a16:creationId xmlns:a16="http://schemas.microsoft.com/office/drawing/2014/main" id="{5192DC9A-14B3-0843-BD32-0E9E3D93E38C}"/>
              </a:ext>
            </a:extLst>
          </p:cNvPr>
          <p:cNvSpPr/>
          <p:nvPr/>
        </p:nvSpPr>
        <p:spPr>
          <a:xfrm>
            <a:off x="3976255" y="3771036"/>
            <a:ext cx="6096000" cy="1754326"/>
          </a:xfrm>
          <a:prstGeom prst="rect">
            <a:avLst/>
          </a:prstGeom>
        </p:spPr>
        <p:txBody>
          <a:bodyPr>
            <a:spAutoFit/>
          </a:bodyPr>
          <a:lstStyle/>
          <a:p>
            <a:r>
              <a:rPr lang="es-CL" dirty="0">
                <a:solidFill>
                  <a:schemeClr val="bg1"/>
                </a:solidFill>
                <a:latin typeface="Menlo" panose="020B0609030804020204" pitchFamily="49" charset="0"/>
              </a:rPr>
              <a:t>12393241-2:Ignacio Rubio:33</a:t>
            </a:r>
          </a:p>
          <a:p>
            <a:r>
              <a:rPr lang="es-CL" dirty="0">
                <a:solidFill>
                  <a:schemeClr val="bg1"/>
                </a:solidFill>
                <a:latin typeface="Menlo" panose="020B0609030804020204" pitchFamily="49" charset="0"/>
              </a:rPr>
              <a:t>11426761-9:Romina Pérez:35</a:t>
            </a:r>
          </a:p>
          <a:p>
            <a:r>
              <a:rPr lang="es-CL" dirty="0">
                <a:solidFill>
                  <a:schemeClr val="bg1"/>
                </a:solidFill>
                <a:latin typeface="Menlo" panose="020B0609030804020204" pitchFamily="49" charset="0"/>
              </a:rPr>
              <a:t>15690109-1:Francisco Ruiz:26</a:t>
            </a:r>
          </a:p>
          <a:p>
            <a:r>
              <a:rPr lang="es-CL" dirty="0">
                <a:solidFill>
                  <a:schemeClr val="bg1"/>
                </a:solidFill>
                <a:latin typeface="Menlo" panose="020B0609030804020204" pitchFamily="49" charset="0"/>
              </a:rPr>
              <a:t>6092377-9:Alfonso San Martín:65</a:t>
            </a:r>
          </a:p>
          <a:p>
            <a:r>
              <a:rPr lang="es-CL" dirty="0">
                <a:solidFill>
                  <a:schemeClr val="bg1"/>
                </a:solidFill>
                <a:latin typeface="Menlo" panose="020B0609030804020204" pitchFamily="49" charset="0"/>
              </a:rPr>
              <a:t>9023365-3:Manuel Toledo:38</a:t>
            </a:r>
          </a:p>
          <a:p>
            <a:r>
              <a:rPr lang="es-CL" dirty="0">
                <a:solidFill>
                  <a:schemeClr val="bg1"/>
                </a:solidFill>
                <a:latin typeface="Menlo" panose="020B0609030804020204" pitchFamily="49" charset="0"/>
              </a:rPr>
              <a:t>...</a:t>
            </a:r>
          </a:p>
        </p:txBody>
      </p:sp>
      <p:sp>
        <p:nvSpPr>
          <p:cNvPr id="7" name="Rectángulo 6">
            <a:hlinkClick r:id="rId2"/>
            <a:extLst>
              <a:ext uri="{FF2B5EF4-FFF2-40B4-BE49-F238E27FC236}">
                <a16:creationId xmlns:a16="http://schemas.microsoft.com/office/drawing/2014/main" id="{EEABC980-6EED-3B4C-89AB-2217C1D56241}"/>
              </a:ext>
            </a:extLst>
          </p:cNvPr>
          <p:cNvSpPr/>
          <p:nvPr/>
        </p:nvSpPr>
        <p:spPr>
          <a:xfrm>
            <a:off x="9371807" y="565142"/>
            <a:ext cx="1400896" cy="369332"/>
          </a:xfrm>
          <a:prstGeom prst="rect">
            <a:avLst/>
          </a:prstGeom>
        </p:spPr>
        <p:txBody>
          <a:bodyPr wrap="none">
            <a:spAutoFit/>
          </a:bodyPr>
          <a:lstStyle/>
          <a:p>
            <a:r>
              <a:rPr lang="es-CL" dirty="0">
                <a:solidFill>
                  <a:srgbClr val="F92672"/>
                </a:solidFill>
                <a:hlinkClick r:id="rId2">
                  <a:extLst>
                    <a:ext uri="{A12FA001-AC4F-418D-AE19-62706E023703}">
                      <ahyp:hlinkClr xmlns:ahyp="http://schemas.microsoft.com/office/drawing/2018/hyperlinkcolor" val="tx"/>
                    </a:ext>
                  </a:extLst>
                </a:hlinkClick>
              </a:rPr>
              <a:t>progra.usm.cl</a:t>
            </a:r>
            <a:endParaRPr lang="es-CL" dirty="0">
              <a:solidFill>
                <a:srgbClr val="F92672"/>
              </a:solidFill>
            </a:endParaRPr>
          </a:p>
        </p:txBody>
      </p:sp>
    </p:spTree>
    <p:extLst>
      <p:ext uri="{BB962C8B-B14F-4D97-AF65-F5344CB8AC3E}">
        <p14:creationId xmlns:p14="http://schemas.microsoft.com/office/powerpoint/2010/main" val="28743114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4A365-6CF1-2D40-AF24-29A91D67EE91}"/>
              </a:ext>
            </a:extLst>
          </p:cNvPr>
          <p:cNvSpPr>
            <a:spLocks noGrp="1"/>
          </p:cNvSpPr>
          <p:nvPr>
            <p:ph type="title"/>
          </p:nvPr>
        </p:nvSpPr>
        <p:spPr/>
        <p:txBody>
          <a:bodyPr/>
          <a:lstStyle/>
          <a:p>
            <a:r>
              <a:rPr lang="es-CL" dirty="0">
                <a:solidFill>
                  <a:srgbClr val="66D9EF"/>
                </a:solidFill>
              </a:rPr>
              <a:t>Ejercicio 3</a:t>
            </a:r>
            <a:endParaRPr lang="es-CL" dirty="0"/>
          </a:p>
        </p:txBody>
      </p:sp>
      <p:sp>
        <p:nvSpPr>
          <p:cNvPr id="3" name="Marcador de contenido 2">
            <a:extLst>
              <a:ext uri="{FF2B5EF4-FFF2-40B4-BE49-F238E27FC236}">
                <a16:creationId xmlns:a16="http://schemas.microsoft.com/office/drawing/2014/main" id="{739D19CC-F559-774F-B714-4CAD2437C99F}"/>
              </a:ext>
            </a:extLst>
          </p:cNvPr>
          <p:cNvSpPr>
            <a:spLocks noGrp="1"/>
          </p:cNvSpPr>
          <p:nvPr>
            <p:ph idx="1"/>
          </p:nvPr>
        </p:nvSpPr>
        <p:spPr>
          <a:xfrm>
            <a:off x="595191" y="2084832"/>
            <a:ext cx="10577946" cy="4023360"/>
          </a:xfrm>
        </p:spPr>
        <p:txBody>
          <a:bodyPr>
            <a:normAutofit/>
          </a:bodyPr>
          <a:lstStyle/>
          <a:p>
            <a:r>
              <a:rPr lang="es-CL" sz="2800" dirty="0">
                <a:solidFill>
                  <a:schemeClr val="bg1"/>
                </a:solidFill>
              </a:rPr>
              <a:t>Además, cada vez que alguien se atiende en la consulta, la visita es registrada en el archivo atenciones.txt, agregando una línea que tiene el rut del paciente, la fecha de la visita (en formato dia-mes-año) y el precio de la atención, también separados por :. El archivo se ve así:</a:t>
            </a:r>
          </a:p>
          <a:p>
            <a:endParaRPr lang="es-CL" sz="2400" dirty="0"/>
          </a:p>
          <a:p>
            <a:r>
              <a:rPr lang="es-CL" sz="2400" dirty="0"/>
              <a:t>..</a:t>
            </a:r>
          </a:p>
        </p:txBody>
      </p:sp>
      <p:sp>
        <p:nvSpPr>
          <p:cNvPr id="4" name="Rectángulo 3">
            <a:extLst>
              <a:ext uri="{FF2B5EF4-FFF2-40B4-BE49-F238E27FC236}">
                <a16:creationId xmlns:a16="http://schemas.microsoft.com/office/drawing/2014/main" id="{9679A33F-0148-BA4C-A39C-8B87268299FD}"/>
              </a:ext>
            </a:extLst>
          </p:cNvPr>
          <p:cNvSpPr/>
          <p:nvPr/>
        </p:nvSpPr>
        <p:spPr>
          <a:xfrm>
            <a:off x="3976254" y="4096512"/>
            <a:ext cx="6096000" cy="2031325"/>
          </a:xfrm>
          <a:prstGeom prst="rect">
            <a:avLst/>
          </a:prstGeom>
        </p:spPr>
        <p:txBody>
          <a:bodyPr>
            <a:spAutoFit/>
          </a:bodyPr>
          <a:lstStyle/>
          <a:p>
            <a:r>
              <a:rPr lang="es-CL" dirty="0">
                <a:solidFill>
                  <a:schemeClr val="bg1"/>
                </a:solidFill>
                <a:latin typeface="Menlo" panose="020B0609030804020204" pitchFamily="49" charset="0"/>
              </a:rPr>
              <a:t>8015253-1:4-5-2010:69580</a:t>
            </a:r>
          </a:p>
          <a:p>
            <a:r>
              <a:rPr lang="es-CL" dirty="0">
                <a:solidFill>
                  <a:schemeClr val="bg1"/>
                </a:solidFill>
                <a:latin typeface="Menlo" panose="020B0609030804020204" pitchFamily="49" charset="0"/>
              </a:rPr>
              <a:t>12393241-2:6-5-2010:57274</a:t>
            </a:r>
          </a:p>
          <a:p>
            <a:r>
              <a:rPr lang="es-CL" dirty="0">
                <a:solidFill>
                  <a:schemeClr val="bg1"/>
                </a:solidFill>
                <a:latin typeface="Menlo" panose="020B0609030804020204" pitchFamily="49" charset="0"/>
              </a:rPr>
              <a:t>10985778-5:8-5-2010:73206</a:t>
            </a:r>
          </a:p>
          <a:p>
            <a:r>
              <a:rPr lang="es-CL" dirty="0">
                <a:solidFill>
                  <a:schemeClr val="bg1"/>
                </a:solidFill>
                <a:latin typeface="Menlo" panose="020B0609030804020204" pitchFamily="49" charset="0"/>
              </a:rPr>
              <a:t>8015253-1:10-5-2010:30796</a:t>
            </a:r>
          </a:p>
          <a:p>
            <a:r>
              <a:rPr lang="es-CL" dirty="0">
                <a:solidFill>
                  <a:schemeClr val="bg1"/>
                </a:solidFill>
                <a:latin typeface="Menlo" panose="020B0609030804020204" pitchFamily="49" charset="0"/>
              </a:rPr>
              <a:t>8015253-1:12-5-2010:47048</a:t>
            </a:r>
          </a:p>
          <a:p>
            <a:r>
              <a:rPr lang="es-CL" dirty="0">
                <a:solidFill>
                  <a:schemeClr val="bg1"/>
                </a:solidFill>
                <a:latin typeface="Menlo" panose="020B0609030804020204" pitchFamily="49" charset="0"/>
              </a:rPr>
              <a:t>12028339-1:12-5-2010:47927</a:t>
            </a:r>
          </a:p>
          <a:p>
            <a:r>
              <a:rPr lang="es-CL" dirty="0">
                <a:solidFill>
                  <a:schemeClr val="bg1"/>
                </a:solidFill>
                <a:latin typeface="Menlo" panose="020B0609030804020204" pitchFamily="49" charset="0"/>
              </a:rPr>
              <a:t>...</a:t>
            </a:r>
          </a:p>
        </p:txBody>
      </p:sp>
    </p:spTree>
    <p:extLst>
      <p:ext uri="{BB962C8B-B14F-4D97-AF65-F5344CB8AC3E}">
        <p14:creationId xmlns:p14="http://schemas.microsoft.com/office/powerpoint/2010/main" val="39010768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4A365-6CF1-2D40-AF24-29A91D67EE91}"/>
              </a:ext>
            </a:extLst>
          </p:cNvPr>
          <p:cNvSpPr>
            <a:spLocks noGrp="1"/>
          </p:cNvSpPr>
          <p:nvPr>
            <p:ph type="title"/>
          </p:nvPr>
        </p:nvSpPr>
        <p:spPr/>
        <p:txBody>
          <a:bodyPr/>
          <a:lstStyle/>
          <a:p>
            <a:r>
              <a:rPr lang="es-CL" dirty="0">
                <a:solidFill>
                  <a:srgbClr val="66D9EF"/>
                </a:solidFill>
              </a:rPr>
              <a:t>Ejercicio 3</a:t>
            </a:r>
            <a:endParaRPr lang="es-CL" dirty="0"/>
          </a:p>
        </p:txBody>
      </p:sp>
      <p:sp>
        <p:nvSpPr>
          <p:cNvPr id="3" name="Marcador de contenido 2">
            <a:extLst>
              <a:ext uri="{FF2B5EF4-FFF2-40B4-BE49-F238E27FC236}">
                <a16:creationId xmlns:a16="http://schemas.microsoft.com/office/drawing/2014/main" id="{739D19CC-F559-774F-B714-4CAD2437C99F}"/>
              </a:ext>
            </a:extLst>
          </p:cNvPr>
          <p:cNvSpPr>
            <a:spLocks noGrp="1"/>
          </p:cNvSpPr>
          <p:nvPr>
            <p:ph idx="1"/>
          </p:nvPr>
        </p:nvSpPr>
        <p:spPr>
          <a:xfrm>
            <a:off x="595191" y="2084832"/>
            <a:ext cx="11361282" cy="4662332"/>
          </a:xfrm>
        </p:spPr>
        <p:txBody>
          <a:bodyPr>
            <a:normAutofit/>
          </a:bodyPr>
          <a:lstStyle/>
          <a:p>
            <a:r>
              <a:rPr lang="es-CL" sz="2800" dirty="0">
                <a:solidFill>
                  <a:schemeClr val="bg1"/>
                </a:solidFill>
              </a:rPr>
              <a:t>A) Escriba la función costo_total_paciente(rut) que entregue el costo total de las atenciones del paciente con el rut dado:</a:t>
            </a:r>
          </a:p>
          <a:p>
            <a:endParaRPr lang="es-CL" sz="2800" dirty="0">
              <a:solidFill>
                <a:schemeClr val="bg1"/>
              </a:solidFill>
            </a:endParaRPr>
          </a:p>
          <a:p>
            <a:endParaRPr lang="es-CL" sz="2800" dirty="0">
              <a:solidFill>
                <a:schemeClr val="bg1"/>
              </a:solidFill>
            </a:endParaRPr>
          </a:p>
          <a:p>
            <a:r>
              <a:rPr lang="es-CL" sz="2800" dirty="0">
                <a:solidFill>
                  <a:schemeClr val="bg1"/>
                </a:solidFill>
              </a:rPr>
              <a:t>B) Escriba la función pacientes_dia(dia, mes, anio) que entregue una lista con los nombres de los pacientes que se atendieron el día señalado</a:t>
            </a:r>
          </a:p>
        </p:txBody>
      </p:sp>
      <p:sp>
        <p:nvSpPr>
          <p:cNvPr id="5" name="Rectángulo 4">
            <a:extLst>
              <a:ext uri="{FF2B5EF4-FFF2-40B4-BE49-F238E27FC236}">
                <a16:creationId xmlns:a16="http://schemas.microsoft.com/office/drawing/2014/main" id="{B46B3174-E9B6-794E-9655-5AA75823FC80}"/>
              </a:ext>
            </a:extLst>
          </p:cNvPr>
          <p:cNvSpPr/>
          <p:nvPr/>
        </p:nvSpPr>
        <p:spPr>
          <a:xfrm>
            <a:off x="3463636" y="2984283"/>
            <a:ext cx="6137564" cy="1200329"/>
          </a:xfrm>
          <a:prstGeom prst="rect">
            <a:avLst/>
          </a:prstGeom>
        </p:spPr>
        <p:txBody>
          <a:bodyPr wrap="square">
            <a:spAutoFit/>
          </a:bodyPr>
          <a:lstStyle/>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costo_total_paciente(</a:t>
            </a:r>
            <a:r>
              <a:rPr lang="es-CL" dirty="0">
                <a:solidFill>
                  <a:srgbClr val="E6DB74"/>
                </a:solidFill>
                <a:latin typeface="Menlo" panose="020B0609030804020204" pitchFamily="49" charset="0"/>
              </a:rPr>
              <a:t>'8015253-1'</a:t>
            </a:r>
            <a:r>
              <a:rPr lang="es-CL" dirty="0">
                <a:solidFill>
                  <a:srgbClr val="F8F8F2"/>
                </a:solidFill>
                <a:latin typeface="Menlo" panose="020B0609030804020204" pitchFamily="49" charset="0"/>
              </a:rPr>
              <a:t>)</a:t>
            </a:r>
          </a:p>
          <a:p>
            <a:r>
              <a:rPr lang="es-CL" dirty="0">
                <a:solidFill>
                  <a:srgbClr val="AE81FF"/>
                </a:solidFill>
                <a:latin typeface="Menlo" panose="020B0609030804020204" pitchFamily="49" charset="0"/>
              </a:rPr>
              <a:t>297572</a:t>
            </a:r>
            <a:endParaRPr lang="es-CL" dirty="0">
              <a:solidFill>
                <a:srgbClr val="F8F8F2"/>
              </a:solidFill>
              <a:latin typeface="Menlo" panose="020B0609030804020204" pitchFamily="49" charset="0"/>
            </a:endParaRP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costo_total_paciente(</a:t>
            </a:r>
            <a:r>
              <a:rPr lang="es-CL" dirty="0">
                <a:solidFill>
                  <a:srgbClr val="E6DB74"/>
                </a:solidFill>
                <a:latin typeface="Menlo" panose="020B0609030804020204" pitchFamily="49" charset="0"/>
              </a:rPr>
              <a:t>'14350739-4'</a:t>
            </a:r>
            <a:r>
              <a:rPr lang="es-CL" dirty="0">
                <a:solidFill>
                  <a:srgbClr val="F8F8F2"/>
                </a:solidFill>
                <a:latin typeface="Menlo" panose="020B0609030804020204" pitchFamily="49" charset="0"/>
              </a:rPr>
              <a:t>)</a:t>
            </a:r>
          </a:p>
          <a:p>
            <a:r>
              <a:rPr lang="es-CL" dirty="0">
                <a:solidFill>
                  <a:srgbClr val="AE81FF"/>
                </a:solidFill>
                <a:latin typeface="Menlo" panose="020B0609030804020204" pitchFamily="49" charset="0"/>
              </a:rPr>
              <a:t>0</a:t>
            </a:r>
            <a:endParaRPr lang="es-CL" dirty="0">
              <a:solidFill>
                <a:srgbClr val="F8F8F2"/>
              </a:solidFill>
              <a:latin typeface="Menlo" panose="020B0609030804020204" pitchFamily="49" charset="0"/>
            </a:endParaRPr>
          </a:p>
        </p:txBody>
      </p:sp>
      <p:sp>
        <p:nvSpPr>
          <p:cNvPr id="6" name="Rectángulo 5">
            <a:extLst>
              <a:ext uri="{FF2B5EF4-FFF2-40B4-BE49-F238E27FC236}">
                <a16:creationId xmlns:a16="http://schemas.microsoft.com/office/drawing/2014/main" id="{05F61D31-578E-B24B-82E8-B3930C16A985}"/>
              </a:ext>
            </a:extLst>
          </p:cNvPr>
          <p:cNvSpPr/>
          <p:nvPr/>
        </p:nvSpPr>
        <p:spPr>
          <a:xfrm>
            <a:off x="3505200" y="5084063"/>
            <a:ext cx="6096000" cy="1200329"/>
          </a:xfrm>
          <a:prstGeom prst="rect">
            <a:avLst/>
          </a:prstGeom>
        </p:spPr>
        <p:txBody>
          <a:bodyPr>
            <a:spAutoFit/>
          </a:bodyPr>
          <a:lstStyle/>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pacientes_dia(</a:t>
            </a:r>
            <a:r>
              <a:rPr lang="es-CL" dirty="0">
                <a:solidFill>
                  <a:srgbClr val="AE81FF"/>
                </a:solidFill>
                <a:latin typeface="Menlo" panose="020B0609030804020204" pitchFamily="49" charset="0"/>
              </a:rPr>
              <a:t>2</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6</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2010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a:t>
            </a:r>
            <a:r>
              <a:rPr lang="es-CL" dirty="0">
                <a:solidFill>
                  <a:srgbClr val="E6DB74"/>
                </a:solidFill>
                <a:latin typeface="Menlo" panose="020B0609030804020204" pitchFamily="49" charset="0"/>
              </a:rPr>
              <a:t>'Pablo Muñoz'</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'Alfonso San Martín'</a:t>
            </a:r>
            <a:r>
              <a:rPr lang="es-CL" dirty="0">
                <a:solidFill>
                  <a:srgbClr val="F8F8F2"/>
                </a:solidFill>
                <a:latin typeface="Menlo" panose="020B0609030804020204" pitchFamily="49" charset="0"/>
              </a:rPr>
              <a:t>]</a:t>
            </a:r>
          </a:p>
          <a:p>
            <a:r>
              <a:rPr lang="es-CL" dirty="0">
                <a:solidFill>
                  <a:srgbClr val="F92672"/>
                </a:solidFill>
                <a:latin typeface="Menlo" panose="020B0609030804020204" pitchFamily="49" charset="0"/>
              </a:rPr>
              <a:t>&gt;&gt;&gt;</a:t>
            </a:r>
            <a:r>
              <a:rPr lang="es-CL" dirty="0">
                <a:solidFill>
                  <a:srgbClr val="F8F8F2"/>
                </a:solidFill>
                <a:latin typeface="Menlo" panose="020B0609030804020204" pitchFamily="49" charset="0"/>
              </a:rPr>
              <a:t> pacientes_dia(</a:t>
            </a:r>
            <a:r>
              <a:rPr lang="es-CL" dirty="0">
                <a:solidFill>
                  <a:srgbClr val="AE81FF"/>
                </a:solidFill>
                <a:latin typeface="Menlo" panose="020B0609030804020204" pitchFamily="49" charset="0"/>
              </a:rPr>
              <a:t>23</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6</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2010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a:t>
            </a:r>
          </a:p>
        </p:txBody>
      </p:sp>
    </p:spTree>
    <p:extLst>
      <p:ext uri="{BB962C8B-B14F-4D97-AF65-F5344CB8AC3E}">
        <p14:creationId xmlns:p14="http://schemas.microsoft.com/office/powerpoint/2010/main" val="3033524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4" name="Rectángulo 3">
            <a:extLst>
              <a:ext uri="{FF2B5EF4-FFF2-40B4-BE49-F238E27FC236}">
                <a16:creationId xmlns:a16="http://schemas.microsoft.com/office/drawing/2014/main" id="{45490410-556F-4144-9884-FE23300B59F7}"/>
              </a:ext>
            </a:extLst>
          </p:cNvPr>
          <p:cNvSpPr/>
          <p:nvPr/>
        </p:nvSpPr>
        <p:spPr>
          <a:xfrm>
            <a:off x="2646217" y="2385767"/>
            <a:ext cx="9822873" cy="2862322"/>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costo_total_paciente</a:t>
            </a:r>
            <a:r>
              <a:rPr lang="es-CL" sz="2000" dirty="0">
                <a:solidFill>
                  <a:srgbClr val="F8F8F2"/>
                </a:solidFill>
                <a:latin typeface="Menlo" panose="020B0609030804020204" pitchFamily="49" charset="0"/>
              </a:rPr>
              <a:t>(rut):</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"atenciones.txt"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suma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0</a:t>
            </a:r>
            <a:endParaRPr lang="es-CL" sz="2000" dirty="0">
              <a:solidFill>
                <a:srgbClr val="F8F8F2"/>
              </a:solidFill>
              <a:latin typeface="Menlo" panose="020B0609030804020204" pitchFamily="49" charset="0"/>
            </a:endParaRP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r, _, costo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if</a:t>
            </a:r>
            <a:r>
              <a:rPr lang="es-CL" sz="2000" dirty="0">
                <a:solidFill>
                  <a:srgbClr val="F8F8F2"/>
                </a:solidFill>
                <a:latin typeface="Menlo" panose="020B0609030804020204" pitchFamily="49" charset="0"/>
              </a:rPr>
              <a:t> rut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r:</a:t>
            </a:r>
          </a:p>
          <a:p>
            <a:r>
              <a:rPr lang="es-CL" sz="2000" dirty="0">
                <a:solidFill>
                  <a:srgbClr val="F8F8F2"/>
                </a:solidFill>
                <a:latin typeface="Menlo" panose="020B0609030804020204" pitchFamily="49" charset="0"/>
              </a:rPr>
              <a:t>            suma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int(costo)</a:t>
            </a:r>
          </a:p>
          <a:p>
            <a:r>
              <a:rPr lang="es-CL" sz="2000" dirty="0">
                <a:solidFill>
                  <a:srgbClr val="F8F8F2"/>
                </a:solidFill>
                <a:latin typeface="Menlo" panose="020B0609030804020204" pitchFamily="49" charset="0"/>
              </a:rPr>
              <a:t>    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return</a:t>
            </a:r>
            <a:r>
              <a:rPr lang="es-CL" sz="2000" dirty="0">
                <a:solidFill>
                  <a:srgbClr val="F8F8F2"/>
                </a:solidFill>
                <a:latin typeface="Menlo" panose="020B0609030804020204" pitchFamily="49" charset="0"/>
              </a:rPr>
              <a:t> suma</a:t>
            </a:r>
          </a:p>
        </p:txBody>
      </p:sp>
    </p:spTree>
    <p:extLst>
      <p:ext uri="{BB962C8B-B14F-4D97-AF65-F5344CB8AC3E}">
        <p14:creationId xmlns:p14="http://schemas.microsoft.com/office/powerpoint/2010/main" val="17352299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BD4A43FF-904B-5445-B94D-3ED1B36DE020}"/>
              </a:ext>
            </a:extLst>
          </p:cNvPr>
          <p:cNvSpPr>
            <a:spLocks noGrp="1"/>
          </p:cNvSpPr>
          <p:nvPr>
            <p:ph type="title"/>
          </p:nvPr>
        </p:nvSpPr>
        <p:spPr/>
        <p:txBody>
          <a:bodyPr/>
          <a:lstStyle/>
          <a:p>
            <a:r>
              <a:rPr lang="es-CL" dirty="0">
                <a:solidFill>
                  <a:srgbClr val="66D9EF"/>
                </a:solidFill>
              </a:rPr>
              <a:t>Solución</a:t>
            </a:r>
          </a:p>
        </p:txBody>
      </p:sp>
      <p:sp>
        <p:nvSpPr>
          <p:cNvPr id="5" name="Rectángulo 4">
            <a:extLst>
              <a:ext uri="{FF2B5EF4-FFF2-40B4-BE49-F238E27FC236}">
                <a16:creationId xmlns:a16="http://schemas.microsoft.com/office/drawing/2014/main" id="{2B8CD415-7327-3D4F-A20B-84A18946B6AA}"/>
              </a:ext>
            </a:extLst>
          </p:cNvPr>
          <p:cNvSpPr/>
          <p:nvPr/>
        </p:nvSpPr>
        <p:spPr>
          <a:xfrm>
            <a:off x="2382980" y="1648691"/>
            <a:ext cx="9268691" cy="4801314"/>
          </a:xfrm>
          <a:prstGeom prst="rect">
            <a:avLst/>
          </a:prstGeom>
        </p:spPr>
        <p:txBody>
          <a:bodyPr wrap="square">
            <a:spAutoFit/>
          </a:bodyPr>
          <a:lstStyle/>
          <a:p>
            <a:r>
              <a:rPr lang="es-CL" dirty="0">
                <a:solidFill>
                  <a:srgbClr val="66D9EF"/>
                </a:solidFill>
                <a:latin typeface="Menlo" panose="020B0609030804020204" pitchFamily="49" charset="0"/>
              </a:rPr>
              <a:t>def</a:t>
            </a:r>
            <a:r>
              <a:rPr lang="es-CL" dirty="0">
                <a:solidFill>
                  <a:srgbClr val="F8F8F2"/>
                </a:solidFill>
                <a:latin typeface="Menlo" panose="020B0609030804020204" pitchFamily="49" charset="0"/>
              </a:rPr>
              <a:t> </a:t>
            </a:r>
            <a:r>
              <a:rPr lang="es-CL" dirty="0">
                <a:solidFill>
                  <a:srgbClr val="A6E22E"/>
                </a:solidFill>
                <a:latin typeface="Menlo" panose="020B0609030804020204" pitchFamily="49" charset="0"/>
              </a:rPr>
              <a:t>pacientes_dia</a:t>
            </a:r>
            <a:r>
              <a:rPr lang="es-CL" dirty="0">
                <a:solidFill>
                  <a:srgbClr val="F8F8F2"/>
                </a:solidFill>
                <a:latin typeface="Menlo" panose="020B0609030804020204" pitchFamily="49" charset="0"/>
              </a:rPr>
              <a:t>(dia, mes, anio):</a:t>
            </a:r>
          </a:p>
          <a:p>
            <a:r>
              <a:rPr lang="es-CL" dirty="0">
                <a:solidFill>
                  <a:srgbClr val="F8F8F2"/>
                </a:solidFill>
                <a:latin typeface="Menlo" panose="020B0609030804020204" pitchFamily="49" charset="0"/>
              </a:rPr>
              <a:t>    a1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open(</a:t>
            </a:r>
            <a:r>
              <a:rPr lang="es-CL" dirty="0">
                <a:solidFill>
                  <a:srgbClr val="E6DB74"/>
                </a:solidFill>
                <a:latin typeface="Menlo" panose="020B0609030804020204" pitchFamily="49" charset="0"/>
              </a:rPr>
              <a:t>"atenciones.txt"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"r"</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lista_ruts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p>
          <a:p>
            <a:r>
              <a:rPr lang="es-CL" dirty="0">
                <a:solidFill>
                  <a:srgbClr val="F8F8F2"/>
                </a:solidFill>
                <a:latin typeface="Menlo" panose="020B0609030804020204" pitchFamily="49" charset="0"/>
              </a:rPr>
              <a:t>    lista_pacientes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linea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a1:</a:t>
            </a:r>
          </a:p>
          <a:p>
            <a:r>
              <a:rPr lang="es-CL" dirty="0">
                <a:solidFill>
                  <a:srgbClr val="F8F8F2"/>
                </a:solidFill>
                <a:latin typeface="Menlo" panose="020B0609030804020204" pitchFamily="49" charset="0"/>
              </a:rPr>
              <a:t>        rut, fecha, _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linea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strip()</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split(</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d, m, 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fecha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split(</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int(d)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dia </a:t>
            </a:r>
            <a:r>
              <a:rPr lang="es-CL" dirty="0">
                <a:solidFill>
                  <a:srgbClr val="F92672"/>
                </a:solidFill>
                <a:latin typeface="Menlo" panose="020B0609030804020204" pitchFamily="49" charset="0"/>
              </a:rPr>
              <a:t>and</a:t>
            </a:r>
            <a:r>
              <a:rPr lang="es-CL" dirty="0">
                <a:solidFill>
                  <a:srgbClr val="F8F8F2"/>
                </a:solidFill>
                <a:latin typeface="Menlo" panose="020B0609030804020204" pitchFamily="49" charset="0"/>
              </a:rPr>
              <a:t> int(m)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mes </a:t>
            </a:r>
            <a:r>
              <a:rPr lang="es-CL" dirty="0">
                <a:solidFill>
                  <a:srgbClr val="F92672"/>
                </a:solidFill>
                <a:latin typeface="Menlo" panose="020B0609030804020204" pitchFamily="49" charset="0"/>
              </a:rPr>
              <a:t>and</a:t>
            </a:r>
            <a:r>
              <a:rPr lang="es-CL" dirty="0">
                <a:solidFill>
                  <a:srgbClr val="F8F8F2"/>
                </a:solidFill>
                <a:latin typeface="Menlo" panose="020B0609030804020204" pitchFamily="49" charset="0"/>
              </a:rPr>
              <a:t> int(a)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anio:</a:t>
            </a:r>
          </a:p>
          <a:p>
            <a:r>
              <a:rPr lang="es-CL" dirty="0">
                <a:solidFill>
                  <a:srgbClr val="F8F8F2"/>
                </a:solidFill>
                <a:latin typeface="Menlo" panose="020B0609030804020204" pitchFamily="49" charset="0"/>
              </a:rPr>
              <a:t>            lista_ruts</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append(rut)</a:t>
            </a:r>
          </a:p>
          <a:p>
            <a:r>
              <a:rPr lang="es-CL" dirty="0">
                <a:solidFill>
                  <a:srgbClr val="F8F8F2"/>
                </a:solidFill>
                <a:latin typeface="Menlo" panose="020B0609030804020204" pitchFamily="49" charset="0"/>
              </a:rPr>
              <a:t>    a1</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close()</a:t>
            </a:r>
          </a:p>
          <a:p>
            <a:r>
              <a:rPr lang="es-CL" dirty="0">
                <a:solidFill>
                  <a:srgbClr val="F8F8F2"/>
                </a:solidFill>
                <a:latin typeface="Menlo" panose="020B0609030804020204" pitchFamily="49" charset="0"/>
              </a:rPr>
              <a:t>    a2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open(</a:t>
            </a:r>
            <a:r>
              <a:rPr lang="es-CL" dirty="0">
                <a:solidFill>
                  <a:srgbClr val="E6DB74"/>
                </a:solidFill>
                <a:latin typeface="Menlo" panose="020B0609030804020204" pitchFamily="49" charset="0"/>
              </a:rPr>
              <a:t>"pacientes.txt"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"r"</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linea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a2:</a:t>
            </a:r>
          </a:p>
          <a:p>
            <a:r>
              <a:rPr lang="es-CL" dirty="0">
                <a:solidFill>
                  <a:srgbClr val="F8F8F2"/>
                </a:solidFill>
                <a:latin typeface="Menlo" panose="020B0609030804020204" pitchFamily="49" charset="0"/>
              </a:rPr>
              <a:t>        rut, nombre, _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linea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strip()</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split(</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rut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lista_ruts:</a:t>
            </a:r>
          </a:p>
          <a:p>
            <a:r>
              <a:rPr lang="es-CL" dirty="0">
                <a:solidFill>
                  <a:srgbClr val="F8F8F2"/>
                </a:solidFill>
                <a:latin typeface="Menlo" panose="020B0609030804020204" pitchFamily="49" charset="0"/>
              </a:rPr>
              <a:t>            lista_pacientes</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append(nombre)</a:t>
            </a:r>
          </a:p>
          <a:p>
            <a:r>
              <a:rPr lang="es-CL" dirty="0">
                <a:solidFill>
                  <a:srgbClr val="F8F8F2"/>
                </a:solidFill>
                <a:latin typeface="Menlo" panose="020B0609030804020204" pitchFamily="49" charset="0"/>
              </a:rPr>
              <a:t>    a2</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close()</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return</a:t>
            </a:r>
            <a:r>
              <a:rPr lang="es-CL" dirty="0">
                <a:solidFill>
                  <a:srgbClr val="F8F8F2"/>
                </a:solidFill>
                <a:latin typeface="Menlo" panose="020B0609030804020204" pitchFamily="49" charset="0"/>
              </a:rPr>
              <a:t> lista_pacientes</a:t>
            </a:r>
          </a:p>
        </p:txBody>
      </p:sp>
    </p:spTree>
    <p:extLst>
      <p:ext uri="{BB962C8B-B14F-4D97-AF65-F5344CB8AC3E}">
        <p14:creationId xmlns:p14="http://schemas.microsoft.com/office/powerpoint/2010/main" val="3965702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D4A365-6CF1-2D40-AF24-29A91D67EE91}"/>
              </a:ext>
            </a:extLst>
          </p:cNvPr>
          <p:cNvSpPr>
            <a:spLocks noGrp="1"/>
          </p:cNvSpPr>
          <p:nvPr>
            <p:ph type="title"/>
          </p:nvPr>
        </p:nvSpPr>
        <p:spPr/>
        <p:txBody>
          <a:bodyPr/>
          <a:lstStyle/>
          <a:p>
            <a:r>
              <a:rPr lang="es-CL" dirty="0">
                <a:solidFill>
                  <a:srgbClr val="66D9EF"/>
                </a:solidFill>
              </a:rPr>
              <a:t>Ejercicio 3</a:t>
            </a:r>
            <a:endParaRPr lang="es-CL" dirty="0"/>
          </a:p>
        </p:txBody>
      </p:sp>
      <p:sp>
        <p:nvSpPr>
          <p:cNvPr id="3" name="Marcador de contenido 2">
            <a:extLst>
              <a:ext uri="{FF2B5EF4-FFF2-40B4-BE49-F238E27FC236}">
                <a16:creationId xmlns:a16="http://schemas.microsoft.com/office/drawing/2014/main" id="{739D19CC-F559-774F-B714-4CAD2437C99F}"/>
              </a:ext>
            </a:extLst>
          </p:cNvPr>
          <p:cNvSpPr>
            <a:spLocks noGrp="1"/>
          </p:cNvSpPr>
          <p:nvPr>
            <p:ph idx="1"/>
          </p:nvPr>
        </p:nvSpPr>
        <p:spPr>
          <a:xfrm>
            <a:off x="581336" y="1839639"/>
            <a:ext cx="11361282" cy="4662332"/>
          </a:xfrm>
        </p:spPr>
        <p:txBody>
          <a:bodyPr>
            <a:normAutofit/>
          </a:bodyPr>
          <a:lstStyle/>
          <a:p>
            <a:r>
              <a:rPr lang="es-CL" sz="2800" dirty="0">
                <a:solidFill>
                  <a:schemeClr val="bg1"/>
                </a:solidFill>
              </a:rPr>
              <a:t>C) Escriba la función separar_pacientes() que construya dos nuevos archivos: jovenes.txt, con los datos de los pacientes menores de 30 años; mayores.txt, con los datos de todos los pacientes mayores de 60 años. Ej. </a:t>
            </a:r>
            <a:r>
              <a:rPr lang="es-CL" sz="2400" dirty="0">
                <a:solidFill>
                  <a:schemeClr val="bg1"/>
                </a:solidFill>
                <a:latin typeface="Consolas" panose="020B0609020204030204" pitchFamily="49" charset="0"/>
                <a:cs typeface="Consolas" panose="020B0609020204030204" pitchFamily="49" charset="0"/>
              </a:rPr>
              <a:t>jovenes.txt:</a:t>
            </a:r>
          </a:p>
          <a:p>
            <a:pPr marL="0" indent="0">
              <a:buNone/>
            </a:pPr>
            <a:endParaRPr lang="es-CL" sz="2800" dirty="0">
              <a:solidFill>
                <a:schemeClr val="bg1"/>
              </a:solidFill>
            </a:endParaRPr>
          </a:p>
          <a:p>
            <a:pPr marL="0" indent="0">
              <a:buNone/>
            </a:pPr>
            <a:endParaRPr lang="es-CL" sz="2800" dirty="0">
              <a:solidFill>
                <a:schemeClr val="bg1"/>
              </a:solidFill>
            </a:endParaRPr>
          </a:p>
          <a:p>
            <a:r>
              <a:rPr lang="es-CL" sz="2800" dirty="0">
                <a:solidFill>
                  <a:schemeClr val="bg1"/>
                </a:solidFill>
              </a:rPr>
              <a:t>D) Escribir una función ganancias_por_mes() que construya un nuevo archivo llamado ganancias.txt que tenga el total de ganancias por cada mes en el siguiente formato:</a:t>
            </a:r>
          </a:p>
        </p:txBody>
      </p:sp>
      <p:sp>
        <p:nvSpPr>
          <p:cNvPr id="4" name="Rectángulo 3">
            <a:extLst>
              <a:ext uri="{FF2B5EF4-FFF2-40B4-BE49-F238E27FC236}">
                <a16:creationId xmlns:a16="http://schemas.microsoft.com/office/drawing/2014/main" id="{722EBD2A-A8C4-1A4B-8A86-C135C8B11A95}"/>
              </a:ext>
            </a:extLst>
          </p:cNvPr>
          <p:cNvSpPr/>
          <p:nvPr/>
        </p:nvSpPr>
        <p:spPr>
          <a:xfrm>
            <a:off x="4987637" y="5578641"/>
            <a:ext cx="6096000" cy="923330"/>
          </a:xfrm>
          <a:prstGeom prst="rect">
            <a:avLst/>
          </a:prstGeom>
        </p:spPr>
        <p:txBody>
          <a:bodyPr>
            <a:spAutoFit/>
          </a:bodyPr>
          <a:lstStyle/>
          <a:p>
            <a:r>
              <a:rPr lang="es-CL" dirty="0">
                <a:solidFill>
                  <a:schemeClr val="bg1"/>
                </a:solidFill>
                <a:latin typeface="Menlo" panose="020B0609030804020204" pitchFamily="49" charset="0"/>
              </a:rPr>
              <a:t>5:933159</a:t>
            </a:r>
          </a:p>
          <a:p>
            <a:r>
              <a:rPr lang="es-CL" dirty="0">
                <a:solidFill>
                  <a:schemeClr val="bg1"/>
                </a:solidFill>
                <a:latin typeface="Menlo" panose="020B0609030804020204" pitchFamily="49" charset="0"/>
              </a:rPr>
              <a:t>6:1120967</a:t>
            </a:r>
          </a:p>
          <a:p>
            <a:r>
              <a:rPr lang="es-CL" dirty="0">
                <a:solidFill>
                  <a:schemeClr val="bg1"/>
                </a:solidFill>
                <a:latin typeface="Menlo" panose="020B0609030804020204" pitchFamily="49" charset="0"/>
              </a:rPr>
              <a:t>7:124903</a:t>
            </a:r>
          </a:p>
        </p:txBody>
      </p:sp>
      <p:sp>
        <p:nvSpPr>
          <p:cNvPr id="7" name="Rectángulo 6">
            <a:extLst>
              <a:ext uri="{FF2B5EF4-FFF2-40B4-BE49-F238E27FC236}">
                <a16:creationId xmlns:a16="http://schemas.microsoft.com/office/drawing/2014/main" id="{7A1F8CA7-0A86-514F-80C0-8BA16138AF6B}"/>
              </a:ext>
            </a:extLst>
          </p:cNvPr>
          <p:cNvSpPr/>
          <p:nvPr/>
        </p:nvSpPr>
        <p:spPr>
          <a:xfrm>
            <a:off x="3962400" y="3308605"/>
            <a:ext cx="6096000" cy="923330"/>
          </a:xfrm>
          <a:prstGeom prst="rect">
            <a:avLst/>
          </a:prstGeom>
        </p:spPr>
        <p:txBody>
          <a:bodyPr>
            <a:spAutoFit/>
          </a:bodyPr>
          <a:lstStyle/>
          <a:p>
            <a:r>
              <a:rPr lang="es-CL" dirty="0">
                <a:solidFill>
                  <a:schemeClr val="bg1"/>
                </a:solidFill>
                <a:latin typeface="Menlo" panose="020B0609030804020204" pitchFamily="49" charset="0"/>
              </a:rPr>
              <a:t>13087677-3:Jorge Álvarez:28</a:t>
            </a:r>
          </a:p>
          <a:p>
            <a:r>
              <a:rPr lang="es-CL" dirty="0">
                <a:solidFill>
                  <a:schemeClr val="bg1"/>
                </a:solidFill>
                <a:latin typeface="Menlo" panose="020B0609030804020204" pitchFamily="49" charset="0"/>
              </a:rPr>
              <a:t>12028339-1:Jorge Argandoña:29</a:t>
            </a:r>
          </a:p>
          <a:p>
            <a:r>
              <a:rPr lang="es-CL" dirty="0">
                <a:solidFill>
                  <a:schemeClr val="bg1"/>
                </a:solidFill>
                <a:latin typeface="Menlo" panose="020B0609030804020204" pitchFamily="49" charset="0"/>
              </a:rPr>
              <a:t>...</a:t>
            </a:r>
          </a:p>
        </p:txBody>
      </p:sp>
    </p:spTree>
    <p:extLst>
      <p:ext uri="{BB962C8B-B14F-4D97-AF65-F5344CB8AC3E}">
        <p14:creationId xmlns:p14="http://schemas.microsoft.com/office/powerpoint/2010/main" val="15148374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CA5B2A-D33A-674B-BD8C-B55B9FEAA4BC}"/>
              </a:ext>
            </a:extLst>
          </p:cNvPr>
          <p:cNvSpPr>
            <a:spLocks noGrp="1"/>
          </p:cNvSpPr>
          <p:nvPr>
            <p:ph type="title"/>
          </p:nvPr>
        </p:nvSpPr>
        <p:spPr/>
        <p:txBody>
          <a:bodyPr/>
          <a:lstStyle/>
          <a:p>
            <a:r>
              <a:rPr lang="es-CL" dirty="0">
                <a:solidFill>
                  <a:srgbClr val="66D9EF"/>
                </a:solidFill>
              </a:rPr>
              <a:t>Solución</a:t>
            </a:r>
          </a:p>
        </p:txBody>
      </p:sp>
      <p:sp>
        <p:nvSpPr>
          <p:cNvPr id="4" name="Rectángulo 3">
            <a:extLst>
              <a:ext uri="{FF2B5EF4-FFF2-40B4-BE49-F238E27FC236}">
                <a16:creationId xmlns:a16="http://schemas.microsoft.com/office/drawing/2014/main" id="{0711EBF4-A8D6-0C49-AC0C-EEF5196B5F55}"/>
              </a:ext>
            </a:extLst>
          </p:cNvPr>
          <p:cNvSpPr/>
          <p:nvPr/>
        </p:nvSpPr>
        <p:spPr>
          <a:xfrm>
            <a:off x="2479964" y="1918577"/>
            <a:ext cx="8859981" cy="4255908"/>
          </a:xfrm>
          <a:prstGeom prst="rect">
            <a:avLst/>
          </a:prstGeom>
        </p:spPr>
        <p:txBody>
          <a:bodyPr wrap="square">
            <a:spAutoFit/>
          </a:bodyPr>
          <a:lstStyle/>
          <a:p>
            <a:r>
              <a:rPr lang="es-CL" sz="2000" dirty="0">
                <a:solidFill>
                  <a:srgbClr val="66D9EF"/>
                </a:solidFill>
                <a:latin typeface="Menlo" panose="020B0609030804020204" pitchFamily="49" charset="0"/>
              </a:rPr>
              <a:t>def</a:t>
            </a:r>
            <a:r>
              <a:rPr lang="es-CL" sz="2000" dirty="0">
                <a:solidFill>
                  <a:srgbClr val="F8F8F2"/>
                </a:solidFill>
                <a:latin typeface="Menlo" panose="020B0609030804020204" pitchFamily="49" charset="0"/>
              </a:rPr>
              <a:t> </a:t>
            </a:r>
            <a:r>
              <a:rPr lang="es-CL" sz="2000" dirty="0">
                <a:solidFill>
                  <a:srgbClr val="A6E22E"/>
                </a:solidFill>
                <a:latin typeface="Menlo" panose="020B0609030804020204" pitchFamily="49" charset="0"/>
              </a:rPr>
              <a:t>separar_pacientes</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"pacientes.txt"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"r"</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jovenes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"jovenes.txt"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"w"</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mayores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open(</a:t>
            </a:r>
            <a:r>
              <a:rPr lang="es-CL" sz="2000" dirty="0">
                <a:solidFill>
                  <a:srgbClr val="E6DB74"/>
                </a:solidFill>
                <a:latin typeface="Menlo" panose="020B0609030804020204" pitchFamily="49" charset="0"/>
              </a:rPr>
              <a:t>"mayores.txt"</a:t>
            </a:r>
            <a:r>
              <a:rPr lang="es-CL" sz="2000" dirty="0">
                <a:solidFill>
                  <a:srgbClr val="F8F8F2"/>
                </a:solidFill>
                <a:latin typeface="Menlo" panose="020B0609030804020204" pitchFamily="49" charset="0"/>
              </a:rPr>
              <a:t>, </a:t>
            </a:r>
            <a:r>
              <a:rPr lang="es-CL" sz="2000" dirty="0">
                <a:solidFill>
                  <a:srgbClr val="E6DB74"/>
                </a:solidFill>
                <a:latin typeface="Menlo" panose="020B0609030804020204" pitchFamily="49" charset="0"/>
              </a:rPr>
              <a:t>"w"</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for</a:t>
            </a:r>
            <a:r>
              <a:rPr lang="es-CL" sz="2000" dirty="0">
                <a:solidFill>
                  <a:srgbClr val="F8F8F2"/>
                </a:solidFill>
                <a:latin typeface="Menlo" panose="020B0609030804020204" pitchFamily="49" charset="0"/>
              </a:rPr>
              <a:t> linea </a:t>
            </a:r>
            <a:r>
              <a:rPr lang="es-CL" sz="2000" dirty="0">
                <a:solidFill>
                  <a:srgbClr val="F92672"/>
                </a:solidFill>
                <a:latin typeface="Menlo" panose="020B0609030804020204" pitchFamily="49" charset="0"/>
              </a:rPr>
              <a:t>in</a:t>
            </a:r>
            <a:r>
              <a:rPr lang="es-CL" sz="2000" dirty="0">
                <a:solidFill>
                  <a:srgbClr val="F8F8F2"/>
                </a:solidFill>
                <a:latin typeface="Menlo" panose="020B0609030804020204" pitchFamily="49" charset="0"/>
              </a:rPr>
              <a:t> a:</a:t>
            </a:r>
          </a:p>
          <a:p>
            <a:r>
              <a:rPr lang="es-CL" sz="2000" dirty="0">
                <a:solidFill>
                  <a:srgbClr val="F8F8F2"/>
                </a:solidFill>
                <a:latin typeface="Menlo" panose="020B0609030804020204" pitchFamily="49" charset="0"/>
              </a:rPr>
              <a:t>        rut, nombre, edad </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 linea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strip()</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split(</a:t>
            </a:r>
            <a:r>
              <a:rPr lang="es-CL" sz="2000" dirty="0">
                <a:solidFill>
                  <a:srgbClr val="E6DB74"/>
                </a:solidFill>
                <a:latin typeface="Menlo" panose="020B0609030804020204" pitchFamily="49" charset="0"/>
              </a:rPr>
              <a:t>":"</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if</a:t>
            </a:r>
            <a:r>
              <a:rPr lang="es-CL" sz="2000" dirty="0">
                <a:solidFill>
                  <a:srgbClr val="F8F8F2"/>
                </a:solidFill>
                <a:latin typeface="Menlo" panose="020B0609030804020204" pitchFamily="49" charset="0"/>
              </a:rPr>
              <a:t> int(edad) </a:t>
            </a:r>
            <a:r>
              <a:rPr lang="es-CL" sz="2000" dirty="0">
                <a:solidFill>
                  <a:srgbClr val="F92672"/>
                </a:solidFill>
                <a:latin typeface="Menlo" panose="020B0609030804020204" pitchFamily="49" charset="0"/>
              </a:rPr>
              <a:t>&lt;</a:t>
            </a:r>
            <a:r>
              <a:rPr lang="es-CL" sz="2000" dirty="0">
                <a:solidFill>
                  <a:srgbClr val="F8F8F2"/>
                </a:solidFill>
                <a:latin typeface="Menlo" panose="020B0609030804020204" pitchFamily="49" charset="0"/>
              </a:rPr>
              <a:t> </a:t>
            </a:r>
            <a:r>
              <a:rPr lang="es-CL" sz="2000" dirty="0">
                <a:solidFill>
                  <a:srgbClr val="AE81FF"/>
                </a:solidFill>
                <a:latin typeface="Menlo" panose="020B0609030804020204" pitchFamily="49" charset="0"/>
              </a:rPr>
              <a:t>30</a:t>
            </a:r>
            <a:r>
              <a:rPr lang="es-CL" sz="2000" dirty="0">
                <a:solidFill>
                  <a:srgbClr val="F8F8F2"/>
                </a:solidFill>
                <a:latin typeface="Menlo" panose="020B0609030804020204" pitchFamily="49" charset="0"/>
              </a:rPr>
              <a:t>:</a:t>
            </a:r>
          </a:p>
          <a:p>
            <a:r>
              <a:rPr lang="es-CL" sz="2000" dirty="0">
                <a:solidFill>
                  <a:srgbClr val="F8F8F2"/>
                </a:solidFill>
                <a:latin typeface="Menlo" panose="020B0609030804020204" pitchFamily="49" charset="0"/>
              </a:rPr>
              <a:t>            jovenes</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write(linea)</a:t>
            </a:r>
          </a:p>
          <a:p>
            <a:r>
              <a:rPr lang="es-CL" sz="2000" dirty="0">
                <a:solidFill>
                  <a:srgbClr val="F8F8F2"/>
                </a:solidFill>
                <a:latin typeface="Menlo" panose="020B0609030804020204" pitchFamily="49" charset="0"/>
              </a:rPr>
              <a:t>        </a:t>
            </a:r>
            <a:r>
              <a:rPr lang="es-CL" sz="2000" dirty="0">
                <a:solidFill>
                  <a:srgbClr val="66D9EF"/>
                </a:solidFill>
                <a:latin typeface="Menlo" panose="020B0609030804020204" pitchFamily="49" charset="0"/>
              </a:rPr>
              <a:t>elif </a:t>
            </a:r>
            <a:r>
              <a:rPr lang="es-CL" sz="2000" dirty="0">
                <a:solidFill>
                  <a:schemeClr val="bg1"/>
                </a:solidFill>
                <a:latin typeface="Menlo" panose="020B0609030804020204" pitchFamily="49" charset="0"/>
              </a:rPr>
              <a:t>int(edad) </a:t>
            </a:r>
            <a:r>
              <a:rPr lang="es-CL" sz="2000" dirty="0">
                <a:solidFill>
                  <a:srgbClr val="F92672"/>
                </a:solidFill>
                <a:latin typeface="Menlo" panose="020B0609030804020204" pitchFamily="49" charset="0"/>
              </a:rPr>
              <a:t>&gt;</a:t>
            </a:r>
            <a:r>
              <a:rPr lang="es-CL" sz="2000" dirty="0">
                <a:solidFill>
                  <a:schemeClr val="bg1"/>
                </a:solidFill>
                <a:latin typeface="Menlo" panose="020B0609030804020204" pitchFamily="49" charset="0"/>
              </a:rPr>
              <a:t> </a:t>
            </a:r>
            <a:r>
              <a:rPr lang="es-CL" sz="2000" dirty="0">
                <a:solidFill>
                  <a:srgbClr val="AE81FF"/>
                </a:solidFill>
                <a:latin typeface="Menlo" panose="020B0609030804020204" pitchFamily="49" charset="0"/>
              </a:rPr>
              <a:t>60</a:t>
            </a:r>
            <a:r>
              <a:rPr lang="es-CL" sz="2000" dirty="0">
                <a:solidFill>
                  <a:schemeClr val="bg1"/>
                </a:solidFill>
                <a:latin typeface="Menlo" panose="020B0609030804020204" pitchFamily="49" charset="0"/>
              </a:rPr>
              <a:t>:</a:t>
            </a:r>
          </a:p>
          <a:p>
            <a:r>
              <a:rPr lang="es-CL" sz="2000" dirty="0">
                <a:solidFill>
                  <a:srgbClr val="F8F8F2"/>
                </a:solidFill>
                <a:latin typeface="Menlo" panose="020B0609030804020204" pitchFamily="49" charset="0"/>
              </a:rPr>
              <a:t>            mayores</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write(linea)</a:t>
            </a:r>
          </a:p>
          <a:p>
            <a:r>
              <a:rPr lang="es-CL" sz="2000" dirty="0">
                <a:solidFill>
                  <a:srgbClr val="F8F8F2"/>
                </a:solidFill>
                <a:latin typeface="Menlo" panose="020B0609030804020204" pitchFamily="49" charset="0"/>
              </a:rPr>
              <a:t>    a</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jovenes</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a:p>
            <a:r>
              <a:rPr lang="es-CL" sz="2000" dirty="0">
                <a:solidFill>
                  <a:srgbClr val="F8F8F2"/>
                </a:solidFill>
                <a:latin typeface="Menlo" panose="020B0609030804020204" pitchFamily="49" charset="0"/>
              </a:rPr>
              <a:t>    mayores</a:t>
            </a:r>
            <a:r>
              <a:rPr lang="es-CL" sz="2000" dirty="0">
                <a:solidFill>
                  <a:srgbClr val="F92672"/>
                </a:solidFill>
                <a:latin typeface="Menlo" panose="020B0609030804020204" pitchFamily="49" charset="0"/>
              </a:rPr>
              <a:t>.</a:t>
            </a:r>
            <a:r>
              <a:rPr lang="es-CL" sz="2000" dirty="0">
                <a:solidFill>
                  <a:srgbClr val="F8F8F2"/>
                </a:solidFill>
                <a:latin typeface="Menlo" panose="020B0609030804020204" pitchFamily="49" charset="0"/>
              </a:rPr>
              <a:t>close()</a:t>
            </a:r>
          </a:p>
        </p:txBody>
      </p:sp>
    </p:spTree>
    <p:extLst>
      <p:ext uri="{BB962C8B-B14F-4D97-AF65-F5344CB8AC3E}">
        <p14:creationId xmlns:p14="http://schemas.microsoft.com/office/powerpoint/2010/main" val="1984936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260497-EC7F-194C-ADED-F5682972E872}"/>
              </a:ext>
            </a:extLst>
          </p:cNvPr>
          <p:cNvSpPr>
            <a:spLocks noGrp="1"/>
          </p:cNvSpPr>
          <p:nvPr>
            <p:ph type="title"/>
          </p:nvPr>
        </p:nvSpPr>
        <p:spPr/>
        <p:txBody>
          <a:bodyPr/>
          <a:lstStyle/>
          <a:p>
            <a:r>
              <a:rPr lang="es-CL" dirty="0">
                <a:solidFill>
                  <a:srgbClr val="66D9EF"/>
                </a:solidFill>
              </a:rPr>
              <a:t>Solución</a:t>
            </a:r>
            <a:endParaRPr lang="es-CL" dirty="0"/>
          </a:p>
        </p:txBody>
      </p:sp>
      <p:sp>
        <p:nvSpPr>
          <p:cNvPr id="4" name="Rectángulo 3">
            <a:extLst>
              <a:ext uri="{FF2B5EF4-FFF2-40B4-BE49-F238E27FC236}">
                <a16:creationId xmlns:a16="http://schemas.microsoft.com/office/drawing/2014/main" id="{A4AF8271-53A9-804C-A3C8-64375FE0F778}"/>
              </a:ext>
            </a:extLst>
          </p:cNvPr>
          <p:cNvSpPr/>
          <p:nvPr/>
        </p:nvSpPr>
        <p:spPr>
          <a:xfrm>
            <a:off x="2119745" y="1717964"/>
            <a:ext cx="10293928" cy="4801314"/>
          </a:xfrm>
          <a:prstGeom prst="rect">
            <a:avLst/>
          </a:prstGeom>
        </p:spPr>
        <p:txBody>
          <a:bodyPr wrap="square">
            <a:spAutoFit/>
          </a:bodyPr>
          <a:lstStyle/>
          <a:p>
            <a:r>
              <a:rPr lang="es-CL" dirty="0">
                <a:solidFill>
                  <a:srgbClr val="66D9EF"/>
                </a:solidFill>
                <a:latin typeface="Menlo" panose="020B0609030804020204" pitchFamily="49" charset="0"/>
              </a:rPr>
              <a:t>def</a:t>
            </a:r>
            <a:r>
              <a:rPr lang="es-CL" dirty="0">
                <a:solidFill>
                  <a:srgbClr val="F8F8F2"/>
                </a:solidFill>
                <a:latin typeface="Menlo" panose="020B0609030804020204" pitchFamily="49" charset="0"/>
              </a:rPr>
              <a:t> </a:t>
            </a:r>
            <a:r>
              <a:rPr lang="es-CL" dirty="0">
                <a:solidFill>
                  <a:srgbClr val="A6E22E"/>
                </a:solidFill>
                <a:latin typeface="Menlo" panose="020B0609030804020204" pitchFamily="49" charset="0"/>
              </a:rPr>
              <a:t>ganancias_por_mes</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open(</a:t>
            </a:r>
            <a:r>
              <a:rPr lang="es-CL" dirty="0">
                <a:solidFill>
                  <a:srgbClr val="E6DB74"/>
                </a:solidFill>
                <a:latin typeface="Menlo" panose="020B0609030804020204" pitchFamily="49" charset="0"/>
              </a:rPr>
              <a:t>"atenciones.txt"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"r"</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por_mes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range(</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12</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por_mes</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append(</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linea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a:</a:t>
            </a:r>
          </a:p>
          <a:p>
            <a:r>
              <a:rPr lang="es-CL" dirty="0">
                <a:solidFill>
                  <a:srgbClr val="F8F8F2"/>
                </a:solidFill>
                <a:latin typeface="Menlo" panose="020B0609030804020204" pitchFamily="49" charset="0"/>
              </a:rPr>
              <a:t>        _, fecha, costo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linea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strip()</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split(</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fecha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fecha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split(</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mes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int(fecha[</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por_mes[mes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int(costo)</a:t>
            </a:r>
          </a:p>
          <a:p>
            <a:r>
              <a:rPr lang="es-CL" dirty="0">
                <a:solidFill>
                  <a:srgbClr val="F8F8F2"/>
                </a:solidFill>
                <a:latin typeface="Menlo" panose="020B0609030804020204" pitchFamily="49" charset="0"/>
              </a:rPr>
              <a:t>    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close()</a:t>
            </a:r>
          </a:p>
          <a:p>
            <a:r>
              <a:rPr lang="es-CL" dirty="0">
                <a:solidFill>
                  <a:srgbClr val="F8F8F2"/>
                </a:solidFill>
                <a:latin typeface="Menlo" panose="020B0609030804020204" pitchFamily="49" charset="0"/>
              </a:rPr>
              <a:t>    ganancia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open(</a:t>
            </a:r>
            <a:r>
              <a:rPr lang="es-CL" dirty="0">
                <a:solidFill>
                  <a:srgbClr val="E6DB74"/>
                </a:solidFill>
                <a:latin typeface="Menlo" panose="020B0609030804020204" pitchFamily="49" charset="0"/>
              </a:rPr>
              <a:t>"ganancias.txt"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"w"</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for</a:t>
            </a:r>
            <a:r>
              <a:rPr lang="es-CL" dirty="0">
                <a:solidFill>
                  <a:srgbClr val="F8F8F2"/>
                </a:solidFill>
                <a:latin typeface="Menlo" panose="020B0609030804020204" pitchFamily="49" charset="0"/>
              </a:rPr>
              <a:t> i </a:t>
            </a:r>
            <a:r>
              <a:rPr lang="es-CL" dirty="0">
                <a:solidFill>
                  <a:srgbClr val="F92672"/>
                </a:solidFill>
                <a:latin typeface="Menlo" panose="020B0609030804020204" pitchFamily="49" charset="0"/>
              </a:rPr>
              <a:t>in</a:t>
            </a:r>
            <a:r>
              <a:rPr lang="es-CL" dirty="0">
                <a:solidFill>
                  <a:srgbClr val="F8F8F2"/>
                </a:solidFill>
                <a:latin typeface="Menlo" panose="020B0609030804020204" pitchFamily="49" charset="0"/>
              </a:rPr>
              <a:t> range(</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12</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a:t>
            </a:r>
            <a:r>
              <a:rPr lang="es-CL" dirty="0">
                <a:solidFill>
                  <a:srgbClr val="66D9EF"/>
                </a:solidFill>
                <a:latin typeface="Menlo" panose="020B0609030804020204" pitchFamily="49" charset="0"/>
              </a:rPr>
              <a:t>if</a:t>
            </a:r>
            <a:r>
              <a:rPr lang="es-CL" dirty="0">
                <a:solidFill>
                  <a:srgbClr val="F8F8F2"/>
                </a:solidFill>
                <a:latin typeface="Menlo" panose="020B0609030804020204" pitchFamily="49" charset="0"/>
              </a:rPr>
              <a:t> por_mes[i] </a:t>
            </a:r>
            <a:r>
              <a:rPr lang="es-CL" dirty="0">
                <a:solidFill>
                  <a:srgbClr val="F92672"/>
                </a:solidFill>
                <a:latin typeface="Menlo" panose="020B0609030804020204" pitchFamily="49" charset="0"/>
              </a:rPr>
              <a:t>&gt;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0</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nueva_linea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join([str(i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AE81FF"/>
                </a:solidFill>
                <a:latin typeface="Menlo" panose="020B0609030804020204" pitchFamily="49" charset="0"/>
              </a:rPr>
              <a:t>1</a:t>
            </a:r>
            <a:r>
              <a:rPr lang="es-CL" dirty="0">
                <a:solidFill>
                  <a:srgbClr val="F8F8F2"/>
                </a:solidFill>
                <a:latin typeface="Menlo" panose="020B0609030804020204" pitchFamily="49" charset="0"/>
              </a:rPr>
              <a:t>), str(por_mes[i])])</a:t>
            </a:r>
          </a:p>
          <a:p>
            <a:r>
              <a:rPr lang="es-CL" dirty="0">
                <a:solidFill>
                  <a:srgbClr val="F8F8F2"/>
                </a:solidFill>
                <a:latin typeface="Menlo" panose="020B0609030804020204" pitchFamily="49" charset="0"/>
              </a:rPr>
              <a:t>            ganancia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write(nueva_linea </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 </a:t>
            </a:r>
            <a:r>
              <a:rPr lang="es-CL" dirty="0">
                <a:solidFill>
                  <a:srgbClr val="E6DB74"/>
                </a:solidFill>
                <a:latin typeface="Menlo" panose="020B0609030804020204" pitchFamily="49" charset="0"/>
              </a:rPr>
              <a:t>"</a:t>
            </a:r>
            <a:r>
              <a:rPr lang="es-CL" dirty="0">
                <a:solidFill>
                  <a:srgbClr val="AE81FF"/>
                </a:solidFill>
                <a:latin typeface="Menlo" panose="020B0609030804020204" pitchFamily="49" charset="0"/>
              </a:rPr>
              <a:t>\n</a:t>
            </a:r>
            <a:r>
              <a:rPr lang="es-CL" dirty="0">
                <a:solidFill>
                  <a:srgbClr val="E6DB74"/>
                </a:solidFill>
                <a:latin typeface="Menlo" panose="020B0609030804020204" pitchFamily="49" charset="0"/>
              </a:rPr>
              <a:t>"</a:t>
            </a:r>
            <a:r>
              <a:rPr lang="es-CL" dirty="0">
                <a:solidFill>
                  <a:srgbClr val="F8F8F2"/>
                </a:solidFill>
                <a:latin typeface="Menlo" panose="020B0609030804020204" pitchFamily="49" charset="0"/>
              </a:rPr>
              <a:t>)</a:t>
            </a:r>
          </a:p>
          <a:p>
            <a:r>
              <a:rPr lang="es-CL" dirty="0">
                <a:solidFill>
                  <a:srgbClr val="F8F8F2"/>
                </a:solidFill>
                <a:latin typeface="Menlo" panose="020B0609030804020204" pitchFamily="49" charset="0"/>
              </a:rPr>
              <a:t>    ganancia</a:t>
            </a:r>
            <a:r>
              <a:rPr lang="es-CL" dirty="0">
                <a:solidFill>
                  <a:srgbClr val="F92672"/>
                </a:solidFill>
                <a:latin typeface="Menlo" panose="020B0609030804020204" pitchFamily="49" charset="0"/>
              </a:rPr>
              <a:t>.</a:t>
            </a:r>
            <a:r>
              <a:rPr lang="es-CL" dirty="0">
                <a:solidFill>
                  <a:srgbClr val="F8F8F2"/>
                </a:solidFill>
                <a:latin typeface="Menlo" panose="020B0609030804020204" pitchFamily="49" charset="0"/>
              </a:rPr>
              <a:t>close()</a:t>
            </a:r>
          </a:p>
        </p:txBody>
      </p:sp>
    </p:spTree>
    <p:extLst>
      <p:ext uri="{BB962C8B-B14F-4D97-AF65-F5344CB8AC3E}">
        <p14:creationId xmlns:p14="http://schemas.microsoft.com/office/powerpoint/2010/main" val="39689279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wi131_plantilla" id="{D380A461-5A20-4D47-9F98-D24C79C9FB07}" vid="{023703D2-664B-314B-A55A-ECEA48B24E4E}"/>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2527</TotalTime>
  <Words>2657</Words>
  <Application>Microsoft Macintosh PowerPoint</Application>
  <PresentationFormat>Panorámica</PresentationFormat>
  <Paragraphs>309</Paragraphs>
  <Slides>33</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33</vt:i4>
      </vt:variant>
    </vt:vector>
  </HeadingPairs>
  <TitlesOfParts>
    <vt:vector size="40" baseType="lpstr">
      <vt:lpstr>Calibri</vt:lpstr>
      <vt:lpstr>Consolas</vt:lpstr>
      <vt:lpstr>Menlo</vt:lpstr>
      <vt:lpstr>Tw Cen MT</vt:lpstr>
      <vt:lpstr>Tw Cen MT Condensed</vt:lpstr>
      <vt:lpstr>Wingdings 3</vt:lpstr>
      <vt:lpstr>Integral</vt:lpstr>
      <vt:lpstr>IWI 131- Programación</vt:lpstr>
      <vt:lpstr>Trabajo con strings</vt:lpstr>
      <vt:lpstr>Replace()</vt:lpstr>
      <vt:lpstr>.upper() y .lower()</vt:lpstr>
      <vt:lpstr>.join()</vt:lpstr>
      <vt:lpstr>.split()</vt:lpstr>
      <vt:lpstr>list()</vt:lpstr>
      <vt:lpstr>Saltos de Línea</vt:lpstr>
      <vt:lpstr>Archivos</vt:lpstr>
      <vt:lpstr>Lectura de archivos</vt:lpstr>
      <vt:lpstr>Lectura de archivos</vt:lpstr>
      <vt:lpstr>Lectura de archivos</vt:lpstr>
      <vt:lpstr>.strip()</vt:lpstr>
      <vt:lpstr>Modos de lectura</vt:lpstr>
      <vt:lpstr>Modos de lectura</vt:lpstr>
      <vt:lpstr>Escritura de archivos</vt:lpstr>
      <vt:lpstr>Ejercicio 1</vt:lpstr>
      <vt:lpstr>Solución</vt:lpstr>
      <vt:lpstr>Ejercicio 1</vt:lpstr>
      <vt:lpstr>Solución</vt:lpstr>
      <vt:lpstr>Ejercicio 2</vt:lpstr>
      <vt:lpstr>Ejercicio 2</vt:lpstr>
      <vt:lpstr>Solución</vt:lpstr>
      <vt:lpstr>Ejercicio 2</vt:lpstr>
      <vt:lpstr>Solución</vt:lpstr>
      <vt:lpstr>Ejercicio 3</vt:lpstr>
      <vt:lpstr>Ejercicio 3</vt:lpstr>
      <vt:lpstr>Ejercicio 3</vt:lpstr>
      <vt:lpstr>Solución</vt:lpstr>
      <vt:lpstr>Solución</vt:lpstr>
      <vt:lpstr>Ejercicio 3</vt:lpstr>
      <vt:lpstr>Solución</vt:lpstr>
      <vt:lpstr>Solución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IWI 131- Programación</dc:title>
  <dc:creator>ANASTASIIA FEDOROVA .</dc:creator>
  <cp:lastModifiedBy>ANASTASIIA FEDOROVA .</cp:lastModifiedBy>
  <cp:revision>484</cp:revision>
  <dcterms:created xsi:type="dcterms:W3CDTF">2020-04-03T20:18:37Z</dcterms:created>
  <dcterms:modified xsi:type="dcterms:W3CDTF">2020-07-22T21:01:58Z</dcterms:modified>
</cp:coreProperties>
</file>