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3" r:id="rId1"/>
  </p:sldMasterIdLst>
  <p:notesMasterIdLst>
    <p:notesMasterId r:id="rId19"/>
  </p:notesMasterIdLst>
  <p:sldIdLst>
    <p:sldId id="256" r:id="rId2"/>
    <p:sldId id="257" r:id="rId3"/>
    <p:sldId id="261" r:id="rId4"/>
    <p:sldId id="258" r:id="rId5"/>
    <p:sldId id="259" r:id="rId6"/>
    <p:sldId id="263" r:id="rId7"/>
    <p:sldId id="260" r:id="rId8"/>
    <p:sldId id="266" r:id="rId9"/>
    <p:sldId id="265" r:id="rId10"/>
    <p:sldId id="270" r:id="rId11"/>
    <p:sldId id="272" r:id="rId12"/>
    <p:sldId id="274" r:id="rId13"/>
    <p:sldId id="267" r:id="rId14"/>
    <p:sldId id="269" r:id="rId15"/>
    <p:sldId id="268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D9EF"/>
    <a:srgbClr val="FD971F"/>
    <a:srgbClr val="F92672"/>
    <a:srgbClr val="AE81FF"/>
    <a:srgbClr val="A6E22E"/>
    <a:srgbClr val="272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Estilo temático 2 - Énfasis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79"/>
  </p:normalViewPr>
  <p:slideViewPr>
    <p:cSldViewPr snapToGrid="0" snapToObjects="1">
      <p:cViewPr varScale="1">
        <p:scale>
          <a:sx n="92" d="100"/>
          <a:sy n="92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204AC-F89F-5A43-A3C5-FD728B04A101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209DA-5710-E544-8A8A-F492DBBD5A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0556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209DA-5710-E544-8A8A-F492DBBD5AA6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0000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7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517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67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2761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7907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203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368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284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33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853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54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EB30784-A5C3-6349-BD2A-7A8E658959DF}" type="datetimeFigureOut">
              <a:rPr lang="es-CL" smtClean="0"/>
              <a:t>17-06-20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3D891C6-CE47-3447-99AD-3B11D616AAE1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20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44">
            <a:extLst>
              <a:ext uri="{FF2B5EF4-FFF2-40B4-BE49-F238E27FC236}">
                <a16:creationId xmlns:a16="http://schemas.microsoft.com/office/drawing/2014/main" id="{2A85F7B3-F4E6-4FBF-B74E-43CAB468F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630811-6F38-6F45-AD6B-CD5290979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805" y="640080"/>
            <a:ext cx="4809406" cy="3034857"/>
          </a:xfrm>
        </p:spPr>
        <p:txBody>
          <a:bodyPr anchor="b">
            <a:normAutofit/>
          </a:bodyPr>
          <a:lstStyle/>
          <a:p>
            <a:r>
              <a:rPr lang="es-CL" sz="4400" dirty="0">
                <a:solidFill>
                  <a:srgbClr val="A6E22E"/>
                </a:solidFill>
              </a:rPr>
              <a:t>IWI 131-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541EAE-D840-1044-9E2E-6BCB100AF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806" y="3849539"/>
            <a:ext cx="4819340" cy="2367405"/>
          </a:xfrm>
        </p:spPr>
        <p:txBody>
          <a:bodyPr anchor="t">
            <a:normAutofit/>
          </a:bodyPr>
          <a:lstStyle/>
          <a:p>
            <a:pPr algn="r"/>
            <a:r>
              <a:rPr lang="es-CL" sz="4800" b="1" dirty="0">
                <a:solidFill>
                  <a:schemeClr val="bg1"/>
                </a:solidFill>
              </a:rPr>
              <a:t> </a:t>
            </a:r>
            <a:r>
              <a:rPr lang="es-CL" sz="4800" b="1" dirty="0">
                <a:solidFill>
                  <a:srgbClr val="FD971F"/>
                </a:solidFill>
              </a:rPr>
              <a:t>Ayudantía 10</a:t>
            </a:r>
          </a:p>
          <a:p>
            <a:pPr algn="r"/>
            <a:endParaRPr lang="es-CL" sz="4800" b="1" dirty="0">
              <a:solidFill>
                <a:srgbClr val="FD971F"/>
              </a:solidFill>
            </a:endParaRPr>
          </a:p>
        </p:txBody>
      </p:sp>
      <p:cxnSp>
        <p:nvCxnSpPr>
          <p:cNvPr id="52" name="Straight Connector 46">
            <a:extLst>
              <a:ext uri="{FF2B5EF4-FFF2-40B4-BE49-F238E27FC236}">
                <a16:creationId xmlns:a16="http://schemas.microsoft.com/office/drawing/2014/main" id="{73741D5B-1709-4CDB-963A-CC3C74941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475488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92C8723-CC91-E04D-9503-EA3C2107E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952" y="713651"/>
            <a:ext cx="5458968" cy="543167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18DC0F8-FEB1-CB46-BEDA-051EFAAFB367}"/>
              </a:ext>
            </a:extLst>
          </p:cNvPr>
          <p:cNvSpPr txBox="1"/>
          <p:nvPr/>
        </p:nvSpPr>
        <p:spPr>
          <a:xfrm>
            <a:off x="1460450" y="4737466"/>
            <a:ext cx="40134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CL" sz="2400" dirty="0">
                <a:solidFill>
                  <a:srgbClr val="66D9EF"/>
                </a:solidFill>
              </a:rPr>
              <a:t>Ayudante: Anastasiia Fedorova</a:t>
            </a:r>
          </a:p>
          <a:p>
            <a:pPr algn="r"/>
            <a:r>
              <a:rPr lang="es-CL" sz="2400" dirty="0">
                <a:solidFill>
                  <a:srgbClr val="66D9EF"/>
                </a:solidFill>
              </a:rPr>
              <a:t>Paralelo: 212</a:t>
            </a:r>
          </a:p>
          <a:p>
            <a:pPr algn="r"/>
            <a:r>
              <a:rPr lang="es-CL" sz="2400" dirty="0">
                <a:solidFill>
                  <a:srgbClr val="66D9EF"/>
                </a:solidFill>
              </a:rPr>
              <a:t>Fecha: 17.06.2020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AA89BD-FA2E-4344-BF4D-64858C22F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540" y="3324315"/>
            <a:ext cx="3949859" cy="70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6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A54F9-0590-254B-899D-81343DF8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¿Tuplas?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69A399-8080-1B43-8843-D3912511D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64" y="2084832"/>
            <a:ext cx="11042072" cy="4023360"/>
          </a:xfrm>
        </p:spPr>
        <p:txBody>
          <a:bodyPr>
            <a:normAutofit/>
          </a:bodyPr>
          <a:lstStyle/>
          <a:p>
            <a:pPr algn="ctr"/>
            <a:r>
              <a:rPr lang="es-CL" sz="2800" dirty="0">
                <a:solidFill>
                  <a:schemeClr val="bg1"/>
                </a:solidFill>
              </a:rPr>
              <a:t>Una estructura, llamada tuple o tupla, es un conjunto de elementos, que poseen cierto orden. Es una estructura </a:t>
            </a:r>
            <a:r>
              <a:rPr lang="es-CL" sz="2800" b="1" dirty="0">
                <a:solidFill>
                  <a:srgbClr val="FD971F"/>
                </a:solidFill>
              </a:rPr>
              <a:t>inmutable.</a:t>
            </a:r>
          </a:p>
          <a:p>
            <a:pPr algn="ctr"/>
            <a:r>
              <a:rPr lang="es-CL" sz="2800" dirty="0">
                <a:solidFill>
                  <a:schemeClr val="bg1"/>
                </a:solidFill>
              </a:rPr>
              <a:t>A veces las tuplas de n elementos las llaman </a:t>
            </a:r>
            <a:r>
              <a:rPr lang="es-CL" sz="2800" b="1" dirty="0">
                <a:solidFill>
                  <a:srgbClr val="F92672"/>
                </a:solidFill>
              </a:rPr>
              <a:t>n-tuplas</a:t>
            </a:r>
            <a:r>
              <a:rPr lang="es-CL" sz="2800" dirty="0">
                <a:solidFill>
                  <a:schemeClr val="bg1"/>
                </a:solidFill>
              </a:rPr>
              <a:t> – es bueno aprendar esta terminología, pues la van a escuchar, por ejemplo, en ramos relacionados con el análisis vectorial (ej. mat22, mat23, etc).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D750BC4F-7E1B-264A-9C88-410BC318B39F}"/>
              </a:ext>
            </a:extLst>
          </p:cNvPr>
          <p:cNvSpPr/>
          <p:nvPr/>
        </p:nvSpPr>
        <p:spPr>
          <a:xfrm>
            <a:off x="1212278" y="4946073"/>
            <a:ext cx="4419600" cy="10374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dirty="0"/>
              <a:t>l = [1, 2, 3, 4]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2B5C4DB3-8F05-D94E-9DF7-24EA1C3F5BD9}"/>
              </a:ext>
            </a:extLst>
          </p:cNvPr>
          <p:cNvSpPr/>
          <p:nvPr/>
        </p:nvSpPr>
        <p:spPr>
          <a:xfrm>
            <a:off x="6414657" y="4946073"/>
            <a:ext cx="4419600" cy="10374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dirty="0"/>
              <a:t>t = (1, 2, 3, 4)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2B7D6E-8D2E-474B-B7B5-B020C93D9139}"/>
              </a:ext>
            </a:extLst>
          </p:cNvPr>
          <p:cNvSpPr txBox="1"/>
          <p:nvPr/>
        </p:nvSpPr>
        <p:spPr>
          <a:xfrm>
            <a:off x="3144981" y="6077158"/>
            <a:ext cx="1939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solidFill>
                  <a:schemeClr val="bg1"/>
                </a:solidFill>
              </a:rPr>
              <a:t>Lista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EAFE0FB-CF84-E947-B61A-BB9EA58C2DE1}"/>
              </a:ext>
            </a:extLst>
          </p:cNvPr>
          <p:cNvSpPr txBox="1"/>
          <p:nvPr/>
        </p:nvSpPr>
        <p:spPr>
          <a:xfrm>
            <a:off x="8271163" y="6077157"/>
            <a:ext cx="1939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solidFill>
                  <a:schemeClr val="bg1"/>
                </a:solidFill>
              </a:rPr>
              <a:t>Tupla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AF0ADE4-5BD2-B341-AA88-A827A0A86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736" y="5116422"/>
            <a:ext cx="16383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35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1C6A8-C66E-D247-9025-832D12F4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Usos recomendados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4C1A7-2D66-AC47-AE32-FEFD48CE5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10235"/>
            <a:ext cx="5305420" cy="4302431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Una tupla sirve para agrupar elementos, que deben ir juntos. Es un tipo inmutable – una vez que creamos la tupla, no podemos volver a modificala, por lo nos que sirve para guardar valores que deben permanecer constantes.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6817D38-BE54-F14D-9D62-6037239E3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769"/>
          <a:stretch/>
        </p:blipFill>
        <p:spPr>
          <a:xfrm>
            <a:off x="7165494" y="1425040"/>
            <a:ext cx="4085505" cy="400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47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CE152-C10B-F247-A5B4-C9A08A40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Creación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0BA8B7-0DEF-1D4E-ABBC-D9A36B8EE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964" y="1925782"/>
            <a:ext cx="9720073" cy="4023360"/>
          </a:xfrm>
        </p:spPr>
        <p:txBody>
          <a:bodyPr>
            <a:normAutofit/>
          </a:bodyPr>
          <a:lstStyle/>
          <a:p>
            <a:r>
              <a:rPr lang="es-CL" sz="3200" dirty="0">
                <a:solidFill>
                  <a:schemeClr val="bg1"/>
                </a:solidFill>
              </a:rPr>
              <a:t>Como en listas, podemos crear una tupla vacía de dos maneras:</a:t>
            </a:r>
          </a:p>
          <a:p>
            <a:endParaRPr lang="es-CL" sz="3200" dirty="0">
              <a:solidFill>
                <a:schemeClr val="bg1"/>
              </a:solidFill>
            </a:endParaRPr>
          </a:p>
          <a:p>
            <a:endParaRPr lang="es-CL" sz="3200" dirty="0">
              <a:solidFill>
                <a:schemeClr val="bg1"/>
              </a:solidFill>
            </a:endParaRPr>
          </a:p>
          <a:p>
            <a:r>
              <a:rPr lang="es-CL" sz="3200" dirty="0">
                <a:solidFill>
                  <a:schemeClr val="bg1"/>
                </a:solidFill>
              </a:rPr>
              <a:t>Además, podemos crear una tupla con elementos definidos también de dos maneras, ambas equivalentes: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1400B9-57C8-5F4A-AEC0-92D0A5824875}"/>
              </a:ext>
            </a:extLst>
          </p:cNvPr>
          <p:cNvSpPr/>
          <p:nvPr/>
        </p:nvSpPr>
        <p:spPr>
          <a:xfrm>
            <a:off x="2368738" y="3163788"/>
            <a:ext cx="23823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t </a:t>
            </a:r>
            <a:r>
              <a:rPr lang="es-CL" sz="24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800" dirty="0">
                <a:solidFill>
                  <a:srgbClr val="66D9EF"/>
                </a:solidFill>
                <a:latin typeface="Menlo" panose="020B0609030804020204" pitchFamily="49" charset="0"/>
              </a:rPr>
              <a:t>tuple</a:t>
            </a:r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()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233095-DFFF-EE49-8E0D-4C86DB6CE3F2}"/>
              </a:ext>
            </a:extLst>
          </p:cNvPr>
          <p:cNvSpPr/>
          <p:nvPr/>
        </p:nvSpPr>
        <p:spPr>
          <a:xfrm>
            <a:off x="7170271" y="3163788"/>
            <a:ext cx="14830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2800" dirty="0">
                <a:solidFill>
                  <a:srgbClr val="F8F8F2"/>
                </a:solidFill>
                <a:latin typeface="Menlo" panose="020B0609030804020204" pitchFamily="49" charset="0"/>
              </a:rPr>
              <a:t>t </a:t>
            </a:r>
            <a:r>
              <a:rPr lang="es-CL" sz="28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800" dirty="0">
                <a:solidFill>
                  <a:srgbClr val="F8F8F2"/>
                </a:solidFill>
                <a:latin typeface="Menlo" panose="020B0609030804020204" pitchFamily="49" charset="0"/>
              </a:rPr>
              <a:t> ()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C3EB36C-43EE-0F44-8121-79462C139D15}"/>
              </a:ext>
            </a:extLst>
          </p:cNvPr>
          <p:cNvSpPr/>
          <p:nvPr/>
        </p:nvSpPr>
        <p:spPr>
          <a:xfrm>
            <a:off x="2561097" y="5579810"/>
            <a:ext cx="26019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t </a:t>
            </a:r>
            <a:r>
              <a:rPr lang="es-CL" sz="24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4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4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400" dirty="0">
                <a:solidFill>
                  <a:srgbClr val="AE81FF"/>
                </a:solidFill>
                <a:latin typeface="Menlo" panose="020B0609030804020204" pitchFamily="49" charset="0"/>
              </a:rPr>
              <a:t>3</a:t>
            </a:r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7C34C8E-605F-184D-8A1D-5239DCD141B7}"/>
              </a:ext>
            </a:extLst>
          </p:cNvPr>
          <p:cNvSpPr/>
          <p:nvPr/>
        </p:nvSpPr>
        <p:spPr>
          <a:xfrm>
            <a:off x="7170271" y="5579810"/>
            <a:ext cx="22300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t </a:t>
            </a:r>
            <a:r>
              <a:rPr lang="es-CL" sz="24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4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4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4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400" dirty="0">
                <a:solidFill>
                  <a:srgbClr val="AE81FF"/>
                </a:solidFill>
                <a:latin typeface="Menlo" panose="020B0609030804020204" pitchFamily="49" charset="0"/>
              </a:rPr>
              <a:t>3</a:t>
            </a:r>
            <a:endParaRPr lang="es-CL" sz="2400" dirty="0">
              <a:solidFill>
                <a:srgbClr val="F8F8F2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4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0BA7F-20DC-784E-B84F-38A7CB2B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Desempaquetamiento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0D652C-94DC-D441-A749-192D24595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821595"/>
            <a:ext cx="11291454" cy="4023360"/>
          </a:xfrm>
        </p:spPr>
        <p:txBody>
          <a:bodyPr>
            <a:normAutofit/>
          </a:bodyPr>
          <a:lstStyle/>
          <a:p>
            <a:pPr algn="ctr"/>
            <a:r>
              <a:rPr lang="es-CL" sz="2800" dirty="0">
                <a:solidFill>
                  <a:schemeClr val="bg1"/>
                </a:solidFill>
              </a:rPr>
              <a:t>Para obtener los elementos de la tupla, la podemos desempaquetar. Muy comunmente algunos valores no nos van a interesar – pero, como no podemos desempaquetar la tupla parcialmente, se usa el _ (underscore, don`t care) para ignorar el valor.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10AD177-6AB1-C849-9BCA-E6F133E72590}"/>
              </a:ext>
            </a:extLst>
          </p:cNvPr>
          <p:cNvSpPr/>
          <p:nvPr/>
        </p:nvSpPr>
        <p:spPr>
          <a:xfrm>
            <a:off x="1204236" y="3947542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t </a:t>
            </a:r>
            <a:r>
              <a:rPr lang="es-CL" sz="22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200" dirty="0">
                <a:solidFill>
                  <a:srgbClr val="E6DB74"/>
                </a:solidFill>
                <a:latin typeface="Menlo" panose="020B0609030804020204" pitchFamily="49" charset="0"/>
              </a:rPr>
              <a:t>"Peter"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200" dirty="0">
                <a:solidFill>
                  <a:srgbClr val="E6DB74"/>
                </a:solidFill>
                <a:latin typeface="Menlo" panose="020B0609030804020204" pitchFamily="49" charset="0"/>
              </a:rPr>
              <a:t>"Parker"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nombre, apellido </a:t>
            </a:r>
            <a:r>
              <a:rPr lang="es-CL" sz="22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 t</a:t>
            </a:r>
          </a:p>
          <a:p>
            <a:r>
              <a:rPr lang="es-CL" sz="2200" dirty="0">
                <a:solidFill>
                  <a:srgbClr val="66D9EF"/>
                </a:solidFill>
                <a:latin typeface="Menlo" panose="020B0609030804020204" pitchFamily="49" charset="0"/>
              </a:rPr>
              <a:t>print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(nombre)</a:t>
            </a:r>
          </a:p>
          <a:p>
            <a:r>
              <a:rPr lang="es-CL" sz="22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 Peter</a:t>
            </a:r>
          </a:p>
          <a:p>
            <a:r>
              <a:rPr lang="es-CL" sz="2200" dirty="0">
                <a:solidFill>
                  <a:srgbClr val="66D9EF"/>
                </a:solidFill>
                <a:latin typeface="Menlo" panose="020B0609030804020204" pitchFamily="49" charset="0"/>
              </a:rPr>
              <a:t>print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(apellido)</a:t>
            </a:r>
          </a:p>
          <a:p>
            <a:r>
              <a:rPr lang="es-CL" sz="22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 Parker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8686D8-99DA-4749-9FDD-5CD7E1C324AC}"/>
              </a:ext>
            </a:extLst>
          </p:cNvPr>
          <p:cNvSpPr/>
          <p:nvPr/>
        </p:nvSpPr>
        <p:spPr>
          <a:xfrm>
            <a:off x="5985164" y="3947542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t </a:t>
            </a:r>
            <a:r>
              <a:rPr lang="es-CL" sz="22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200" dirty="0">
                <a:solidFill>
                  <a:srgbClr val="E6DB74"/>
                </a:solidFill>
                <a:latin typeface="Menlo" panose="020B0609030804020204" pitchFamily="49" charset="0"/>
              </a:rPr>
              <a:t>"Monty"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200" dirty="0">
                <a:solidFill>
                  <a:srgbClr val="E6DB74"/>
                </a:solidFill>
                <a:latin typeface="Menlo" panose="020B0609030804020204" pitchFamily="49" charset="0"/>
              </a:rPr>
              <a:t>"Python"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200" dirty="0">
                <a:solidFill>
                  <a:srgbClr val="E6DB74"/>
                </a:solidFill>
                <a:latin typeface="Menlo" panose="020B0609030804020204" pitchFamily="49" charset="0"/>
              </a:rPr>
              <a:t>"Los caballeros de la mesa cuadrada"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nombre, apellido, _ </a:t>
            </a:r>
            <a:r>
              <a:rPr lang="es-CL" sz="22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 t</a:t>
            </a:r>
          </a:p>
          <a:p>
            <a:r>
              <a:rPr lang="es-CL" sz="2200" dirty="0">
                <a:solidFill>
                  <a:srgbClr val="66D9EF"/>
                </a:solidFill>
                <a:latin typeface="Menlo" panose="020B0609030804020204" pitchFamily="49" charset="0"/>
              </a:rPr>
              <a:t>print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(nombre,apellido)</a:t>
            </a:r>
          </a:p>
          <a:p>
            <a:r>
              <a:rPr lang="es-CL" sz="22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200" dirty="0">
                <a:solidFill>
                  <a:srgbClr val="F8F8F2"/>
                </a:solidFill>
                <a:latin typeface="Menlo" panose="020B0609030804020204" pitchFamily="49" charset="0"/>
              </a:rPr>
              <a:t> Monty Python</a:t>
            </a:r>
          </a:p>
        </p:txBody>
      </p:sp>
    </p:spTree>
    <p:extLst>
      <p:ext uri="{BB962C8B-B14F-4D97-AF65-F5344CB8AC3E}">
        <p14:creationId xmlns:p14="http://schemas.microsoft.com/office/powerpoint/2010/main" val="3024269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63852-83B3-2B45-A0CD-C2083F7B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Acceso con 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20C525-6C05-A341-9539-20C68FA71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10143744" cy="4224528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No siempre queremos desempaquetar la tupla entera (pues, puede ser que sea muy larga o incluso nos interese solo 1 valor) y por ello las tuplas también soportan el acceso por índice.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9B08FCD-41ED-B447-B0EC-39EE38ACC3EA}"/>
              </a:ext>
            </a:extLst>
          </p:cNvPr>
          <p:cNvSpPr/>
          <p:nvPr/>
        </p:nvSpPr>
        <p:spPr>
          <a:xfrm>
            <a:off x="2620487" y="3877868"/>
            <a:ext cx="102336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t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"Monty"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"Python"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”El sentido de vida"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nombre, apellido, _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t</a:t>
            </a:r>
          </a:p>
          <a:p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print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(nombre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t[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])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True</a:t>
            </a:r>
          </a:p>
        </p:txBody>
      </p:sp>
    </p:spTree>
    <p:extLst>
      <p:ext uri="{BB962C8B-B14F-4D97-AF65-F5344CB8AC3E}">
        <p14:creationId xmlns:p14="http://schemas.microsoft.com/office/powerpoint/2010/main" val="2272331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B3418-38E5-4C42-9E85-BC8C3A6E8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Comparación entre las tuplas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E0B253-97BD-D946-B995-0F91F60C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023360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Dos tuplas se dicen iguales, si: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solidFill>
                  <a:schemeClr val="bg1"/>
                </a:solidFill>
              </a:rPr>
              <a:t> Tienen el mismo largo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solidFill>
                  <a:schemeClr val="bg1"/>
                </a:solidFill>
              </a:rPr>
              <a:t> Cada uno de sus elementos correspondientes tienen el mismo valor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266D59-4861-9E4E-A10E-83F295742D04}"/>
              </a:ext>
            </a:extLst>
          </p:cNvPr>
          <p:cNvSpPr/>
          <p:nvPr/>
        </p:nvSpPr>
        <p:spPr>
          <a:xfrm>
            <a:off x="4366161" y="3976876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3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-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+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True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9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9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False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9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9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12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4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369477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B3418-38E5-4C42-9E85-BC8C3A6E8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Comparación entre las tuplas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E0B253-97BD-D946-B995-0F91F60C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20" y="2179835"/>
            <a:ext cx="6207945" cy="4224528"/>
          </a:xfrm>
        </p:spPr>
        <p:txBody>
          <a:bodyPr>
            <a:normAutofit fontScale="92500" lnSpcReduction="10000"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Para determinar si una tupla es menor que otra, se utiliza lo que se denomina </a:t>
            </a:r>
            <a:r>
              <a:rPr lang="es-CL" sz="2800" b="1" dirty="0">
                <a:solidFill>
                  <a:schemeClr val="bg1"/>
                </a:solidFill>
              </a:rPr>
              <a:t>orden lexicográfico</a:t>
            </a:r>
            <a:r>
              <a:rPr lang="es-CL" sz="2800" dirty="0">
                <a:solidFill>
                  <a:schemeClr val="bg1"/>
                </a:solidFill>
              </a:rPr>
              <a:t>. Si los elementos en la primera posición de ambas tuplas son distintos, ellos determinan el ordenamiento de las tuplas</a:t>
            </a:r>
            <a:r>
              <a:rPr lang="es-CL" dirty="0"/>
              <a:t>:</a:t>
            </a:r>
            <a:r>
              <a:rPr lang="es-CL" sz="2800" dirty="0">
                <a:solidFill>
                  <a:schemeClr val="bg1"/>
                </a:solidFill>
              </a:rPr>
              <a:t>. Si los elementos respectivos siguen siendo iguales, entonces se sigue probando con los siguientes uno por uno, hasta encontrar dos distintos. Si a una tupla se le acaban los elementos para comparar antes que a la otra, entonces es considerada </a:t>
            </a:r>
            <a:r>
              <a:rPr lang="es-CL" sz="2800" dirty="0">
                <a:solidFill>
                  <a:srgbClr val="F92672"/>
                </a:solidFill>
              </a:rPr>
              <a:t>menor</a:t>
            </a:r>
            <a:r>
              <a:rPr lang="es-CL" sz="2800" dirty="0">
                <a:solidFill>
                  <a:schemeClr val="bg1"/>
                </a:solidFill>
              </a:rPr>
              <a:t> que la otra.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284E568-6CD3-AA47-93F1-148D4EDD40D3}"/>
              </a:ext>
            </a:extLst>
          </p:cNvPr>
          <p:cNvSpPr/>
          <p:nvPr/>
        </p:nvSpPr>
        <p:spPr>
          <a:xfrm>
            <a:off x="7387442" y="2179835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4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7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&lt;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True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86A080-9CE0-464C-8345-5BBB8B3011A6}"/>
              </a:ext>
            </a:extLst>
          </p:cNvPr>
          <p:cNvSpPr/>
          <p:nvPr/>
        </p:nvSpPr>
        <p:spPr>
          <a:xfrm>
            <a:off x="7387442" y="3318802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8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&lt;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8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True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4AF6F64-09BD-004C-A4AF-C9E01C0046AC}"/>
              </a:ext>
            </a:extLst>
          </p:cNvPr>
          <p:cNvSpPr/>
          <p:nvPr/>
        </p:nvSpPr>
        <p:spPr>
          <a:xfrm>
            <a:off x="7387442" y="4297206"/>
            <a:ext cx="264687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"pera"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&lt;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"peras”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True</a:t>
            </a:r>
          </a:p>
          <a:p>
            <a:endParaRPr lang="es-CL" sz="2000" dirty="0">
              <a:solidFill>
                <a:srgbClr val="F8F8F2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781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631DF-9E31-B34E-9D58-214635AE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Concatenación y Repetición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E385A0-4604-7C4D-B92D-87F9E611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71304"/>
            <a:ext cx="10143744" cy="4338056"/>
          </a:xfrm>
        </p:spPr>
        <p:txBody>
          <a:bodyPr>
            <a:normAutofit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Las tuplas se pueden concatenar y repetir – en este caso, </a:t>
            </a:r>
            <a:r>
              <a:rPr lang="es-CL" sz="2800" dirty="0">
                <a:solidFill>
                  <a:srgbClr val="F92672"/>
                </a:solidFill>
              </a:rPr>
              <a:t>no se cambia</a:t>
            </a:r>
            <a:r>
              <a:rPr lang="es-CL" sz="2800" dirty="0">
                <a:solidFill>
                  <a:schemeClr val="bg1"/>
                </a:solidFill>
              </a:rPr>
              <a:t> la tupla original si no se obtiene </a:t>
            </a:r>
            <a:r>
              <a:rPr lang="es-CL" sz="2800" dirty="0">
                <a:solidFill>
                  <a:srgbClr val="FD971F"/>
                </a:solidFill>
              </a:rPr>
              <a:t>una nueva</a:t>
            </a:r>
            <a:r>
              <a:rPr lang="es-CL" sz="2800" dirty="0">
                <a:solidFill>
                  <a:schemeClr val="bg1"/>
                </a:solidFill>
              </a:rPr>
              <a:t>. </a:t>
            </a:r>
          </a:p>
          <a:p>
            <a:r>
              <a:rPr lang="es-CL" sz="2800" dirty="0">
                <a:solidFill>
                  <a:schemeClr val="bg1"/>
                </a:solidFill>
              </a:rPr>
              <a:t>Repetición:                                    Concatenación: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DE0C8B-A3FD-6146-AC0D-D757E70D2E6A}"/>
              </a:ext>
            </a:extLst>
          </p:cNvPr>
          <p:cNvSpPr/>
          <p:nvPr/>
        </p:nvSpPr>
        <p:spPr>
          <a:xfrm>
            <a:off x="6096000" y="3470920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t1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"manzana"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"pera"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"kiwi"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t2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"mango"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"durazno"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newt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t1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+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t2</a:t>
            </a:r>
          </a:p>
          <a:p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print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(newt)</a:t>
            </a: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"manzana"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"pera"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"kiwi"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"mango"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"durazno"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27EA25-0019-3D4C-A418-078D563CCE65}"/>
              </a:ext>
            </a:extLst>
          </p:cNvPr>
          <p:cNvSpPr/>
          <p:nvPr/>
        </p:nvSpPr>
        <p:spPr>
          <a:xfrm>
            <a:off x="1024128" y="3495896"/>
            <a:ext cx="472940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t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"manzana"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"pera"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"kiwi"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newt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t </a:t>
            </a:r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*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20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endParaRPr lang="es-CL" sz="20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2000" dirty="0">
                <a:solidFill>
                  <a:srgbClr val="66D9EF"/>
                </a:solidFill>
                <a:latin typeface="Menlo" panose="020B0609030804020204" pitchFamily="49" charset="0"/>
              </a:rPr>
              <a:t>print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(newt)</a:t>
            </a:r>
          </a:p>
          <a:p>
            <a:endParaRPr lang="es-CL" sz="20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20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"manzana"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"pera"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"kiwi"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"manzana"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"pera"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2000" dirty="0">
                <a:solidFill>
                  <a:srgbClr val="E6DB74"/>
                </a:solidFill>
                <a:latin typeface="Menlo" panose="020B0609030804020204" pitchFamily="49" charset="0"/>
              </a:rPr>
              <a:t>"kiwi"</a:t>
            </a:r>
            <a:r>
              <a:rPr lang="es-CL" sz="20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0219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7C485-5F71-FA43-9DBC-7B5E20543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273" y="474379"/>
            <a:ext cx="9720072" cy="1499616"/>
          </a:xfrm>
        </p:spPr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1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9EC169A-4937-E24C-9403-8B8A46C4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55" y="1805049"/>
            <a:ext cx="11499271" cy="4720442"/>
          </a:xfrm>
        </p:spPr>
        <p:txBody>
          <a:bodyPr>
            <a:normAutofit fontScale="92500" lnSpcReduction="10000"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La plataforma de social network Datcord alamcena los datos de los usuarios en una lista de tuplas. Las tuplas contienen  el nombre del usuario, la lista de servers a cuales este pertenece y la lista de sus amigos:</a:t>
            </a:r>
          </a:p>
          <a:p>
            <a:r>
              <a:rPr lang="es-CL" sz="2800" dirty="0">
                <a:solidFill>
                  <a:schemeClr val="bg1"/>
                </a:solidFill>
              </a:rPr>
              <a:t>Escriba las siguientes funciones:</a:t>
            </a:r>
          </a:p>
          <a:p>
            <a:endParaRPr lang="es-CL" sz="2800" dirty="0">
              <a:solidFill>
                <a:schemeClr val="bg1"/>
              </a:solidFill>
            </a:endParaRPr>
          </a:p>
          <a:p>
            <a:endParaRPr lang="es-CL" sz="2800" dirty="0">
              <a:solidFill>
                <a:schemeClr val="bg1"/>
              </a:solidFill>
            </a:endParaRPr>
          </a:p>
          <a:p>
            <a:endParaRPr lang="es-CL" sz="2800" dirty="0">
              <a:solidFill>
                <a:schemeClr val="bg1"/>
              </a:solidFill>
            </a:endParaRPr>
          </a:p>
          <a:p>
            <a:endParaRPr lang="es-CL" sz="2800" dirty="0">
              <a:solidFill>
                <a:schemeClr val="bg1"/>
              </a:solidFill>
            </a:endParaRPr>
          </a:p>
          <a:p>
            <a:r>
              <a:rPr lang="es-CL" sz="2800" dirty="0">
                <a:solidFill>
                  <a:schemeClr val="bg1"/>
                </a:solidFill>
              </a:rPr>
              <a:t>Donde la primera retorna una lista de servers en común de 2 usuarios. La segunda, True si son amigos y False si no. El usuario más social es aquel que tiene más amigos. Asumir que no puede pasar que user1 sea amigo de user2, pero no al revés.</a:t>
            </a:r>
          </a:p>
          <a:p>
            <a:pPr marL="0" indent="0">
              <a:buNone/>
            </a:pPr>
            <a:endParaRPr lang="es-CL" sz="2400" dirty="0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3F8D59D-B2EC-FA44-86B8-729360DDB840}"/>
              </a:ext>
            </a:extLst>
          </p:cNvPr>
          <p:cNvSpPr/>
          <p:nvPr/>
        </p:nvSpPr>
        <p:spPr>
          <a:xfrm>
            <a:off x="471055" y="366191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servers_comunes(</a:t>
            </a:r>
            <a:r>
              <a:rPr lang="es-CL" dirty="0">
                <a:solidFill>
                  <a:schemeClr val="bg1"/>
                </a:solidFill>
                <a:latin typeface="Menlo" panose="020B0609030804020204" pitchFamily="49" charset="0"/>
              </a:rPr>
              <a:t>usuarios, user1, user2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son_amigos(</a:t>
            </a:r>
            <a:r>
              <a:rPr lang="es-CL" dirty="0">
                <a:solidFill>
                  <a:schemeClr val="bg1"/>
                </a:solidFill>
                <a:latin typeface="Menlo" panose="020B0609030804020204" pitchFamily="49" charset="0"/>
              </a:rPr>
              <a:t>usuarios, user1, user2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usuario_social(</a:t>
            </a:r>
            <a:r>
              <a:rPr lang="es-CL" dirty="0">
                <a:solidFill>
                  <a:schemeClr val="bg1"/>
                </a:solidFill>
                <a:latin typeface="Menlo" panose="020B0609030804020204" pitchFamily="49" charset="0"/>
              </a:rPr>
              <a:t>usuarios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)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47ED355-BAA8-694F-895E-18F3DD69B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143" y="-19134"/>
            <a:ext cx="1824183" cy="1824183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3DAC8BC-EF03-4E4D-95B4-945482C20892}"/>
              </a:ext>
            </a:extLst>
          </p:cNvPr>
          <p:cNvSpPr/>
          <p:nvPr/>
        </p:nvSpPr>
        <p:spPr>
          <a:xfrm>
            <a:off x="6373092" y="361395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usuarios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"ayudante_supreme"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[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"progcomp"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"iwi131"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"hurones"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], [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"mario"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"poyo"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"delfin"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"zapato"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"anihcanom"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]), (...), ...]</a:t>
            </a:r>
          </a:p>
        </p:txBody>
      </p:sp>
    </p:spTree>
    <p:extLst>
      <p:ext uri="{BB962C8B-B14F-4D97-AF65-F5344CB8AC3E}">
        <p14:creationId xmlns:p14="http://schemas.microsoft.com/office/powerpoint/2010/main" val="2881567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C5898-C3C6-5B4B-84B2-9B1C9468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Solución</a:t>
            </a:r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1885DD9-16E4-CD4E-92B1-CA8D7C4A8D29}"/>
              </a:ext>
            </a:extLst>
          </p:cNvPr>
          <p:cNvSpPr/>
          <p:nvPr/>
        </p:nvSpPr>
        <p:spPr>
          <a:xfrm>
            <a:off x="3435928" y="1335024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sz="1600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1600" dirty="0">
                <a:solidFill>
                  <a:srgbClr val="A6E22E"/>
                </a:solidFill>
                <a:latin typeface="Menlo" panose="020B0609030804020204" pitchFamily="49" charset="0"/>
              </a:rPr>
              <a:t>servers_comunes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(usuarios, user1, user2):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lista1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[]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lista2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[]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res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[]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1600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t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usuarios: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    name, servers, _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t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sz="1600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name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user1: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        lista1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list(servers)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sz="1600" dirty="0">
                <a:solidFill>
                  <a:srgbClr val="66D9EF"/>
                </a:solidFill>
                <a:latin typeface="Menlo" panose="020B0609030804020204" pitchFamily="49" charset="0"/>
              </a:rPr>
              <a:t>elif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name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user2: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        lista2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list(servers)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largo1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len(lista1)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largo2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len(lista2)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1600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largo1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&gt;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largo2: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sz="1600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s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lista1: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        </a:t>
            </a:r>
            <a:r>
              <a:rPr lang="es-CL" sz="1600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s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lista2: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            res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append(s)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1600" dirty="0">
                <a:solidFill>
                  <a:srgbClr val="66D9EF"/>
                </a:solidFill>
                <a:latin typeface="Menlo" panose="020B0609030804020204" pitchFamily="49" charset="0"/>
              </a:rPr>
              <a:t>else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sz="1600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s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lista2: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        </a:t>
            </a:r>
            <a:r>
              <a:rPr lang="es-CL" sz="1600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s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lista1: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            res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append(s)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sz="1600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res</a:t>
            </a:r>
          </a:p>
        </p:txBody>
      </p:sp>
    </p:spTree>
    <p:extLst>
      <p:ext uri="{BB962C8B-B14F-4D97-AF65-F5344CB8AC3E}">
        <p14:creationId xmlns:p14="http://schemas.microsoft.com/office/powerpoint/2010/main" val="801975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C5898-C3C6-5B4B-84B2-9B1C9468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Solución</a:t>
            </a:r>
            <a:endParaRPr lang="es-CL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ECB1703-FA54-5041-AEBD-4B9224B9AF77}"/>
              </a:ext>
            </a:extLst>
          </p:cNvPr>
          <p:cNvSpPr/>
          <p:nvPr/>
        </p:nvSpPr>
        <p:spPr>
          <a:xfrm>
            <a:off x="554182" y="288439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6E22E"/>
                </a:solidFill>
                <a:latin typeface="Menlo" panose="020B0609030804020204" pitchFamily="49" charset="0"/>
              </a:rPr>
              <a:t>son_amigos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(usuarios, user1, user2):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usuarios: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name, _, amigos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name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user1: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user2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amigos: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True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False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3764633-1DAE-8A4D-BFB7-A2B280619EBC}"/>
              </a:ext>
            </a:extLst>
          </p:cNvPr>
          <p:cNvSpPr/>
          <p:nvPr/>
        </p:nvSpPr>
        <p:spPr>
          <a:xfrm>
            <a:off x="6262255" y="2607392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6E22E"/>
                </a:solidFill>
                <a:latin typeface="Menlo" panose="020B0609030804020204" pitchFamily="49" charset="0"/>
              </a:rPr>
              <a:t>usuario_social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(usuarios):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max_amigos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-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social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""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usuarios: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user, _, amigos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len(amigos)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&gt;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max_amigos: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max_amigos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len(amigos)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social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user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social</a:t>
            </a:r>
          </a:p>
        </p:txBody>
      </p:sp>
    </p:spTree>
    <p:extLst>
      <p:ext uri="{BB962C8B-B14F-4D97-AF65-F5344CB8AC3E}">
        <p14:creationId xmlns:p14="http://schemas.microsoft.com/office/powerpoint/2010/main" val="100723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7C485-5F71-FA43-9DBC-7B5E20543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CE426C-3790-0D49-A4E0-55496E09B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16" y="1805049"/>
            <a:ext cx="6011202" cy="4872842"/>
          </a:xfrm>
        </p:spPr>
        <p:txBody>
          <a:bodyPr>
            <a:normAutofit fontScale="92500" lnSpcReduction="10000"/>
          </a:bodyPr>
          <a:lstStyle/>
          <a:p>
            <a:r>
              <a:rPr lang="es-CL" sz="2800" dirty="0">
                <a:solidFill>
                  <a:schemeClr val="bg1"/>
                </a:solidFill>
              </a:rPr>
              <a:t>Un supermercado utiliza tablas de datos para llevar la información de su inventario.</a:t>
            </a:r>
          </a:p>
          <a:p>
            <a:r>
              <a:rPr lang="es-CL" sz="2800" dirty="0">
                <a:solidFill>
                  <a:schemeClr val="bg1"/>
                </a:solidFill>
              </a:rPr>
              <a:t>La lista productos tiene el código, el nombre, el precio y la cantidad de unidades del producto en bodega. La lista ventas contiene las ventas realizadas, representadas por el número de boleta, la fecha de la venta y el rut del cliente. El detalle de cada venta se encuentra en la lista itemes. Cada ítem tiene asociado un número de boleta, un código de producto y una cantidad.</a:t>
            </a:r>
          </a:p>
          <a:p>
            <a:r>
              <a:rPr lang="es-CL" sz="2800" dirty="0">
                <a:solidFill>
                  <a:schemeClr val="bg1"/>
                </a:solidFill>
              </a:rPr>
              <a:t>Implementar las siguientes funciones.</a:t>
            </a:r>
          </a:p>
          <a:p>
            <a:endParaRPr lang="es-CL" sz="2400" dirty="0">
              <a:solidFill>
                <a:schemeClr val="bg1"/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A40EAF1-EAAC-BA47-AB0A-AFD3883B69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t="49309" b="26463"/>
          <a:stretch/>
        </p:blipFill>
        <p:spPr>
          <a:xfrm>
            <a:off x="9569052" y="429221"/>
            <a:ext cx="2330332" cy="1375828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DF56C8F8-9CC8-0F40-AAB2-652B71A9A4F1}"/>
              </a:ext>
            </a:extLst>
          </p:cNvPr>
          <p:cNvSpPr/>
          <p:nvPr/>
        </p:nvSpPr>
        <p:spPr>
          <a:xfrm>
            <a:off x="6497781" y="2084832"/>
            <a:ext cx="55972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producto_mas_caro(productos)</a:t>
            </a:r>
          </a:p>
          <a:p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'Vuvuzela’</a:t>
            </a:r>
          </a:p>
          <a:p>
            <a:endParaRPr lang="es-CL" sz="16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valor_total_bodega(productos)</a:t>
            </a:r>
          </a:p>
          <a:p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1900570</a:t>
            </a:r>
          </a:p>
          <a:p>
            <a:endParaRPr lang="es-CL" sz="16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ingreso_total_por_ventas(itemes, productos)</a:t>
            </a:r>
          </a:p>
          <a:p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13944</a:t>
            </a:r>
          </a:p>
          <a:p>
            <a:endParaRPr lang="es-CL" sz="16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fecha_ultima_venta_producto(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47470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itemes, ventas)</a:t>
            </a:r>
          </a:p>
          <a:p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2010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13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</a:t>
            </a:r>
          </a:p>
          <a:p>
            <a:endParaRPr lang="es-CL" sz="16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total_ventas_del_mes(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2010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itemes, productos)</a:t>
            </a:r>
          </a:p>
          <a:p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&gt;&gt;&gt;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4160</a:t>
            </a:r>
            <a:endParaRPr lang="es-CL" sz="1600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endParaRPr lang="es-CL" sz="1600" dirty="0">
              <a:solidFill>
                <a:srgbClr val="F8F8F2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558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7C485-5F71-FA43-9DBC-7B5E20543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Ejercicio 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60664C3-E3B5-3B4D-8B74-20E0E8978A90}"/>
              </a:ext>
            </a:extLst>
          </p:cNvPr>
          <p:cNvSpPr/>
          <p:nvPr/>
        </p:nvSpPr>
        <p:spPr>
          <a:xfrm>
            <a:off x="791688" y="2084832"/>
            <a:ext cx="6096000" cy="36625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productos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[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41419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'Fideos'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  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450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70717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'Cuaderno'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900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119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78714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'Jabon'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   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730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708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30877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'Desodorante'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2190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79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47470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'Yogur'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    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99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832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50809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'Palta'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   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500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55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75466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'Galletas'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235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33692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'Bebida'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  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700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89148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'Arroz'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   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900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121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66194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'Lapiz'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   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120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900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15982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'Vuvuzela'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12990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41235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'Chocolate'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3099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48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2C6754B-9C1E-DD46-9731-A89D8F6F6A31}"/>
              </a:ext>
            </a:extLst>
          </p:cNvPr>
          <p:cNvSpPr/>
          <p:nvPr/>
        </p:nvSpPr>
        <p:spPr>
          <a:xfrm>
            <a:off x="6250380" y="785773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ventas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[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2010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 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'8830268-0'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2010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'11652624-7'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3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2010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30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 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'7547896-8'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2010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 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'8830268-0'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5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2010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13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 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'7547896-8'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6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2010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11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11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 </a:t>
            </a:r>
            <a:r>
              <a:rPr lang="es-CL" sz="1600" dirty="0">
                <a:solidFill>
                  <a:srgbClr val="E6DB74"/>
                </a:solidFill>
                <a:latin typeface="Menlo" panose="020B0609030804020204" pitchFamily="49" charset="0"/>
              </a:rPr>
              <a:t>'11652624-7'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E01FB4D-C570-0D40-9827-E2D1AB1E86B6}"/>
              </a:ext>
            </a:extLst>
          </p:cNvPr>
          <p:cNvSpPr/>
          <p:nvPr/>
        </p:nvSpPr>
        <p:spPr>
          <a:xfrm>
            <a:off x="6326085" y="3347218"/>
            <a:ext cx="493221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itemes </a:t>
            </a:r>
            <a:r>
              <a:rPr lang="es-CL" sz="1600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[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89148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3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50809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33692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47470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6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3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30877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89148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75466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5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89148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5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47470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10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    (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6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41419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,  </a:t>
            </a:r>
            <a:r>
              <a:rPr lang="es-CL" sz="1600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s-CL" sz="1600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5557828-A3D8-164D-9DB8-0819829406C1}"/>
              </a:ext>
            </a:extLst>
          </p:cNvPr>
          <p:cNvSpPr txBox="1"/>
          <p:nvPr/>
        </p:nvSpPr>
        <p:spPr>
          <a:xfrm>
            <a:off x="1199408" y="5747373"/>
            <a:ext cx="33963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dirty="0">
                <a:solidFill>
                  <a:schemeClr val="bg1"/>
                </a:solidFill>
              </a:rPr>
              <a:t>Código, nombre, costo, cantidad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828FC15-1A69-B24F-85DE-2844AE816987}"/>
              </a:ext>
            </a:extLst>
          </p:cNvPr>
          <p:cNvSpPr txBox="1"/>
          <p:nvPr/>
        </p:nvSpPr>
        <p:spPr>
          <a:xfrm>
            <a:off x="9167751" y="4274414"/>
            <a:ext cx="33963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dirty="0">
                <a:solidFill>
                  <a:schemeClr val="bg1"/>
                </a:solidFill>
              </a:rPr>
              <a:t>Número de boleta,</a:t>
            </a:r>
          </a:p>
          <a:p>
            <a:r>
              <a:rPr lang="es-CL" sz="2000" dirty="0">
                <a:solidFill>
                  <a:schemeClr val="bg1"/>
                </a:solidFill>
              </a:rPr>
              <a:t>código de producto,</a:t>
            </a:r>
          </a:p>
          <a:p>
            <a:r>
              <a:rPr lang="es-CL" sz="2000" dirty="0">
                <a:solidFill>
                  <a:schemeClr val="bg1"/>
                </a:solidFill>
              </a:rPr>
              <a:t>cantidad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F230629-1B55-0540-833C-F199C7F7181F}"/>
              </a:ext>
            </a:extLst>
          </p:cNvPr>
          <p:cNvSpPr txBox="1"/>
          <p:nvPr/>
        </p:nvSpPr>
        <p:spPr>
          <a:xfrm>
            <a:off x="7469579" y="2683565"/>
            <a:ext cx="3396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dirty="0">
                <a:solidFill>
                  <a:schemeClr val="bg1"/>
                </a:solidFill>
              </a:rPr>
              <a:t>Número de boleta, fecha, RUT</a:t>
            </a:r>
          </a:p>
        </p:txBody>
      </p:sp>
    </p:spTree>
    <p:extLst>
      <p:ext uri="{BB962C8B-B14F-4D97-AF65-F5344CB8AC3E}">
        <p14:creationId xmlns:p14="http://schemas.microsoft.com/office/powerpoint/2010/main" val="3761187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7C485-5F71-FA43-9DBC-7B5E20543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Solución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C1125C2-626B-3245-9995-B746D68779B6}"/>
              </a:ext>
            </a:extLst>
          </p:cNvPr>
          <p:cNvSpPr/>
          <p:nvPr/>
        </p:nvSpPr>
        <p:spPr>
          <a:xfrm>
            <a:off x="858982" y="27320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6E22E"/>
                </a:solidFill>
                <a:latin typeface="Menlo" panose="020B0609030804020204" pitchFamily="49" charset="0"/>
              </a:rPr>
              <a:t>producto_mas_caro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(productos):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maxcosto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-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maxprod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E6DB74"/>
                </a:solidFill>
                <a:latin typeface="Menlo" panose="020B0609030804020204" pitchFamily="49" charset="0"/>
              </a:rPr>
              <a:t>""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productos: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t[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-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&gt;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maxcosto: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maxcosto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t[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-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maxprod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maxprod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237DBA8-5023-D94C-8C40-D44A096F259A}"/>
              </a:ext>
            </a:extLst>
          </p:cNvPr>
          <p:cNvSpPr/>
          <p:nvPr/>
        </p:nvSpPr>
        <p:spPr>
          <a:xfrm>
            <a:off x="6303818" y="273203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6E22E"/>
                </a:solidFill>
                <a:latin typeface="Menlo" panose="020B0609030804020204" pitchFamily="49" charset="0"/>
              </a:rPr>
              <a:t>valor_total_bodega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(productos):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total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productos: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_, _, costo, cantidad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total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costo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*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cantidad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total</a:t>
            </a:r>
          </a:p>
        </p:txBody>
      </p:sp>
    </p:spTree>
    <p:extLst>
      <p:ext uri="{BB962C8B-B14F-4D97-AF65-F5344CB8AC3E}">
        <p14:creationId xmlns:p14="http://schemas.microsoft.com/office/powerpoint/2010/main" val="3614266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7C485-5F71-FA43-9DBC-7B5E20543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Solución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148F638-8785-A146-84CE-F8559473CDFA}"/>
              </a:ext>
            </a:extLst>
          </p:cNvPr>
          <p:cNvSpPr/>
          <p:nvPr/>
        </p:nvSpPr>
        <p:spPr>
          <a:xfrm>
            <a:off x="581891" y="2503023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6E22E"/>
                </a:solidFill>
                <a:latin typeface="Menlo" panose="020B0609030804020204" pitchFamily="49" charset="0"/>
              </a:rPr>
              <a:t>ingreso_total_por_ventas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(itemes, productos):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total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boleta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itemes: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_, codigo, cantidad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boleta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productos: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codigo: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total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cantidad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*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t[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-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2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total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71545CA-9138-D840-8CE3-FC5B098D79EF}"/>
              </a:ext>
            </a:extLst>
          </p:cNvPr>
          <p:cNvSpPr/>
          <p:nvPr/>
        </p:nvSpPr>
        <p:spPr>
          <a:xfrm>
            <a:off x="5884164" y="1762450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6E22E"/>
                </a:solidFill>
                <a:latin typeface="Menlo" panose="020B0609030804020204" pitchFamily="49" charset="0"/>
              </a:rPr>
              <a:t>fecha_ultima_venta_producto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(codigo, itemes, productos):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boletas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[]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ultima_fecha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()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item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itemes: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num, cod, _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item 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cod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codigo: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boletas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append(num)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venta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ventas: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venta[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boletas: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venta[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&gt;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ultima_fecha: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ultima_fecha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venta[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ultima_fecha</a:t>
            </a:r>
          </a:p>
        </p:txBody>
      </p:sp>
    </p:spTree>
    <p:extLst>
      <p:ext uri="{BB962C8B-B14F-4D97-AF65-F5344CB8AC3E}">
        <p14:creationId xmlns:p14="http://schemas.microsoft.com/office/powerpoint/2010/main" val="1033926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D7427-97EE-8B4C-A68B-0FB833CA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66D9EF"/>
                </a:solidFill>
              </a:rPr>
              <a:t>Solución</a:t>
            </a:r>
            <a:endParaRPr lang="es-CL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BF8BE2A-B205-0143-8354-A0D52B8C3B4E}"/>
              </a:ext>
            </a:extLst>
          </p:cNvPr>
          <p:cNvSpPr/>
          <p:nvPr/>
        </p:nvSpPr>
        <p:spPr>
          <a:xfrm>
            <a:off x="2190126" y="1890868"/>
            <a:ext cx="879763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def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6E22E"/>
                </a:solidFill>
                <a:latin typeface="Menlo" panose="020B0609030804020204" pitchFamily="49" charset="0"/>
              </a:rPr>
              <a:t>total_ventas_del_mes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(a, mes, itemes, productos):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total_mes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boletas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[]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venta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ventas: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75715E"/>
                </a:solidFill>
                <a:latin typeface="Menlo" panose="020B0609030804020204" pitchFamily="49" charset="0"/>
              </a:rPr>
              <a:t># recolectamas boletas del mes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venta[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a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and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venta[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1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mes: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boletas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.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append(venta[</a:t>
            </a:r>
            <a:r>
              <a:rPr lang="es-CL" dirty="0">
                <a:solidFill>
                  <a:srgbClr val="AE81FF"/>
                </a:solidFill>
                <a:latin typeface="Menlo" panose="020B0609030804020204" pitchFamily="49" charset="0"/>
              </a:rPr>
              <a:t>0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])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item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itemes: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num, cod, cantidad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item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75715E"/>
                </a:solidFill>
                <a:latin typeface="Menlo" panose="020B0609030804020204" pitchFamily="49" charset="0"/>
              </a:rPr>
              <a:t># si el numero de item esta en las boletas de mes</a:t>
            </a:r>
            <a:endParaRPr lang="es-CL" dirty="0">
              <a:solidFill>
                <a:srgbClr val="F8F8F2"/>
              </a:solidFill>
              <a:latin typeface="Menlo" panose="020B0609030804020204" pitchFamily="49" charset="0"/>
            </a:endParaRP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num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boletas: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for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producto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in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productos: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cd, _, costo, _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producto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if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cod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==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cd: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                total_mes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+=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costo </a:t>
            </a:r>
            <a:r>
              <a:rPr lang="es-CL" dirty="0">
                <a:solidFill>
                  <a:srgbClr val="F92672"/>
                </a:solidFill>
                <a:latin typeface="Menlo" panose="020B0609030804020204" pitchFamily="49" charset="0"/>
              </a:rPr>
              <a:t>*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cantidad</a:t>
            </a:r>
          </a:p>
          <a:p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   </a:t>
            </a:r>
            <a:r>
              <a:rPr lang="es-CL" dirty="0">
                <a:solidFill>
                  <a:srgbClr val="66D9EF"/>
                </a:solidFill>
                <a:latin typeface="Menlo" panose="020B0609030804020204" pitchFamily="49" charset="0"/>
              </a:rPr>
              <a:t>return</a:t>
            </a:r>
            <a:r>
              <a:rPr lang="es-CL" dirty="0">
                <a:solidFill>
                  <a:srgbClr val="F8F8F2"/>
                </a:solidFill>
                <a:latin typeface="Menlo" panose="020B0609030804020204" pitchFamily="49" charset="0"/>
              </a:rPr>
              <a:t> total_mes</a:t>
            </a:r>
          </a:p>
        </p:txBody>
      </p:sp>
    </p:spTree>
    <p:extLst>
      <p:ext uri="{BB962C8B-B14F-4D97-AF65-F5344CB8AC3E}">
        <p14:creationId xmlns:p14="http://schemas.microsoft.com/office/powerpoint/2010/main" val="4067053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wi131_plantilla" id="{D380A461-5A20-4D47-9F98-D24C79C9FB07}" vid="{023703D2-664B-314B-A55A-ECEA48B24E4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2071</TotalTime>
  <Words>1965</Words>
  <Application>Microsoft Macintosh PowerPoint</Application>
  <PresentationFormat>Panorámica</PresentationFormat>
  <Paragraphs>235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Menlo</vt:lpstr>
      <vt:lpstr>Tw Cen MT</vt:lpstr>
      <vt:lpstr>Tw Cen MT Condensed</vt:lpstr>
      <vt:lpstr>Wingdings 3</vt:lpstr>
      <vt:lpstr>Integral</vt:lpstr>
      <vt:lpstr>IWI 131- Programación</vt:lpstr>
      <vt:lpstr>¿Tuplas?</vt:lpstr>
      <vt:lpstr>Usos recomendados</vt:lpstr>
      <vt:lpstr>Creación</vt:lpstr>
      <vt:lpstr>Desempaquetamiento</vt:lpstr>
      <vt:lpstr>Acceso con índice</vt:lpstr>
      <vt:lpstr>Comparación entre las tuplas</vt:lpstr>
      <vt:lpstr>Comparación entre las tuplas</vt:lpstr>
      <vt:lpstr>Concatenación y Repetición</vt:lpstr>
      <vt:lpstr>Ejercicio 1</vt:lpstr>
      <vt:lpstr>Solución</vt:lpstr>
      <vt:lpstr>Solución</vt:lpstr>
      <vt:lpstr>Ejercicio 2</vt:lpstr>
      <vt:lpstr>Ejercicio 1</vt:lpstr>
      <vt:lpstr>Solución</vt:lpstr>
      <vt:lpstr>Solución</vt:lpstr>
      <vt:lpstr>Solución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IWI 131- Programación</dc:title>
  <dc:creator>ANASTASIIA FEDOROVA .</dc:creator>
  <cp:lastModifiedBy>ANASTASIIA FEDOROVA .</cp:lastModifiedBy>
  <cp:revision>396</cp:revision>
  <dcterms:created xsi:type="dcterms:W3CDTF">2020-04-03T20:18:37Z</dcterms:created>
  <dcterms:modified xsi:type="dcterms:W3CDTF">2020-06-17T19:29:51Z</dcterms:modified>
</cp:coreProperties>
</file>